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by telling classmates that the goal is not to memorize every AWS service, but to understand what each service does and how they connect in a real application.</a:t>
            </a:r>
          </a:p>
          <a:p>
            <a:endParaRPr/>
          </a:p>
          <a:p>
            <a:r>
              <a:t>[Sources]</a:t>
            </a:r>
          </a:p>
          <a:p>
            <a:r>
              <a:t>- Source Word document: F:\Devops\🚀ppt_slide_content.docx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set expectations. Tell the audience every module repeats the same learning pattern, which makes a long technical session easier to follow.</a:t>
            </a:r>
          </a:p>
          <a:p>
            <a:endParaRPr/>
          </a:p>
          <a:p>
            <a:r>
              <a:t>[Sources]</a:t>
            </a:r>
          </a:p>
          <a:p>
            <a:r>
              <a:t>- Source Word document: F:\Devops\🚀ppt_slide_content.docx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mental model for the entire presentation. Each AWS service owns one job in a larger architecture.</a:t>
            </a:r>
          </a:p>
          <a:p>
            <a:endParaRPr/>
          </a:p>
          <a:p>
            <a:r>
              <a:t>[Sources]</a:t>
            </a:r>
          </a:p>
          <a:p>
            <a:r>
              <a:t>- Source Word document: F:\Devops\🚀ppt_slide_content.docx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serverless means AWS manages the servers, not that servers disappear. Focus on event-driven execution and pay-per-use behavior.</a:t>
            </a:r>
          </a:p>
          <a:p>
            <a:endParaRPr/>
          </a:p>
          <a:p>
            <a:r>
              <a:t>[Sources]</a:t>
            </a:r>
          </a:p>
          <a:p>
            <a:r>
              <a:t>- Source Word document: F:\Devops\🚀ppt_slide_content.docx</a:t>
            </a:r>
          </a:p>
          <a:p>
            <a:r>
              <a:t>- AWS reference: https://aws.amazon.com/lambda/lambda-functions/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diagram slowly. Ask classmates to identify which box receives the request, which box enforces permissions, and which box produces the final result. Explain that serverless means AWS manages the servers, not that servers disappear. Focus on event-driven execution and pay-per-use behavior.</a:t>
            </a:r>
          </a:p>
          <a:p>
            <a:endParaRPr/>
          </a:p>
          <a:p>
            <a:r>
              <a:t>[Sources]</a:t>
            </a:r>
          </a:p>
          <a:p>
            <a:r>
              <a:t>- Source Word document: F:\Devops\🚀ppt_slide_content.docx</a:t>
            </a:r>
          </a:p>
          <a:p>
            <a:r>
              <a:t>- AWS reference: https://aws.amazon.com/lambda/lambda-functions/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process list as a mini-demo script. After the steps, mention the interview cue and invite one classmate to answer it in their own words.</a:t>
            </a:r>
          </a:p>
          <a:p>
            <a:endParaRPr/>
          </a:p>
          <a:p>
            <a:r>
              <a:t>[Sources]</a:t>
            </a:r>
          </a:p>
          <a:p>
            <a:r>
              <a:t>- Source Word document: F:\Devops\🚀ppt_slide_content.docx</a:t>
            </a:r>
          </a:p>
          <a:p>
            <a:r>
              <a:t>- AWS reference: https://aws.amazon.com/lambda/lambda-functions/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moving on, ask the class to answer one question aloud. The goal is confidence, not perfect wording.</a:t>
            </a:r>
          </a:p>
          <a:p>
            <a:endParaRPr/>
          </a:p>
          <a:p>
            <a:r>
              <a:t>[Sources]</a:t>
            </a:r>
          </a:p>
          <a:p>
            <a:r>
              <a:t>- Source Word document: F:\Devops\🚀ppt_slide_content.docx</a:t>
            </a:r>
          </a:p>
          <a:p>
            <a:r>
              <a:t>- AWS reference: https://aws.amazon.com/lambda/lambda-functions/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Position API Gateway as the controlled public entry point before backend services. It is often the service that receives a user request before Lambda runs.</a:t>
            </a:r>
          </a:p>
          <a:p>
            <a:endParaRPr/>
          </a:p>
          <a:p>
            <a:r>
              <a:t>[Sources]</a:t>
            </a:r>
          </a:p>
          <a:p>
            <a:r>
              <a:t>- Source Word document: F:\Devops\🚀ppt_slide_content.docx</a:t>
            </a:r>
          </a:p>
          <a:p>
            <a:r>
              <a:t>- AWS reference: https://docs.aws.amazon.com/apigateway/latest/developerguide/welcome.html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diagram slowly. Ask classmates to identify which box receives the request, which box enforces permissions, and which box produces the final result. Position API Gateway as the controlled public entry point before backend services. It is often the service that receives a user request before Lambda runs.</a:t>
            </a:r>
          </a:p>
          <a:p>
            <a:endParaRPr/>
          </a:p>
          <a:p>
            <a:r>
              <a:t>[Sources]</a:t>
            </a:r>
          </a:p>
          <a:p>
            <a:r>
              <a:t>- Source Word document: F:\Devops\🚀ppt_slide_content.docx</a:t>
            </a:r>
          </a:p>
          <a:p>
            <a:r>
              <a:t>- AWS reference: https://docs.aws.amazon.com/apigateway/latest/developerguide/welcome.html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process list as a mini-demo script. After the steps, mention the interview cue and invite one classmate to answer it in their own words.</a:t>
            </a:r>
          </a:p>
          <a:p>
            <a:endParaRPr/>
          </a:p>
          <a:p>
            <a:r>
              <a:t>[Sources]</a:t>
            </a:r>
          </a:p>
          <a:p>
            <a:r>
              <a:t>- Source Word document: F:\Devops\🚀ppt_slide_content.docx</a:t>
            </a:r>
          </a:p>
          <a:p>
            <a:r>
              <a:t>- AWS reference: https://docs.aws.amazon.com/apigateway/latest/developerguide/welcome.html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moving on, ask the class to answer one question aloud. The goal is confidence, not perfect wording.</a:t>
            </a:r>
          </a:p>
          <a:p>
            <a:endParaRPr/>
          </a:p>
          <a:p>
            <a:r>
              <a:t>[Sources]</a:t>
            </a:r>
          </a:p>
          <a:p>
            <a:r>
              <a:t>- Source Word document: F:\Devops\🚀ppt_slide_content.docx</a:t>
            </a:r>
          </a:p>
          <a:p>
            <a:r>
              <a:t>- AWS reference: https://docs.aws.amazon.com/apigateway/latest/developerguide/welcome.html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Stress that KMS is not only encryption; it is also access control, lifecycle management, and auditability for cryptographic keys.</a:t>
            </a:r>
          </a:p>
          <a:p>
            <a:endParaRPr/>
          </a:p>
          <a:p>
            <a:r>
              <a:t>[Sources]</a:t>
            </a:r>
          </a:p>
          <a:p>
            <a:r>
              <a:t>- Source Word document: F:\Devops\🚀ppt_slide_content.docx</a:t>
            </a:r>
          </a:p>
          <a:p>
            <a:r>
              <a:t>- AWS reference: https://aws.amazon.com/documentation-overview/kms/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diagram slowly. Ask classmates to identify which box receives the request, which box enforces permissions, and which box produces the final result. Stress that KMS is not only encryption; it is also access control, lifecycle management, and auditability for cryptographic keys.</a:t>
            </a:r>
          </a:p>
          <a:p>
            <a:endParaRPr/>
          </a:p>
          <a:p>
            <a:r>
              <a:t>[Sources]</a:t>
            </a:r>
          </a:p>
          <a:p>
            <a:r>
              <a:t>- Source Word document: F:\Devops\🚀ppt_slide_content.docx</a:t>
            </a:r>
          </a:p>
          <a:p>
            <a:r>
              <a:t>- AWS reference: https://aws.amazon.com/documentation-overview/kms/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process list as a mini-demo script. After the steps, mention the interview cue and invite one classmate to answer it in their own words.</a:t>
            </a:r>
          </a:p>
          <a:p>
            <a:endParaRPr/>
          </a:p>
          <a:p>
            <a:r>
              <a:t>[Sources]</a:t>
            </a:r>
          </a:p>
          <a:p>
            <a:r>
              <a:t>- Source Word document: F:\Devops\🚀ppt_slide_content.docx</a:t>
            </a:r>
          </a:p>
          <a:p>
            <a:r>
              <a:t>- AWS reference: https://aws.amazon.com/documentation-overview/kms/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moving on, ask the class to answer one question aloud. The goal is confidence, not perfect wording.</a:t>
            </a:r>
          </a:p>
          <a:p>
            <a:endParaRPr/>
          </a:p>
          <a:p>
            <a:r>
              <a:t>[Sources]</a:t>
            </a:r>
          </a:p>
          <a:p>
            <a:r>
              <a:t>- Source Word document: F:\Devops\🚀ppt_slide_content.docx</a:t>
            </a:r>
          </a:p>
          <a:p>
            <a:r>
              <a:t>- AWS reference: https://aws.amazon.com/documentation-overview/kms/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restaurant order analogy: the queue lets producers and consumers work at different speeds without directly depending on each other.</a:t>
            </a:r>
          </a:p>
          <a:p>
            <a:endParaRPr/>
          </a:p>
          <a:p>
            <a:r>
              <a:t>[Sources]</a:t>
            </a:r>
          </a:p>
          <a:p>
            <a:r>
              <a:t>- Source Word document: F:\Devops\🚀ppt_slide_content.docx</a:t>
            </a:r>
          </a:p>
          <a:p>
            <a:r>
              <a:t>- AWS reference: https://docs.aws.amazon.com/sqs/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diagram slowly. Ask classmates to identify which box receives the request, which box enforces permissions, and which box produces the final result. Use the restaurant order analogy: the queue lets producers and consumers work at different speeds without directly depending on each other.</a:t>
            </a:r>
          </a:p>
          <a:p>
            <a:endParaRPr/>
          </a:p>
          <a:p>
            <a:r>
              <a:t>[Sources]</a:t>
            </a:r>
          </a:p>
          <a:p>
            <a:r>
              <a:t>- Source Word document: F:\Devops\🚀ppt_slide_content.docx</a:t>
            </a:r>
          </a:p>
          <a:p>
            <a:r>
              <a:t>- AWS reference: https://docs.aws.amazon.com/sqs/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process list as a mini-demo script. After the steps, mention the interview cue and invite one classmate to answer it in their own words.</a:t>
            </a:r>
          </a:p>
          <a:p>
            <a:endParaRPr/>
          </a:p>
          <a:p>
            <a:r>
              <a:t>[Sources]</a:t>
            </a:r>
          </a:p>
          <a:p>
            <a:r>
              <a:t>- Source Word document: F:\Devops\🚀ppt_slide_content.docx</a:t>
            </a:r>
          </a:p>
          <a:p>
            <a:r>
              <a:t>- AWS reference: https://docs.aws.amazon.com/sqs/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moving on, ask the class to answer one question aloud. The goal is confidence, not perfect wording.</a:t>
            </a:r>
          </a:p>
          <a:p>
            <a:endParaRPr/>
          </a:p>
          <a:p>
            <a:r>
              <a:t>[Sources]</a:t>
            </a:r>
          </a:p>
          <a:p>
            <a:r>
              <a:t>- Source Word document: F:\Devops\🚀ppt_slide_content.docx</a:t>
            </a:r>
          </a:p>
          <a:p>
            <a:r>
              <a:t>- AWS reference: https://docs.aws.amazon.com/sqs/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Make the distinction simple: SQS is cloud-native managed queuing; Amazon MQ is for broker compatibility and enterprise messaging protocols.</a:t>
            </a:r>
          </a:p>
          <a:p>
            <a:endParaRPr/>
          </a:p>
          <a:p>
            <a:r>
              <a:t>[Sources]</a:t>
            </a:r>
          </a:p>
          <a:p>
            <a:r>
              <a:t>- Source Word document: F:\Devops\🚀ppt_slide_content.docx</a:t>
            </a:r>
          </a:p>
          <a:p>
            <a:r>
              <a:t>- AWS reference: https://docs.aws.amazon.com/amazon-mq/latest/developer-guide/welcome.html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diagram slowly. Ask classmates to identify which box receives the request, which box enforces permissions, and which box produces the final result. Make the distinction simple: SQS is cloud-native managed queuing; Amazon MQ is for broker compatibility and enterprise messaging protocols.</a:t>
            </a:r>
          </a:p>
          <a:p>
            <a:endParaRPr/>
          </a:p>
          <a:p>
            <a:r>
              <a:t>[Sources]</a:t>
            </a:r>
          </a:p>
          <a:p>
            <a:r>
              <a:t>- Source Word document: F:\Devops\🚀ppt_slide_content.docx</a:t>
            </a:r>
          </a:p>
          <a:p>
            <a:r>
              <a:t>- AWS reference: https://docs.aws.amazon.com/amazon-mq/latest/developer-guide/welcome.html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process list as a mini-demo script. After the steps, mention the interview cue and invite one classmate to answer it in their own words.</a:t>
            </a:r>
          </a:p>
          <a:p>
            <a:endParaRPr/>
          </a:p>
          <a:p>
            <a:r>
              <a:t>[Sources]</a:t>
            </a:r>
          </a:p>
          <a:p>
            <a:r>
              <a:t>- Source Word document: F:\Devops\🚀ppt_slide_content.docx</a:t>
            </a:r>
          </a:p>
          <a:p>
            <a:r>
              <a:t>- AWS reference: https://docs.aws.amazon.com/amazon-mq/latest/developer-guide/welcome.html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moving on, ask the class to answer one question aloud. The goal is confidence, not perfect wording.</a:t>
            </a:r>
          </a:p>
          <a:p>
            <a:endParaRPr/>
          </a:p>
          <a:p>
            <a:r>
              <a:t>[Sources]</a:t>
            </a:r>
          </a:p>
          <a:p>
            <a:r>
              <a:t>- Source Word document: F:\Devops\🚀ppt_slide_content.docx</a:t>
            </a:r>
          </a:p>
          <a:p>
            <a:r>
              <a:t>- AWS reference: https://docs.aws.amazon.com/amazon-mq/latest/developer-guide/welcome.html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Emphasize why hardcoded credentials are dangerous and how runtime retrieval keeps secrets out of source code.</a:t>
            </a:r>
          </a:p>
          <a:p>
            <a:endParaRPr/>
          </a:p>
          <a:p>
            <a:r>
              <a:t>[Sources]</a:t>
            </a:r>
          </a:p>
          <a:p>
            <a:r>
              <a:t>- Source Word document: F:\Devops\🚀ppt_slide_content.docx</a:t>
            </a:r>
          </a:p>
          <a:p>
            <a:r>
              <a:t>- AWS reference: https://docs.aws.amazon.com/secretsmanager/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diagram slowly. Ask classmates to identify which box receives the request, which box enforces permissions, and which box produces the final result. Emphasize why hardcoded credentials are dangerous and how runtime retrieval keeps secrets out of source code.</a:t>
            </a:r>
          </a:p>
          <a:p>
            <a:endParaRPr/>
          </a:p>
          <a:p>
            <a:r>
              <a:t>[Sources]</a:t>
            </a:r>
          </a:p>
          <a:p>
            <a:r>
              <a:t>- Source Word document: F:\Devops\🚀ppt_slide_content.docx</a:t>
            </a:r>
          </a:p>
          <a:p>
            <a:r>
              <a:t>- AWS reference: https://docs.aws.amazon.com/secretsmanager/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process list as a mini-demo script. After the steps, mention the interview cue and invite one classmate to answer it in their own words.</a:t>
            </a:r>
          </a:p>
          <a:p>
            <a:endParaRPr/>
          </a:p>
          <a:p>
            <a:r>
              <a:t>[Sources]</a:t>
            </a:r>
          </a:p>
          <a:p>
            <a:r>
              <a:t>- Source Word document: F:\Devops\🚀ppt_slide_content.docx</a:t>
            </a:r>
          </a:p>
          <a:p>
            <a:r>
              <a:t>- AWS reference: https://docs.aws.amazon.com/secretsmanager/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moving on, ask the class to answer one question aloud. The goal is confidence, not perfect wording.</a:t>
            </a:r>
          </a:p>
          <a:p>
            <a:endParaRPr/>
          </a:p>
          <a:p>
            <a:r>
              <a:t>[Sources]</a:t>
            </a:r>
          </a:p>
          <a:p>
            <a:r>
              <a:t>- Source Word document: F:\Devops\🚀ppt_slide_content.docx</a:t>
            </a:r>
          </a:p>
          <a:p>
            <a:r>
              <a:t>- AWS reference: https://docs.aws.amazon.com/secretsmanager/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WAF to a security checkpoint for web requests. It sits before the application and can allow, block, count, or challenge requests.</a:t>
            </a:r>
          </a:p>
          <a:p>
            <a:endParaRPr/>
          </a:p>
          <a:p>
            <a:r>
              <a:t>[Sources]</a:t>
            </a:r>
          </a:p>
          <a:p>
            <a:r>
              <a:t>- Source Word document: F:\Devops\🚀ppt_slide_content.docx</a:t>
            </a:r>
          </a:p>
          <a:p>
            <a:r>
              <a:t>- AWS reference: https://aws.amazon.com/waf/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diagram slowly. Ask classmates to identify which box receives the request, which box enforces permissions, and which box produces the final result. Compare WAF to a security checkpoint for web requests. It sits before the application and can allow, block, count, or challenge requests.</a:t>
            </a:r>
          </a:p>
          <a:p>
            <a:endParaRPr/>
          </a:p>
          <a:p>
            <a:r>
              <a:t>[Sources]</a:t>
            </a:r>
          </a:p>
          <a:p>
            <a:r>
              <a:t>- Source Word document: F:\Devops\🚀ppt_slide_content.docx</a:t>
            </a:r>
          </a:p>
          <a:p>
            <a:r>
              <a:t>- AWS reference: https://aws.amazon.com/waf/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process list as a mini-demo script. After the steps, mention the interview cue and invite one classmate to answer it in their own words.</a:t>
            </a:r>
          </a:p>
          <a:p>
            <a:endParaRPr/>
          </a:p>
          <a:p>
            <a:r>
              <a:t>[Sources]</a:t>
            </a:r>
          </a:p>
          <a:p>
            <a:r>
              <a:t>- Source Word document: F:\Devops\🚀ppt_slide_content.docx</a:t>
            </a:r>
          </a:p>
          <a:p>
            <a:r>
              <a:t>- AWS reference: https://aws.amazon.com/waf/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moving on, ask the class to answer one question aloud. The goal is confidence, not perfect wording.</a:t>
            </a:r>
          </a:p>
          <a:p>
            <a:endParaRPr/>
          </a:p>
          <a:p>
            <a:r>
              <a:t>[Sources]</a:t>
            </a:r>
          </a:p>
          <a:p>
            <a:r>
              <a:t>- Source Word document: F:\Devops\🚀ppt_slide_content.docx</a:t>
            </a:r>
          </a:p>
          <a:p>
            <a:r>
              <a:t>- AWS reference: https://aws.amazon.com/waf/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Make the difference clear: Parameter Store is usually for configuration; Secrets Manager is purpose-built for credentials and rotation.</a:t>
            </a:r>
          </a:p>
          <a:p>
            <a:endParaRPr/>
          </a:p>
          <a:p>
            <a:r>
              <a:t>[Sources]</a:t>
            </a:r>
          </a:p>
          <a:p>
            <a:r>
              <a:t>- Source Word document: F:\Devops\🚀ppt_slide_content.docx</a:t>
            </a:r>
          </a:p>
          <a:p>
            <a:r>
              <a:t>- AWS reference: https://docs.aws.amazon.com/systems-manager/latest/userguide/what-is-a-parameter.html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diagram slowly. Ask classmates to identify which box receives the request, which box enforces permissions, and which box produces the final result. Make the difference clear: Parameter Store is usually for configuration; Secrets Manager is purpose-built for credentials and rotation.</a:t>
            </a:r>
          </a:p>
          <a:p>
            <a:endParaRPr/>
          </a:p>
          <a:p>
            <a:r>
              <a:t>[Sources]</a:t>
            </a:r>
          </a:p>
          <a:p>
            <a:r>
              <a:t>- Source Word document: F:\Devops\🚀ppt_slide_content.docx</a:t>
            </a:r>
          </a:p>
          <a:p>
            <a:r>
              <a:t>- AWS reference: https://docs.aws.amazon.com/systems-manager/latest/userguide/what-is-a-parameter.html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process list as a mini-demo script. After the steps, mention the interview cue and invite one classmate to answer it in their own words.</a:t>
            </a:r>
          </a:p>
          <a:p>
            <a:endParaRPr/>
          </a:p>
          <a:p>
            <a:r>
              <a:t>[Sources]</a:t>
            </a:r>
          </a:p>
          <a:p>
            <a:r>
              <a:t>- Source Word document: F:\Devops\🚀ppt_slide_content.docx</a:t>
            </a:r>
          </a:p>
          <a:p>
            <a:r>
              <a:t>- AWS reference: https://docs.aws.amazon.com/systems-manager/latest/userguide/what-is-a-parameter.html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moving on, ask the class to answer one question aloud. The goal is confidence, not perfect wording.</a:t>
            </a:r>
          </a:p>
          <a:p>
            <a:endParaRPr/>
          </a:p>
          <a:p>
            <a:r>
              <a:t>[Sources]</a:t>
            </a:r>
          </a:p>
          <a:p>
            <a:r>
              <a:t>- Source Word document: F:\Devops\🚀ppt_slide_content.docx</a:t>
            </a:r>
          </a:p>
          <a:p>
            <a:r>
              <a:t>- AWS reference: https://docs.aws.amazon.com/systems-manager/latest/userguide/what-is-a-parameter.html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as a quick revision break. It connects services that students often confuse during interviews.</a:t>
            </a:r>
          </a:p>
          <a:p>
            <a:endParaRPr/>
          </a:p>
          <a:p>
            <a:r>
              <a:t>[Sources]</a:t>
            </a:r>
          </a:p>
          <a:p>
            <a:r>
              <a:t>- Source Word document: F:\Devops\🚀ppt_slide_content.docx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architecture from top to bottom: WAF protects requests, API Gateway accepts API traffic, Lambda runs logic, Parameter Store and Secrets Manager provide runtime values, KMS protects sensitive data, and SQS or MQ handles asynchronous communication.</a:t>
            </a:r>
          </a:p>
          <a:p>
            <a:endParaRPr/>
          </a:p>
          <a:p>
            <a:r>
              <a:t>[Sources]</a:t>
            </a:r>
          </a:p>
          <a:p>
            <a:r>
              <a:t>- Source Word document: F:\Devops\🚀ppt_slide_content.docx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inviting questions. If time is short, ask classmates which services they find most confusing and return to the comparison slide.</a:t>
            </a:r>
          </a:p>
          <a:p>
            <a:endParaRPr/>
          </a:p>
          <a:p>
            <a:r>
              <a:t>[Sources]</a:t>
            </a:r>
          </a:p>
          <a:p>
            <a:r>
              <a:t>- Source Word document: F:\Devops\🚀ppt_slide_content.docx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594" indent="-228594" algn="l">
        <a:lnSpc>
          <a:spcPct val="90000"/>
        </a:lnSpc>
        <a:spcBef>
          <a:spcPts val="1000"/>
        </a:spcBef>
        <a:buChar char="•"/>
        <a:defRPr sz="2800">
          <a:solidFill>
            <a:schemeClr val="tx1"/>
          </a:solidFill>
          <a:latin typeface="+mn-lt"/>
          <a:ea typeface="+mn-lt"/>
          <a:cs typeface="+mn-lt"/>
        </a:defRPr>
      </a:lvl1pPr>
      <a:lvl2pPr marL="685783" indent="-228594" algn="l">
        <a:lnSpc>
          <a:spcPct val="90000"/>
        </a:lnSpc>
        <a:spcBef>
          <a:spcPts val="500"/>
        </a:spcBef>
        <a:buChar char="•"/>
        <a:defRPr sz="2400">
          <a:solidFill>
            <a:schemeClr val="tx1"/>
          </a:solidFill>
          <a:latin typeface="+mn-lt"/>
          <a:ea typeface="+mn-lt"/>
          <a:cs typeface="+mn-lt"/>
        </a:defRPr>
      </a:lvl2pPr>
      <a:lvl3pPr marL="1142971" indent="-228594" algn="l">
        <a:lnSpc>
          <a:spcPct val="90000"/>
        </a:lnSpc>
        <a:spcBef>
          <a:spcPts val="500"/>
        </a:spcBef>
        <a:buChar char="•"/>
        <a:defRPr sz="2000">
          <a:solidFill>
            <a:schemeClr val="tx1"/>
          </a:solidFill>
          <a:latin typeface="+mn-lt"/>
          <a:ea typeface="+mn-lt"/>
          <a:cs typeface="+mn-lt"/>
        </a:defRPr>
      </a:lvl3pPr>
      <a:lvl4pPr marL="1600160" indent="-228594" algn="l">
        <a:lnSpc>
          <a:spcPct val="90000"/>
        </a:lnSpc>
        <a:spcBef>
          <a:spcPts val="500"/>
        </a:spcBef>
        <a:buChar char="•"/>
        <a:defRPr sz="1800">
          <a:solidFill>
            <a:schemeClr val="tx1"/>
          </a:solidFill>
          <a:latin typeface="+mn-lt"/>
          <a:ea typeface="+mn-lt"/>
          <a:cs typeface="+mn-lt"/>
        </a:defRPr>
      </a:lvl4pPr>
      <a:lvl5pPr marL="2057349" indent="-228594" algn="l">
        <a:lnSpc>
          <a:spcPct val="90000"/>
        </a:lnSpc>
        <a:spcBef>
          <a:spcPts val="500"/>
        </a:spcBef>
        <a:buChar char="•"/>
        <a:defRPr sz="1800">
          <a:solidFill>
            <a:schemeClr val="tx1"/>
          </a:solidFill>
          <a:latin typeface="+mn-lt"/>
          <a:ea typeface="+mn-lt"/>
          <a:cs typeface="+mn-lt"/>
        </a:defRPr>
      </a:lvl5pPr>
      <a:lvl6pPr marL="2514537" indent="-228594" algn="l">
        <a:lnSpc>
          <a:spcPct val="90000"/>
        </a:lnSpc>
        <a:spcBef>
          <a:spcPts val="500"/>
        </a:spcBef>
        <a:buChar char="•"/>
        <a:defRPr sz="1800">
          <a:solidFill>
            <a:schemeClr val="tx1"/>
          </a:solidFill>
          <a:latin typeface="+mn-lt"/>
          <a:ea typeface="+mn-lt"/>
          <a:cs typeface="+mn-lt"/>
        </a:defRPr>
      </a:lvl6pPr>
      <a:lvl7pPr marL="2971726" indent="-228594" algn="l">
        <a:lnSpc>
          <a:spcPct val="90000"/>
        </a:lnSpc>
        <a:spcBef>
          <a:spcPts val="500"/>
        </a:spcBef>
        <a:buChar char="•"/>
        <a:defRPr sz="1800">
          <a:solidFill>
            <a:schemeClr val="tx1"/>
          </a:solidFill>
          <a:latin typeface="+mn-lt"/>
          <a:ea typeface="+mn-lt"/>
          <a:cs typeface="+mn-lt"/>
        </a:defRPr>
      </a:lvl7pPr>
      <a:lvl8pPr marL="3428914" indent="-228594" algn="l">
        <a:lnSpc>
          <a:spcPct val="90000"/>
        </a:lnSpc>
        <a:spcBef>
          <a:spcPts val="500"/>
        </a:spcBef>
        <a:buChar char="•"/>
        <a:defRPr sz="1800">
          <a:solidFill>
            <a:schemeClr val="tx1"/>
          </a:solidFill>
          <a:latin typeface="+mn-lt"/>
          <a:ea typeface="+mn-lt"/>
          <a:cs typeface="+mn-lt"/>
        </a:defRPr>
      </a:lvl8pPr>
      <a:lvl9pPr marL="3886103" indent="-228594"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189" algn="l">
        <a:buNone/>
        <a:defRPr sz="1800">
          <a:solidFill>
            <a:schemeClr val="tx1"/>
          </a:solidFill>
          <a:latin typeface="+mn-lt"/>
          <a:ea typeface="+mn-lt"/>
          <a:cs typeface="+mn-lt"/>
        </a:defRPr>
      </a:lvl2pPr>
      <a:lvl3pPr marL="914377" algn="l">
        <a:buNone/>
        <a:defRPr sz="1800">
          <a:solidFill>
            <a:schemeClr val="tx1"/>
          </a:solidFill>
          <a:latin typeface="+mn-lt"/>
          <a:ea typeface="+mn-lt"/>
          <a:cs typeface="+mn-lt"/>
        </a:defRPr>
      </a:lvl3pPr>
      <a:lvl4pPr marL="1371566" algn="l">
        <a:buNone/>
        <a:defRPr sz="1800">
          <a:solidFill>
            <a:schemeClr val="tx1"/>
          </a:solidFill>
          <a:latin typeface="+mn-lt"/>
          <a:ea typeface="+mn-lt"/>
          <a:cs typeface="+mn-lt"/>
        </a:defRPr>
      </a:lvl4pPr>
      <a:lvl5pPr marL="1828754" algn="l">
        <a:buNone/>
        <a:defRPr sz="1800">
          <a:solidFill>
            <a:schemeClr val="tx1"/>
          </a:solidFill>
          <a:latin typeface="+mn-lt"/>
          <a:ea typeface="+mn-lt"/>
          <a:cs typeface="+mn-lt"/>
        </a:defRPr>
      </a:lvl5pPr>
      <a:lvl6pPr marL="2285943" algn="l">
        <a:buNone/>
        <a:defRPr sz="1800">
          <a:solidFill>
            <a:schemeClr val="tx1"/>
          </a:solidFill>
          <a:latin typeface="+mn-lt"/>
          <a:ea typeface="+mn-lt"/>
          <a:cs typeface="+mn-lt"/>
        </a:defRPr>
      </a:lvl6pPr>
      <a:lvl7pPr marL="2743131" algn="l">
        <a:buNone/>
        <a:defRPr sz="1800">
          <a:solidFill>
            <a:schemeClr val="tx1"/>
          </a:solidFill>
          <a:latin typeface="+mn-lt"/>
          <a:ea typeface="+mn-lt"/>
          <a:cs typeface="+mn-lt"/>
        </a:defRPr>
      </a:lvl7pPr>
      <a:lvl8pPr marL="3200320" algn="l">
        <a:buNone/>
        <a:defRPr sz="1800">
          <a:solidFill>
            <a:schemeClr val="tx1"/>
          </a:solidFill>
          <a:latin typeface="+mn-lt"/>
          <a:ea typeface="+mn-lt"/>
          <a:cs typeface="+mn-lt"/>
        </a:defRPr>
      </a:lvl8pPr>
      <a:lvl9pPr marL="3657509"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8FAE7D2-601D-4E72-A3C8-4E42B6732611}"/>
              </a:ext>
            </a:extLst>
          </p:cNvPr>
          <p:cNvSpPr>
            <a:spLocks noGrp="1"/>
          </p:cNvSpPr>
          <p:nvPr/>
        </p:nvSpPr>
        <p:spPr>
          <a:xfrm>
            <a:off x="10391" y="20783"/>
            <a:ext cx="12192000" cy="6858000"/>
          </a:xfrm>
          <a:prstGeom prst="rect">
            <a:avLst/>
          </a:prstGeom>
          <a:gradFill>
            <a:gsLst>
              <a:gs pos="0">
                <a:srgbClr val="12233F"/>
              </a:gs>
              <a:gs pos="100000">
                <a:srgbClr val="184C78"/>
              </a:gs>
            </a:gsLst>
            <a:lin/>
          </a:gradFill>
          <a:ln w="0">
            <a:solidFill>
              <a:srgbClr val="12233F"/>
            </a:solidFill>
            <a:prstDash val="solid"/>
          </a:ln>
        </p:spPr>
        <p:txBody>
          <a:bodyPr/>
          <a:lstStyle/>
          <a:p>
            <a:endParaRPr lang="en-IN"/>
          </a:p>
        </p:txBody>
      </p:sp>
      <p:sp>
        <p:nvSpPr>
          <p:cNvPr id="2" name="Rectangle 1">
            <a:extLst>
              <a:ext uri="{FF2B5EF4-FFF2-40B4-BE49-F238E27FC236}">
                <a16:creationId xmlns:a16="http://schemas.microsoft.com/office/drawing/2014/main" id="{48AFA67C-F482-4A4D-9924-A4C0C055DCC0}"/>
              </a:ext>
            </a:extLst>
          </p:cNvPr>
          <p:cNvSpPr>
            <a:spLocks noGrp="1"/>
          </p:cNvSpPr>
          <p:nvPr/>
        </p:nvSpPr>
        <p:spPr>
          <a:xfrm>
            <a:off x="0" y="0"/>
            <a:ext cx="171450" cy="6858000"/>
          </a:xfrm>
          <a:prstGeom prst="rect">
            <a:avLst/>
          </a:prstGeom>
          <a:solidFill>
            <a:srgbClr val="FF9900"/>
          </a:solidFill>
          <a:ln w="0">
            <a:solidFill>
              <a:srgbClr val="FF9900"/>
            </a:solidFill>
            <a:prstDash val="solid"/>
          </a:ln>
        </p:spPr>
        <p:txBody>
          <a:bodyPr/>
          <a:lstStyle/>
          <a:p>
            <a:endParaRPr lang="en-IN"/>
          </a:p>
        </p:txBody>
      </p:sp>
      <p:sp>
        <p:nvSpPr>
          <p:cNvPr id="3" name="Rectangle 2">
            <a:extLst>
              <a:ext uri="{FF2B5EF4-FFF2-40B4-BE49-F238E27FC236}">
                <a16:creationId xmlns:a16="http://schemas.microsoft.com/office/drawing/2014/main" id="{F13D4E08-5CE4-4330-B246-1C4BE69202A9}"/>
              </a:ext>
            </a:extLst>
          </p:cNvPr>
          <p:cNvSpPr>
            <a:spLocks noGrp="1"/>
          </p:cNvSpPr>
          <p:nvPr/>
        </p:nvSpPr>
        <p:spPr>
          <a:xfrm>
            <a:off x="742949" y="1428751"/>
            <a:ext cx="8096251" cy="1524000"/>
          </a:xfrm>
          <a:prstGeom prst="rect">
            <a:avLst/>
          </a:prstGeom>
          <a:noFill/>
          <a:ln w="0">
            <a:noFill/>
            <a:prstDash val="solid"/>
          </a:ln>
        </p:spPr>
        <p:txBody>
          <a:bodyPr/>
          <a:lstStyle/>
          <a:p>
            <a:pPr algn="l">
              <a:defRPr sz="4050" b="1">
                <a:solidFill>
                  <a:srgbClr val="FFFFFF"/>
                </a:solidFill>
              </a:defRPr>
            </a:pPr>
            <a:r>
              <a:rPr sz="4051" b="1">
                <a:solidFill>
                  <a:srgbClr val="FFFFFF"/>
                </a:solidFill>
              </a:rPr>
              <a:t>AWS Serverless, Security &amp; Messaging Services</a:t>
            </a:r>
          </a:p>
        </p:txBody>
      </p:sp>
      <p:sp>
        <p:nvSpPr>
          <p:cNvPr id="4" name="Rectangle 3">
            <a:extLst>
              <a:ext uri="{FF2B5EF4-FFF2-40B4-BE49-F238E27FC236}">
                <a16:creationId xmlns:a16="http://schemas.microsoft.com/office/drawing/2014/main" id="{5C1190FE-4951-4E32-A437-27F4F85A64A7}"/>
              </a:ext>
            </a:extLst>
          </p:cNvPr>
          <p:cNvSpPr>
            <a:spLocks noGrp="1"/>
          </p:cNvSpPr>
          <p:nvPr/>
        </p:nvSpPr>
        <p:spPr>
          <a:xfrm>
            <a:off x="781051" y="3143250"/>
            <a:ext cx="7429500" cy="666751"/>
          </a:xfrm>
          <a:prstGeom prst="rect">
            <a:avLst/>
          </a:prstGeom>
          <a:noFill/>
          <a:ln w="0">
            <a:noFill/>
            <a:prstDash val="solid"/>
          </a:ln>
        </p:spPr>
        <p:txBody>
          <a:bodyPr/>
          <a:lstStyle/>
          <a:p>
            <a:pPr algn="l">
              <a:defRPr sz="1800" b="0">
                <a:solidFill>
                  <a:srgbClr val="DCEAF7"/>
                </a:solidFill>
              </a:defRPr>
            </a:pPr>
            <a:r>
              <a:rPr>
                <a:solidFill>
                  <a:srgbClr val="DCEAF7"/>
                </a:solidFill>
              </a:rPr>
              <a:t>Definitions, architectures, and process flows for a college Google Meet session</a:t>
            </a:r>
          </a:p>
        </p:txBody>
      </p:sp>
      <p:sp>
        <p:nvSpPr>
          <p:cNvPr id="5" name="Rectangle 4">
            <a:extLst>
              <a:ext uri="{FF2B5EF4-FFF2-40B4-BE49-F238E27FC236}">
                <a16:creationId xmlns:a16="http://schemas.microsoft.com/office/drawing/2014/main" id="{F2CA237D-B7E4-47E6-8F00-294613DB6185}"/>
              </a:ext>
            </a:extLst>
          </p:cNvPr>
          <p:cNvSpPr>
            <a:spLocks noGrp="1"/>
          </p:cNvSpPr>
          <p:nvPr/>
        </p:nvSpPr>
        <p:spPr>
          <a:xfrm>
            <a:off x="781049" y="781050"/>
            <a:ext cx="3143251" cy="285751"/>
          </a:xfrm>
          <a:prstGeom prst="rect">
            <a:avLst/>
          </a:prstGeom>
          <a:noFill/>
          <a:ln w="0">
            <a:noFill/>
            <a:prstDash val="solid"/>
          </a:ln>
        </p:spPr>
        <p:txBody>
          <a:bodyPr/>
          <a:lstStyle/>
          <a:p>
            <a:pPr algn="l">
              <a:defRPr sz="1350" b="1">
                <a:solidFill>
                  <a:srgbClr val="FF9900"/>
                </a:solidFill>
              </a:defRPr>
            </a:pPr>
            <a:endParaRPr sz="1351" b="1" dirty="0">
              <a:solidFill>
                <a:srgbClr val="FF9900"/>
              </a:solidFill>
            </a:endParaRPr>
          </a:p>
        </p:txBody>
      </p:sp>
      <p:sp>
        <p:nvSpPr>
          <p:cNvPr id="6" name="Rectangle: Rounded Corners 5">
            <a:extLst>
              <a:ext uri="{FF2B5EF4-FFF2-40B4-BE49-F238E27FC236}">
                <a16:creationId xmlns:a16="http://schemas.microsoft.com/office/drawing/2014/main" id="{D8920464-8AFE-4E07-AE4E-AE4713C4FDAF}"/>
              </a:ext>
            </a:extLst>
          </p:cNvPr>
          <p:cNvSpPr>
            <a:spLocks noGrp="1"/>
          </p:cNvSpPr>
          <p:nvPr/>
        </p:nvSpPr>
        <p:spPr>
          <a:xfrm>
            <a:off x="8477251" y="1428751"/>
            <a:ext cx="2476500" cy="2476500"/>
          </a:xfrm>
          <a:prstGeom prst="roundRect">
            <a:avLst>
              <a:gd name="adj" fmla="val 2308"/>
            </a:avLst>
          </a:prstGeom>
          <a:solidFill>
            <a:srgbClr val="FFFFFF">
              <a:alpha val="8000"/>
            </a:srgbClr>
          </a:solidFill>
          <a:ln w="9525">
            <a:solidFill>
              <a:srgbClr val="FF9900"/>
            </a:solidFill>
            <a:prstDash val="solid"/>
          </a:ln>
        </p:spPr>
        <p:txBody>
          <a:bodyPr/>
          <a:lstStyle/>
          <a:p>
            <a:endParaRPr lang="en-IN"/>
          </a:p>
        </p:txBody>
      </p:sp>
      <p:sp>
        <p:nvSpPr>
          <p:cNvPr id="7" name="Rectangle 6">
            <a:extLst>
              <a:ext uri="{FF2B5EF4-FFF2-40B4-BE49-F238E27FC236}">
                <a16:creationId xmlns:a16="http://schemas.microsoft.com/office/drawing/2014/main" id="{DD5736C1-D096-45D1-91AD-4FD3A4CDD6B6}"/>
              </a:ext>
            </a:extLst>
          </p:cNvPr>
          <p:cNvSpPr>
            <a:spLocks noGrp="1"/>
          </p:cNvSpPr>
          <p:nvPr/>
        </p:nvSpPr>
        <p:spPr>
          <a:xfrm>
            <a:off x="8477251" y="2076451"/>
            <a:ext cx="2476500" cy="762000"/>
          </a:xfrm>
          <a:prstGeom prst="rect">
            <a:avLst/>
          </a:prstGeom>
          <a:noFill/>
          <a:ln w="0">
            <a:noFill/>
            <a:prstDash val="solid"/>
          </a:ln>
        </p:spPr>
        <p:txBody>
          <a:bodyPr/>
          <a:lstStyle/>
          <a:p>
            <a:pPr algn="ctr">
              <a:defRPr sz="4650" b="1">
                <a:solidFill>
                  <a:srgbClr val="FFFFFF"/>
                </a:solidFill>
              </a:defRPr>
            </a:pPr>
            <a:r>
              <a:rPr sz="4651" b="1">
                <a:solidFill>
                  <a:srgbClr val="FFFFFF"/>
                </a:solidFill>
              </a:rPr>
              <a:t>AWS</a:t>
            </a:r>
          </a:p>
        </p:txBody>
      </p:sp>
      <p:sp>
        <p:nvSpPr>
          <p:cNvPr id="8" name="Rectangle 7">
            <a:extLst>
              <a:ext uri="{FF2B5EF4-FFF2-40B4-BE49-F238E27FC236}">
                <a16:creationId xmlns:a16="http://schemas.microsoft.com/office/drawing/2014/main" id="{FFE16AA2-61A9-458F-994B-8011D9F1D4E1}"/>
              </a:ext>
            </a:extLst>
          </p:cNvPr>
          <p:cNvSpPr>
            <a:spLocks noGrp="1"/>
          </p:cNvSpPr>
          <p:nvPr/>
        </p:nvSpPr>
        <p:spPr>
          <a:xfrm>
            <a:off x="8477251" y="2952751"/>
            <a:ext cx="2476500" cy="342900"/>
          </a:xfrm>
          <a:prstGeom prst="rect">
            <a:avLst/>
          </a:prstGeom>
          <a:noFill/>
          <a:ln w="0">
            <a:noFill/>
            <a:prstDash val="solid"/>
          </a:ln>
        </p:spPr>
        <p:txBody>
          <a:bodyPr/>
          <a:lstStyle/>
          <a:p>
            <a:pPr algn="ctr">
              <a:defRPr sz="1650" b="0">
                <a:solidFill>
                  <a:srgbClr val="DCEAF7"/>
                </a:solidFill>
              </a:defRPr>
            </a:pPr>
            <a:r>
              <a:rPr sz="1651">
                <a:solidFill>
                  <a:srgbClr val="DCEAF7"/>
                </a:solidFill>
              </a:rPr>
              <a:t>Beginner → Intermediate</a:t>
            </a:r>
          </a:p>
        </p:txBody>
      </p:sp>
    </p:spTree>
    <p:extLst>
      <p:ext uri="{BB962C8B-B14F-4D97-AF65-F5344CB8AC3E}">
        <p14:creationId xmlns:p14="http://schemas.microsoft.com/office/powerpoint/2010/main" val="496991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793A7582-3A9F-400D-A4EE-36C68EECF645}"/>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3CA0838B-E55E-43DB-AEE9-8904CBAD4E9F}"/>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Session map</a:t>
            </a:r>
          </a:p>
        </p:txBody>
      </p:sp>
      <p:sp>
        <p:nvSpPr>
          <p:cNvPr id="3" name="Rectangle 2">
            <a:extLst>
              <a:ext uri="{FF2B5EF4-FFF2-40B4-BE49-F238E27FC236}">
                <a16:creationId xmlns:a16="http://schemas.microsoft.com/office/drawing/2014/main" id="{6B3EE997-3B74-40C0-9E98-45E85A7487C7}"/>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02</a:t>
            </a:r>
          </a:p>
        </p:txBody>
      </p:sp>
      <p:sp>
        <p:nvSpPr>
          <p:cNvPr id="4" name="Rectangle 3">
            <a:extLst>
              <a:ext uri="{FF2B5EF4-FFF2-40B4-BE49-F238E27FC236}">
                <a16:creationId xmlns:a16="http://schemas.microsoft.com/office/drawing/2014/main" id="{3366C14C-5A8B-4F9C-B0EA-3D7D9483F2EC}"/>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We will learn each service in the same pattern</a:t>
            </a:r>
          </a:p>
        </p:txBody>
      </p:sp>
      <p:sp>
        <p:nvSpPr>
          <p:cNvPr id="5" name="Rectangle 4">
            <a:extLst>
              <a:ext uri="{FF2B5EF4-FFF2-40B4-BE49-F238E27FC236}">
                <a16:creationId xmlns:a16="http://schemas.microsoft.com/office/drawing/2014/main" id="{C0A2B580-595F-48AA-9AF3-B8CDA19E3DFE}"/>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Definition first, then architecture, then the process you can explain in interviews.</a:t>
            </a:r>
          </a:p>
        </p:txBody>
      </p:sp>
      <p:sp>
        <p:nvSpPr>
          <p:cNvPr id="6" name="Rectangle 5">
            <a:extLst>
              <a:ext uri="{FF2B5EF4-FFF2-40B4-BE49-F238E27FC236}">
                <a16:creationId xmlns:a16="http://schemas.microsoft.com/office/drawing/2014/main" id="{77EF19B3-9D38-428C-AFD9-3C3E58B9318E}"/>
              </a:ext>
            </a:extLst>
          </p:cNvPr>
          <p:cNvSpPr>
            <a:spLocks noGrp="1"/>
          </p:cNvSpPr>
          <p:nvPr/>
        </p:nvSpPr>
        <p:spPr>
          <a:xfrm>
            <a:off x="857251" y="1952626"/>
            <a:ext cx="5191125" cy="3619500"/>
          </a:xfrm>
          <a:prstGeom prst="rect">
            <a:avLst/>
          </a:prstGeom>
          <a:noFill/>
          <a:ln w="0">
            <a:noFill/>
            <a:prstDash val="solid"/>
          </a:ln>
        </p:spPr>
        <p:txBody>
          <a:bodyPr/>
          <a:lstStyle/>
          <a:p>
            <a:pPr algn="l">
              <a:defRPr sz="1500" b="0">
                <a:solidFill>
                  <a:srgbClr val="334155"/>
                </a:solidFill>
              </a:defRPr>
            </a:pPr>
            <a:r>
              <a:rPr sz="1500">
                <a:solidFill>
                  <a:srgbClr val="334155"/>
                </a:solidFill>
              </a:rPr>
              <a:t>• 1. AWS Lambda - Serverless compute</a:t>
            </a:r>
          </a:p>
          <a:p>
            <a:pPr algn="l">
              <a:defRPr sz="1500" b="0">
                <a:solidFill>
                  <a:srgbClr val="334155"/>
                </a:solidFill>
              </a:defRPr>
            </a:pPr>
            <a:r>
              <a:rPr sz="1500">
                <a:solidFill>
                  <a:srgbClr val="334155"/>
                </a:solidFill>
              </a:rPr>
              <a:t>• 2. Amazon API Gateway - Managed API front door</a:t>
            </a:r>
          </a:p>
          <a:p>
            <a:pPr algn="l">
              <a:defRPr sz="1500" b="0">
                <a:solidFill>
                  <a:srgbClr val="334155"/>
                </a:solidFill>
              </a:defRPr>
            </a:pPr>
            <a:r>
              <a:rPr sz="1500">
                <a:solidFill>
                  <a:srgbClr val="334155"/>
                </a:solidFill>
              </a:rPr>
              <a:t>• 3. AWS KMS - Key management</a:t>
            </a:r>
          </a:p>
          <a:p>
            <a:pPr algn="l">
              <a:defRPr sz="1500" b="0">
                <a:solidFill>
                  <a:srgbClr val="334155"/>
                </a:solidFill>
              </a:defRPr>
            </a:pPr>
            <a:r>
              <a:rPr sz="1500">
                <a:solidFill>
                  <a:srgbClr val="334155"/>
                </a:solidFill>
              </a:rPr>
              <a:t>• 4. Amazon SQS - Managed queue</a:t>
            </a:r>
          </a:p>
          <a:p>
            <a:pPr algn="l">
              <a:defRPr sz="1500" b="0">
                <a:solidFill>
                  <a:srgbClr val="334155"/>
                </a:solidFill>
              </a:defRPr>
            </a:pPr>
            <a:r>
              <a:rPr sz="1500">
                <a:solidFill>
                  <a:srgbClr val="334155"/>
                </a:solidFill>
              </a:rPr>
              <a:t>• 5. Amazon MQ - Managed message broker</a:t>
            </a:r>
          </a:p>
          <a:p>
            <a:pPr algn="l">
              <a:defRPr sz="1500" b="0">
                <a:solidFill>
                  <a:srgbClr val="334155"/>
                </a:solidFill>
              </a:defRPr>
            </a:pPr>
            <a:r>
              <a:rPr sz="1500">
                <a:solidFill>
                  <a:srgbClr val="334155"/>
                </a:solidFill>
              </a:rPr>
              <a:t>• 6. AWS Secrets Manager - Credential protection</a:t>
            </a:r>
          </a:p>
          <a:p>
            <a:pPr algn="l">
              <a:defRPr sz="1500" b="0">
                <a:solidFill>
                  <a:srgbClr val="334155"/>
                </a:solidFill>
              </a:defRPr>
            </a:pPr>
            <a:r>
              <a:rPr sz="1500">
                <a:solidFill>
                  <a:srgbClr val="334155"/>
                </a:solidFill>
              </a:rPr>
              <a:t>• 7. AWS WAF - Web application firewall</a:t>
            </a:r>
          </a:p>
        </p:txBody>
      </p:sp>
      <p:sp>
        <p:nvSpPr>
          <p:cNvPr id="7" name="Rectangle: Rounded Corners 6">
            <a:extLst>
              <a:ext uri="{FF2B5EF4-FFF2-40B4-BE49-F238E27FC236}">
                <a16:creationId xmlns:a16="http://schemas.microsoft.com/office/drawing/2014/main" id="{95335196-C500-425D-8A8E-CA7D622783EC}"/>
              </a:ext>
            </a:extLst>
          </p:cNvPr>
          <p:cNvSpPr>
            <a:spLocks noGrp="1"/>
          </p:cNvSpPr>
          <p:nvPr/>
        </p:nvSpPr>
        <p:spPr>
          <a:xfrm>
            <a:off x="6572250" y="2333625"/>
            <a:ext cx="4095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8" name="Rectangle 7">
            <a:extLst>
              <a:ext uri="{FF2B5EF4-FFF2-40B4-BE49-F238E27FC236}">
                <a16:creationId xmlns:a16="http://schemas.microsoft.com/office/drawing/2014/main" id="{0CD08436-EEE4-4D7B-B491-BF2A50EB7C34}"/>
              </a:ext>
            </a:extLst>
          </p:cNvPr>
          <p:cNvSpPr>
            <a:spLocks noGrp="1"/>
          </p:cNvSpPr>
          <p:nvPr/>
        </p:nvSpPr>
        <p:spPr>
          <a:xfrm>
            <a:off x="6667500" y="2447926"/>
            <a:ext cx="3905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Definition</a:t>
            </a:r>
          </a:p>
        </p:txBody>
      </p:sp>
      <p:sp>
        <p:nvSpPr>
          <p:cNvPr id="9" name="Arrow: Down 8">
            <a:extLst>
              <a:ext uri="{FF2B5EF4-FFF2-40B4-BE49-F238E27FC236}">
                <a16:creationId xmlns:a16="http://schemas.microsoft.com/office/drawing/2014/main" id="{B4BAE864-D710-4CFD-B706-C6DEABFAE76F}"/>
              </a:ext>
            </a:extLst>
          </p:cNvPr>
          <p:cNvSpPr>
            <a:spLocks noGrp="1"/>
          </p:cNvSpPr>
          <p:nvPr/>
        </p:nvSpPr>
        <p:spPr>
          <a:xfrm>
            <a:off x="8524875" y="2838451"/>
            <a:ext cx="190500" cy="190500"/>
          </a:xfrm>
          <a:prstGeom prst="downArrow">
            <a:avLst/>
          </a:prstGeom>
          <a:solidFill>
            <a:srgbClr val="FF9900"/>
          </a:solidFill>
          <a:ln w="0">
            <a:solidFill>
              <a:srgbClr val="FF9900"/>
            </a:solidFill>
            <a:prstDash val="solid"/>
          </a:ln>
        </p:spPr>
        <p:txBody>
          <a:bodyPr/>
          <a:lstStyle/>
          <a:p>
            <a:endParaRPr lang="en-IN"/>
          </a:p>
        </p:txBody>
      </p:sp>
      <p:sp>
        <p:nvSpPr>
          <p:cNvPr id="10" name="Rectangle: Rounded Corners 9">
            <a:extLst>
              <a:ext uri="{FF2B5EF4-FFF2-40B4-BE49-F238E27FC236}">
                <a16:creationId xmlns:a16="http://schemas.microsoft.com/office/drawing/2014/main" id="{4FAB00C0-418C-444B-A7D5-24A1C485DB78}"/>
              </a:ext>
            </a:extLst>
          </p:cNvPr>
          <p:cNvSpPr>
            <a:spLocks noGrp="1"/>
          </p:cNvSpPr>
          <p:nvPr/>
        </p:nvSpPr>
        <p:spPr>
          <a:xfrm>
            <a:off x="6572250" y="3076575"/>
            <a:ext cx="4095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1" name="Rectangle 10">
            <a:extLst>
              <a:ext uri="{FF2B5EF4-FFF2-40B4-BE49-F238E27FC236}">
                <a16:creationId xmlns:a16="http://schemas.microsoft.com/office/drawing/2014/main" id="{5B928C26-D29C-4AE8-8C6F-A200FDDDBE72}"/>
              </a:ext>
            </a:extLst>
          </p:cNvPr>
          <p:cNvSpPr>
            <a:spLocks noGrp="1"/>
          </p:cNvSpPr>
          <p:nvPr/>
        </p:nvSpPr>
        <p:spPr>
          <a:xfrm>
            <a:off x="6667500" y="3190875"/>
            <a:ext cx="3905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Architecture</a:t>
            </a:r>
          </a:p>
        </p:txBody>
      </p:sp>
      <p:sp>
        <p:nvSpPr>
          <p:cNvPr id="12" name="Arrow: Down 11">
            <a:extLst>
              <a:ext uri="{FF2B5EF4-FFF2-40B4-BE49-F238E27FC236}">
                <a16:creationId xmlns:a16="http://schemas.microsoft.com/office/drawing/2014/main" id="{EFEA59D3-1703-44DA-84BA-914927D4DB46}"/>
              </a:ext>
            </a:extLst>
          </p:cNvPr>
          <p:cNvSpPr>
            <a:spLocks noGrp="1"/>
          </p:cNvSpPr>
          <p:nvPr/>
        </p:nvSpPr>
        <p:spPr>
          <a:xfrm>
            <a:off x="8524875" y="3581401"/>
            <a:ext cx="190500" cy="190500"/>
          </a:xfrm>
          <a:prstGeom prst="downArrow">
            <a:avLst/>
          </a:prstGeom>
          <a:solidFill>
            <a:srgbClr val="FF9900"/>
          </a:solidFill>
          <a:ln w="0">
            <a:solidFill>
              <a:srgbClr val="FF9900"/>
            </a:solidFill>
            <a:prstDash val="solid"/>
          </a:ln>
        </p:spPr>
        <p:txBody>
          <a:bodyPr/>
          <a:lstStyle/>
          <a:p>
            <a:endParaRPr lang="en-IN"/>
          </a:p>
        </p:txBody>
      </p:sp>
      <p:sp>
        <p:nvSpPr>
          <p:cNvPr id="13" name="Rectangle: Rounded Corners 12">
            <a:extLst>
              <a:ext uri="{FF2B5EF4-FFF2-40B4-BE49-F238E27FC236}">
                <a16:creationId xmlns:a16="http://schemas.microsoft.com/office/drawing/2014/main" id="{431BB84A-E139-4AB0-A45D-909600B73089}"/>
              </a:ext>
            </a:extLst>
          </p:cNvPr>
          <p:cNvSpPr>
            <a:spLocks noGrp="1"/>
          </p:cNvSpPr>
          <p:nvPr/>
        </p:nvSpPr>
        <p:spPr>
          <a:xfrm>
            <a:off x="6572250" y="3819525"/>
            <a:ext cx="4095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4" name="Rectangle 13">
            <a:extLst>
              <a:ext uri="{FF2B5EF4-FFF2-40B4-BE49-F238E27FC236}">
                <a16:creationId xmlns:a16="http://schemas.microsoft.com/office/drawing/2014/main" id="{7576C2F1-A9D5-46A1-BD46-10DE01CED578}"/>
              </a:ext>
            </a:extLst>
          </p:cNvPr>
          <p:cNvSpPr>
            <a:spLocks noGrp="1"/>
          </p:cNvSpPr>
          <p:nvPr/>
        </p:nvSpPr>
        <p:spPr>
          <a:xfrm>
            <a:off x="6667500" y="3933826"/>
            <a:ext cx="3905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Process</a:t>
            </a:r>
          </a:p>
        </p:txBody>
      </p:sp>
      <p:sp>
        <p:nvSpPr>
          <p:cNvPr id="15" name="Arrow: Down 14">
            <a:extLst>
              <a:ext uri="{FF2B5EF4-FFF2-40B4-BE49-F238E27FC236}">
                <a16:creationId xmlns:a16="http://schemas.microsoft.com/office/drawing/2014/main" id="{29DB35B3-6C6F-4FF1-8141-A4BAEF198B8F}"/>
              </a:ext>
            </a:extLst>
          </p:cNvPr>
          <p:cNvSpPr>
            <a:spLocks noGrp="1"/>
          </p:cNvSpPr>
          <p:nvPr/>
        </p:nvSpPr>
        <p:spPr>
          <a:xfrm>
            <a:off x="8524875" y="4324351"/>
            <a:ext cx="190500" cy="190500"/>
          </a:xfrm>
          <a:prstGeom prst="downArrow">
            <a:avLst/>
          </a:prstGeom>
          <a:solidFill>
            <a:srgbClr val="FF9900"/>
          </a:solidFill>
          <a:ln w="0">
            <a:solidFill>
              <a:srgbClr val="FF9900"/>
            </a:solidFill>
            <a:prstDash val="solid"/>
          </a:ln>
        </p:spPr>
        <p:txBody>
          <a:bodyPr/>
          <a:lstStyle/>
          <a:p>
            <a:endParaRPr lang="en-IN"/>
          </a:p>
        </p:txBody>
      </p:sp>
      <p:sp>
        <p:nvSpPr>
          <p:cNvPr id="16" name="Rectangle: Rounded Corners 15">
            <a:extLst>
              <a:ext uri="{FF2B5EF4-FFF2-40B4-BE49-F238E27FC236}">
                <a16:creationId xmlns:a16="http://schemas.microsoft.com/office/drawing/2014/main" id="{398D0741-CD92-4C45-B22F-3CC3F67D75B3}"/>
              </a:ext>
            </a:extLst>
          </p:cNvPr>
          <p:cNvSpPr>
            <a:spLocks noGrp="1"/>
          </p:cNvSpPr>
          <p:nvPr/>
        </p:nvSpPr>
        <p:spPr>
          <a:xfrm>
            <a:off x="6572250" y="4562475"/>
            <a:ext cx="4095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7" name="Rectangle 16">
            <a:extLst>
              <a:ext uri="{FF2B5EF4-FFF2-40B4-BE49-F238E27FC236}">
                <a16:creationId xmlns:a16="http://schemas.microsoft.com/office/drawing/2014/main" id="{80E5859A-2B1A-4316-B886-FA2215366870}"/>
              </a:ext>
            </a:extLst>
          </p:cNvPr>
          <p:cNvSpPr>
            <a:spLocks noGrp="1"/>
          </p:cNvSpPr>
          <p:nvPr/>
        </p:nvSpPr>
        <p:spPr>
          <a:xfrm>
            <a:off x="6667500" y="4676775"/>
            <a:ext cx="3905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Best practices</a:t>
            </a:r>
          </a:p>
        </p:txBody>
      </p:sp>
      <p:sp>
        <p:nvSpPr>
          <p:cNvPr id="18" name="Arrow: Down 17">
            <a:extLst>
              <a:ext uri="{FF2B5EF4-FFF2-40B4-BE49-F238E27FC236}">
                <a16:creationId xmlns:a16="http://schemas.microsoft.com/office/drawing/2014/main" id="{AF916954-0526-439C-B8DB-6F3511E55E9B}"/>
              </a:ext>
            </a:extLst>
          </p:cNvPr>
          <p:cNvSpPr>
            <a:spLocks noGrp="1"/>
          </p:cNvSpPr>
          <p:nvPr/>
        </p:nvSpPr>
        <p:spPr>
          <a:xfrm>
            <a:off x="8524875" y="5067301"/>
            <a:ext cx="190500" cy="190500"/>
          </a:xfrm>
          <a:prstGeom prst="downArrow">
            <a:avLst/>
          </a:prstGeom>
          <a:solidFill>
            <a:srgbClr val="FF9900"/>
          </a:solidFill>
          <a:ln w="0">
            <a:solidFill>
              <a:srgbClr val="FF9900"/>
            </a:solidFill>
            <a:prstDash val="solid"/>
          </a:ln>
        </p:spPr>
        <p:txBody>
          <a:bodyPr/>
          <a:lstStyle/>
          <a:p>
            <a:endParaRPr lang="en-IN"/>
          </a:p>
        </p:txBody>
      </p:sp>
      <p:sp>
        <p:nvSpPr>
          <p:cNvPr id="19" name="Rectangle: Rounded Corners 18">
            <a:extLst>
              <a:ext uri="{FF2B5EF4-FFF2-40B4-BE49-F238E27FC236}">
                <a16:creationId xmlns:a16="http://schemas.microsoft.com/office/drawing/2014/main" id="{62D97322-399D-4D57-A886-95A694302AAA}"/>
              </a:ext>
            </a:extLst>
          </p:cNvPr>
          <p:cNvSpPr>
            <a:spLocks noGrp="1"/>
          </p:cNvSpPr>
          <p:nvPr/>
        </p:nvSpPr>
        <p:spPr>
          <a:xfrm>
            <a:off x="6572250" y="5305425"/>
            <a:ext cx="4095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20" name="Rectangle 19">
            <a:extLst>
              <a:ext uri="{FF2B5EF4-FFF2-40B4-BE49-F238E27FC236}">
                <a16:creationId xmlns:a16="http://schemas.microsoft.com/office/drawing/2014/main" id="{6016D85B-F8A7-4338-AAE2-685E25523670}"/>
              </a:ext>
            </a:extLst>
          </p:cNvPr>
          <p:cNvSpPr>
            <a:spLocks noGrp="1"/>
          </p:cNvSpPr>
          <p:nvPr/>
        </p:nvSpPr>
        <p:spPr>
          <a:xfrm>
            <a:off x="6667500" y="5419726"/>
            <a:ext cx="3905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Interview cues</a:t>
            </a:r>
          </a:p>
        </p:txBody>
      </p:sp>
    </p:spTree>
    <p:extLst>
      <p:ext uri="{BB962C8B-B14F-4D97-AF65-F5344CB8AC3E}">
        <p14:creationId xmlns:p14="http://schemas.microsoft.com/office/powerpoint/2010/main" val="1351134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598D07E-65DC-4AE6-9609-8E636A7A47C8}"/>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1FD4A8AD-9F23-4210-B0E5-FE607DC7004C}"/>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Cloud overview</a:t>
            </a:r>
          </a:p>
        </p:txBody>
      </p:sp>
      <p:sp>
        <p:nvSpPr>
          <p:cNvPr id="3" name="Rectangle 2">
            <a:extLst>
              <a:ext uri="{FF2B5EF4-FFF2-40B4-BE49-F238E27FC236}">
                <a16:creationId xmlns:a16="http://schemas.microsoft.com/office/drawing/2014/main" id="{3C4A80A5-43DE-4270-866D-236AA5C24900}"/>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03</a:t>
            </a:r>
          </a:p>
        </p:txBody>
      </p:sp>
      <p:sp>
        <p:nvSpPr>
          <p:cNvPr id="4" name="Rectangle 3">
            <a:extLst>
              <a:ext uri="{FF2B5EF4-FFF2-40B4-BE49-F238E27FC236}">
                <a16:creationId xmlns:a16="http://schemas.microsoft.com/office/drawing/2014/main" id="{E0631222-783F-4031-9C08-24AFF5DF9891}"/>
              </a:ext>
            </a:extLst>
          </p:cNvPr>
          <p:cNvSpPr>
            <a:spLocks noGrp="1"/>
          </p:cNvSpPr>
          <p:nvPr/>
        </p:nvSpPr>
        <p:spPr>
          <a:xfrm>
            <a:off x="685801" y="685800"/>
            <a:ext cx="9434945" cy="552451"/>
          </a:xfrm>
          <a:prstGeom prst="rect">
            <a:avLst/>
          </a:prstGeom>
          <a:noFill/>
          <a:ln w="0">
            <a:noFill/>
            <a:prstDash val="solid"/>
          </a:ln>
        </p:spPr>
        <p:txBody>
          <a:bodyPr/>
          <a:lstStyle/>
          <a:p>
            <a:pPr algn="l">
              <a:defRPr sz="3000" b="1">
                <a:solidFill>
                  <a:srgbClr val="12233F"/>
                </a:solidFill>
              </a:defRPr>
            </a:pPr>
            <a:r>
              <a:rPr sz="3000" b="1" dirty="0">
                <a:solidFill>
                  <a:srgbClr val="12233F"/>
                </a:solidFill>
              </a:rPr>
              <a:t>The services fit into one secure serverless application</a:t>
            </a:r>
          </a:p>
        </p:txBody>
      </p:sp>
      <p:sp>
        <p:nvSpPr>
          <p:cNvPr id="5" name="Rectangle 4">
            <a:extLst>
              <a:ext uri="{FF2B5EF4-FFF2-40B4-BE49-F238E27FC236}">
                <a16:creationId xmlns:a16="http://schemas.microsoft.com/office/drawing/2014/main" id="{3EFBA7CC-28C5-4386-A0FA-DE037D10DF62}"/>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Requests enter through an API layer, run compute, protect data, and communicate asynchronously.</a:t>
            </a:r>
          </a:p>
        </p:txBody>
      </p:sp>
      <p:sp>
        <p:nvSpPr>
          <p:cNvPr id="6" name="Rectangle: Rounded Corners 5">
            <a:extLst>
              <a:ext uri="{FF2B5EF4-FFF2-40B4-BE49-F238E27FC236}">
                <a16:creationId xmlns:a16="http://schemas.microsoft.com/office/drawing/2014/main" id="{EC1DA0A9-F4FD-4F83-AD5E-CD129948341E}"/>
              </a:ext>
            </a:extLst>
          </p:cNvPr>
          <p:cNvSpPr>
            <a:spLocks noGrp="1"/>
          </p:cNvSpPr>
          <p:nvPr/>
        </p:nvSpPr>
        <p:spPr>
          <a:xfrm>
            <a:off x="952500" y="2381251"/>
            <a:ext cx="172212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C4E9B148-2C74-48A5-860D-29CD4E5B9D36}"/>
              </a:ext>
            </a:extLst>
          </p:cNvPr>
          <p:cNvSpPr>
            <a:spLocks noGrp="1"/>
          </p:cNvSpPr>
          <p:nvPr/>
        </p:nvSpPr>
        <p:spPr>
          <a:xfrm>
            <a:off x="1047751" y="2495550"/>
            <a:ext cx="153162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Users</a:t>
            </a:r>
          </a:p>
        </p:txBody>
      </p:sp>
      <p:sp>
        <p:nvSpPr>
          <p:cNvPr id="8" name="Arrow: Right 7">
            <a:extLst>
              <a:ext uri="{FF2B5EF4-FFF2-40B4-BE49-F238E27FC236}">
                <a16:creationId xmlns:a16="http://schemas.microsoft.com/office/drawing/2014/main" id="{17F216A3-BF71-41A9-8319-D7057DF1306C}"/>
              </a:ext>
            </a:extLst>
          </p:cNvPr>
          <p:cNvSpPr>
            <a:spLocks noGrp="1"/>
          </p:cNvSpPr>
          <p:nvPr/>
        </p:nvSpPr>
        <p:spPr>
          <a:xfrm>
            <a:off x="2750820" y="2619375"/>
            <a:ext cx="171451" cy="209551"/>
          </a:xfrm>
          <a:prstGeom prst="right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2BC180A3-FB16-4579-BF0F-15E9157A95DC}"/>
              </a:ext>
            </a:extLst>
          </p:cNvPr>
          <p:cNvSpPr>
            <a:spLocks noGrp="1"/>
          </p:cNvSpPr>
          <p:nvPr/>
        </p:nvSpPr>
        <p:spPr>
          <a:xfrm>
            <a:off x="2998471" y="2381251"/>
            <a:ext cx="172212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8258CEEE-3843-4EA1-B2B5-72AB35FEA35F}"/>
              </a:ext>
            </a:extLst>
          </p:cNvPr>
          <p:cNvSpPr>
            <a:spLocks noGrp="1"/>
          </p:cNvSpPr>
          <p:nvPr/>
        </p:nvSpPr>
        <p:spPr>
          <a:xfrm>
            <a:off x="3093721" y="2495550"/>
            <a:ext cx="153162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WAF</a:t>
            </a:r>
          </a:p>
        </p:txBody>
      </p:sp>
      <p:sp>
        <p:nvSpPr>
          <p:cNvPr id="11" name="Arrow: Right 10">
            <a:extLst>
              <a:ext uri="{FF2B5EF4-FFF2-40B4-BE49-F238E27FC236}">
                <a16:creationId xmlns:a16="http://schemas.microsoft.com/office/drawing/2014/main" id="{5697DE7B-2530-440A-9C2D-3BDB280D5D7B}"/>
              </a:ext>
            </a:extLst>
          </p:cNvPr>
          <p:cNvSpPr>
            <a:spLocks noGrp="1"/>
          </p:cNvSpPr>
          <p:nvPr/>
        </p:nvSpPr>
        <p:spPr>
          <a:xfrm>
            <a:off x="4796789" y="2619375"/>
            <a:ext cx="171451" cy="209551"/>
          </a:xfrm>
          <a:prstGeom prst="right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9531E056-3DB4-49C3-947A-CC1ADA327F0E}"/>
              </a:ext>
            </a:extLst>
          </p:cNvPr>
          <p:cNvSpPr>
            <a:spLocks noGrp="1"/>
          </p:cNvSpPr>
          <p:nvPr/>
        </p:nvSpPr>
        <p:spPr>
          <a:xfrm>
            <a:off x="5044440" y="2381251"/>
            <a:ext cx="172212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2826A081-5A1F-4AC6-A3DD-F3F2A5C188B7}"/>
              </a:ext>
            </a:extLst>
          </p:cNvPr>
          <p:cNvSpPr>
            <a:spLocks noGrp="1"/>
          </p:cNvSpPr>
          <p:nvPr/>
        </p:nvSpPr>
        <p:spPr>
          <a:xfrm>
            <a:off x="5139691" y="2495550"/>
            <a:ext cx="153162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API Gateway</a:t>
            </a:r>
          </a:p>
        </p:txBody>
      </p:sp>
      <p:sp>
        <p:nvSpPr>
          <p:cNvPr id="14" name="Arrow: Right 13">
            <a:extLst>
              <a:ext uri="{FF2B5EF4-FFF2-40B4-BE49-F238E27FC236}">
                <a16:creationId xmlns:a16="http://schemas.microsoft.com/office/drawing/2014/main" id="{16081BBB-CD7D-4CDA-986E-C3B8680EAE2E}"/>
              </a:ext>
            </a:extLst>
          </p:cNvPr>
          <p:cNvSpPr>
            <a:spLocks noGrp="1"/>
          </p:cNvSpPr>
          <p:nvPr/>
        </p:nvSpPr>
        <p:spPr>
          <a:xfrm>
            <a:off x="6842760" y="2619375"/>
            <a:ext cx="171451" cy="209551"/>
          </a:xfrm>
          <a:prstGeom prst="right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14CE8742-E73E-4AC2-B30E-55CAC9F8DD3E}"/>
              </a:ext>
            </a:extLst>
          </p:cNvPr>
          <p:cNvSpPr>
            <a:spLocks noGrp="1"/>
          </p:cNvSpPr>
          <p:nvPr/>
        </p:nvSpPr>
        <p:spPr>
          <a:xfrm>
            <a:off x="7090411" y="2381251"/>
            <a:ext cx="172212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A9E823EB-A1B6-4554-B040-AE242CC01503}"/>
              </a:ext>
            </a:extLst>
          </p:cNvPr>
          <p:cNvSpPr>
            <a:spLocks noGrp="1"/>
          </p:cNvSpPr>
          <p:nvPr/>
        </p:nvSpPr>
        <p:spPr>
          <a:xfrm>
            <a:off x="7185661" y="2495550"/>
            <a:ext cx="153162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Lambda</a:t>
            </a:r>
          </a:p>
        </p:txBody>
      </p:sp>
      <p:sp>
        <p:nvSpPr>
          <p:cNvPr id="17" name="Arrow: Right 16">
            <a:extLst>
              <a:ext uri="{FF2B5EF4-FFF2-40B4-BE49-F238E27FC236}">
                <a16:creationId xmlns:a16="http://schemas.microsoft.com/office/drawing/2014/main" id="{93DCBCCF-3FBC-4B04-915F-9AECCD7F80B6}"/>
              </a:ext>
            </a:extLst>
          </p:cNvPr>
          <p:cNvSpPr>
            <a:spLocks noGrp="1"/>
          </p:cNvSpPr>
          <p:nvPr/>
        </p:nvSpPr>
        <p:spPr>
          <a:xfrm>
            <a:off x="8888729" y="2619375"/>
            <a:ext cx="171451" cy="209551"/>
          </a:xfrm>
          <a:prstGeom prst="right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B1D71990-2AC2-4775-B1F6-C5094069CE28}"/>
              </a:ext>
            </a:extLst>
          </p:cNvPr>
          <p:cNvSpPr>
            <a:spLocks noGrp="1"/>
          </p:cNvSpPr>
          <p:nvPr/>
        </p:nvSpPr>
        <p:spPr>
          <a:xfrm>
            <a:off x="9136380" y="2381251"/>
            <a:ext cx="172212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F905056C-8C9A-4361-B9E2-40C9A8716046}"/>
              </a:ext>
            </a:extLst>
          </p:cNvPr>
          <p:cNvSpPr>
            <a:spLocks noGrp="1"/>
          </p:cNvSpPr>
          <p:nvPr/>
        </p:nvSpPr>
        <p:spPr>
          <a:xfrm>
            <a:off x="9231631" y="2495550"/>
            <a:ext cx="153162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Data / Messaging</a:t>
            </a:r>
          </a:p>
        </p:txBody>
      </p:sp>
      <p:sp>
        <p:nvSpPr>
          <p:cNvPr id="20" name="Rectangle 19">
            <a:extLst>
              <a:ext uri="{FF2B5EF4-FFF2-40B4-BE49-F238E27FC236}">
                <a16:creationId xmlns:a16="http://schemas.microsoft.com/office/drawing/2014/main" id="{D11E021A-45DB-4851-A337-7D4BA1024408}"/>
              </a:ext>
            </a:extLst>
          </p:cNvPr>
          <p:cNvSpPr>
            <a:spLocks noGrp="1"/>
          </p:cNvSpPr>
          <p:nvPr/>
        </p:nvSpPr>
        <p:spPr>
          <a:xfrm>
            <a:off x="952501" y="4095749"/>
            <a:ext cx="1714500" cy="323851"/>
          </a:xfrm>
          <a:prstGeom prst="rect">
            <a:avLst/>
          </a:prstGeom>
          <a:noFill/>
          <a:ln w="0">
            <a:noFill/>
            <a:prstDash val="solid"/>
          </a:ln>
        </p:spPr>
        <p:txBody>
          <a:bodyPr/>
          <a:lstStyle/>
          <a:p>
            <a:pPr algn="l">
              <a:defRPr sz="1950" b="1">
                <a:solidFill>
                  <a:srgbClr val="12233F"/>
                </a:solidFill>
              </a:defRPr>
            </a:pPr>
            <a:r>
              <a:rPr sz="1951" b="1">
                <a:solidFill>
                  <a:srgbClr val="12233F"/>
                </a:solidFill>
              </a:rPr>
              <a:t>Big idea</a:t>
            </a:r>
          </a:p>
        </p:txBody>
      </p:sp>
      <p:sp>
        <p:nvSpPr>
          <p:cNvPr id="21" name="Rectangle 20">
            <a:extLst>
              <a:ext uri="{FF2B5EF4-FFF2-40B4-BE49-F238E27FC236}">
                <a16:creationId xmlns:a16="http://schemas.microsoft.com/office/drawing/2014/main" id="{190F4D0F-F4DD-4256-8DA4-B664DFF88F21}"/>
              </a:ext>
            </a:extLst>
          </p:cNvPr>
          <p:cNvSpPr>
            <a:spLocks noGrp="1"/>
          </p:cNvSpPr>
          <p:nvPr/>
        </p:nvSpPr>
        <p:spPr>
          <a:xfrm>
            <a:off x="2809875" y="4038600"/>
            <a:ext cx="7524751" cy="1143000"/>
          </a:xfrm>
          <a:prstGeom prst="rect">
            <a:avLst/>
          </a:prstGeom>
          <a:noFill/>
          <a:ln w="0">
            <a:noFill/>
            <a:prstDash val="solid"/>
          </a:ln>
        </p:spPr>
        <p:txBody>
          <a:bodyPr/>
          <a:lstStyle/>
          <a:p>
            <a:pPr algn="l">
              <a:defRPr sz="1725" b="0">
                <a:solidFill>
                  <a:srgbClr val="334155"/>
                </a:solidFill>
              </a:defRPr>
            </a:pPr>
            <a:r>
              <a:rPr sz="1725">
                <a:solidFill>
                  <a:srgbClr val="334155"/>
                </a:solidFill>
              </a:rPr>
              <a:t>• Security services protect traffic, keys, and credentials.</a:t>
            </a:r>
          </a:p>
          <a:p>
            <a:pPr algn="l">
              <a:defRPr sz="1725" b="0">
                <a:solidFill>
                  <a:srgbClr val="334155"/>
                </a:solidFill>
              </a:defRPr>
            </a:pPr>
            <a:r>
              <a:rPr sz="1725">
                <a:solidFill>
                  <a:srgbClr val="334155"/>
                </a:solidFill>
              </a:rPr>
              <a:t>• Messaging services decouple producers and consumers.</a:t>
            </a:r>
          </a:p>
          <a:p>
            <a:pPr algn="l">
              <a:defRPr sz="1725" b="0">
                <a:solidFill>
                  <a:srgbClr val="334155"/>
                </a:solidFill>
              </a:defRPr>
            </a:pPr>
            <a:r>
              <a:rPr sz="1725">
                <a:solidFill>
                  <a:srgbClr val="334155"/>
                </a:solidFill>
              </a:rPr>
              <a:t>• Configuration services keep values out of source code.</a:t>
            </a:r>
          </a:p>
        </p:txBody>
      </p:sp>
    </p:spTree>
    <p:extLst>
      <p:ext uri="{BB962C8B-B14F-4D97-AF65-F5344CB8AC3E}">
        <p14:creationId xmlns:p14="http://schemas.microsoft.com/office/powerpoint/2010/main" val="1559233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5268845-84A9-4134-86F4-81C690982D94}"/>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D3FD9D6D-ECCB-47B9-9DF0-DF8536CC2991}"/>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1 · Serverless compute</a:t>
            </a:r>
          </a:p>
        </p:txBody>
      </p:sp>
      <p:sp>
        <p:nvSpPr>
          <p:cNvPr id="3" name="Rectangle 2">
            <a:extLst>
              <a:ext uri="{FF2B5EF4-FFF2-40B4-BE49-F238E27FC236}">
                <a16:creationId xmlns:a16="http://schemas.microsoft.com/office/drawing/2014/main" id="{41128D8B-F92C-40EB-A368-A35FBCC5E7E6}"/>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04</a:t>
            </a:r>
          </a:p>
        </p:txBody>
      </p:sp>
      <p:sp>
        <p:nvSpPr>
          <p:cNvPr id="4" name="Rectangle 3">
            <a:extLst>
              <a:ext uri="{FF2B5EF4-FFF2-40B4-BE49-F238E27FC236}">
                <a16:creationId xmlns:a16="http://schemas.microsoft.com/office/drawing/2014/main" id="{92FF515E-3152-4A28-985A-619A85B4C47E}"/>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AWS Lambda: what it is</a:t>
            </a:r>
          </a:p>
        </p:txBody>
      </p:sp>
      <p:sp>
        <p:nvSpPr>
          <p:cNvPr id="5" name="Rectangle 4">
            <a:extLst>
              <a:ext uri="{FF2B5EF4-FFF2-40B4-BE49-F238E27FC236}">
                <a16:creationId xmlns:a16="http://schemas.microsoft.com/office/drawing/2014/main" id="{23973B5B-4DD6-43C1-9DD9-E2EDA88EC6BA}"/>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dirty="0">
                <a:solidFill>
                  <a:srgbClr val="64748B"/>
                </a:solidFill>
              </a:rPr>
              <a:t>Runs application code in response to events without provisioning or managing servers.</a:t>
            </a:r>
          </a:p>
        </p:txBody>
      </p:sp>
      <p:sp>
        <p:nvSpPr>
          <p:cNvPr id="6" name="Oval 5">
            <a:extLst>
              <a:ext uri="{FF2B5EF4-FFF2-40B4-BE49-F238E27FC236}">
                <a16:creationId xmlns:a16="http://schemas.microsoft.com/office/drawing/2014/main" id="{4484DC3A-071F-4F63-8A9B-09FA83E22A80}"/>
              </a:ext>
            </a:extLst>
          </p:cNvPr>
          <p:cNvSpPr>
            <a:spLocks noGrp="1"/>
          </p:cNvSpPr>
          <p:nvPr/>
        </p:nvSpPr>
        <p:spPr>
          <a:xfrm>
            <a:off x="9239251" y="876300"/>
            <a:ext cx="1066800" cy="1066800"/>
          </a:xfrm>
          <a:prstGeom prst="ellipse">
            <a:avLst/>
          </a:prstGeom>
          <a:solidFill>
            <a:srgbClr val="12233F"/>
          </a:solidFill>
          <a:ln w="28575">
            <a:solidFill>
              <a:srgbClr val="FF9900"/>
            </a:solidFill>
            <a:prstDash val="solid"/>
          </a:ln>
        </p:spPr>
        <p:txBody>
          <a:bodyPr/>
          <a:lstStyle/>
          <a:p>
            <a:endParaRPr lang="en-IN"/>
          </a:p>
        </p:txBody>
      </p:sp>
      <p:sp>
        <p:nvSpPr>
          <p:cNvPr id="7" name="Rectangle 6">
            <a:extLst>
              <a:ext uri="{FF2B5EF4-FFF2-40B4-BE49-F238E27FC236}">
                <a16:creationId xmlns:a16="http://schemas.microsoft.com/office/drawing/2014/main" id="{B162F108-6BE6-43FB-B567-D6A1FCF5B224}"/>
              </a:ext>
            </a:extLst>
          </p:cNvPr>
          <p:cNvSpPr>
            <a:spLocks noGrp="1"/>
          </p:cNvSpPr>
          <p:nvPr/>
        </p:nvSpPr>
        <p:spPr>
          <a:xfrm>
            <a:off x="9239251" y="1133475"/>
            <a:ext cx="1066800" cy="400051"/>
          </a:xfrm>
          <a:prstGeom prst="rect">
            <a:avLst/>
          </a:prstGeom>
          <a:noFill/>
          <a:ln w="0">
            <a:noFill/>
            <a:prstDash val="solid"/>
          </a:ln>
        </p:spPr>
        <p:txBody>
          <a:bodyPr/>
          <a:lstStyle/>
          <a:p>
            <a:pPr algn="ctr">
              <a:defRPr sz="1950" b="1">
                <a:solidFill>
                  <a:srgbClr val="FFFFFF"/>
                </a:solidFill>
              </a:defRPr>
            </a:pPr>
            <a:r>
              <a:rPr sz="1951" b="1">
                <a:solidFill>
                  <a:srgbClr val="FFFFFF"/>
                </a:solidFill>
              </a:rPr>
              <a:t>L</a:t>
            </a:r>
          </a:p>
        </p:txBody>
      </p:sp>
      <p:sp>
        <p:nvSpPr>
          <p:cNvPr id="8" name="Rectangle: Rounded Corners 7">
            <a:extLst>
              <a:ext uri="{FF2B5EF4-FFF2-40B4-BE49-F238E27FC236}">
                <a16:creationId xmlns:a16="http://schemas.microsoft.com/office/drawing/2014/main" id="{E2FC55CF-699D-43DF-9FEA-EFEE5251667A}"/>
              </a:ext>
            </a:extLst>
          </p:cNvPr>
          <p:cNvSpPr>
            <a:spLocks noGrp="1"/>
          </p:cNvSpPr>
          <p:nvPr/>
        </p:nvSpPr>
        <p:spPr>
          <a:xfrm>
            <a:off x="742951" y="2095501"/>
            <a:ext cx="4762500" cy="2476500"/>
          </a:xfrm>
          <a:prstGeom prst="roundRect">
            <a:avLst>
              <a:gd name="adj" fmla="val 2308"/>
            </a:avLst>
          </a:prstGeom>
          <a:solidFill>
            <a:srgbClr val="FFFFFF"/>
          </a:solidFill>
          <a:ln w="9525">
            <a:solidFill>
              <a:srgbClr val="D7E2EE"/>
            </a:solidFill>
            <a:prstDash val="solid"/>
          </a:ln>
        </p:spPr>
        <p:txBody>
          <a:bodyPr/>
          <a:lstStyle/>
          <a:p>
            <a:endParaRPr lang="en-IN"/>
          </a:p>
        </p:txBody>
      </p:sp>
      <p:sp>
        <p:nvSpPr>
          <p:cNvPr id="9" name="Rectangle 8">
            <a:extLst>
              <a:ext uri="{FF2B5EF4-FFF2-40B4-BE49-F238E27FC236}">
                <a16:creationId xmlns:a16="http://schemas.microsoft.com/office/drawing/2014/main" id="{2838E272-0D60-425A-BFD7-8649681789FB}"/>
              </a:ext>
            </a:extLst>
          </p:cNvPr>
          <p:cNvSpPr>
            <a:spLocks noGrp="1"/>
          </p:cNvSpPr>
          <p:nvPr/>
        </p:nvSpPr>
        <p:spPr>
          <a:xfrm>
            <a:off x="1009651" y="2362200"/>
            <a:ext cx="38100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Use it when you need to</a:t>
            </a:r>
          </a:p>
        </p:txBody>
      </p:sp>
      <p:sp>
        <p:nvSpPr>
          <p:cNvPr id="10" name="Rectangle 9">
            <a:extLst>
              <a:ext uri="{FF2B5EF4-FFF2-40B4-BE49-F238E27FC236}">
                <a16:creationId xmlns:a16="http://schemas.microsoft.com/office/drawing/2014/main" id="{63BB571B-73D5-42F1-8FF7-F35D894D77B0}"/>
              </a:ext>
            </a:extLst>
          </p:cNvPr>
          <p:cNvSpPr>
            <a:spLocks noGrp="1"/>
          </p:cNvSpPr>
          <p:nvPr/>
        </p:nvSpPr>
        <p:spPr>
          <a:xfrm>
            <a:off x="1066801" y="2895600"/>
            <a:ext cx="4000500" cy="1238251"/>
          </a:xfrm>
          <a:prstGeom prst="rect">
            <a:avLst/>
          </a:prstGeom>
          <a:noFill/>
          <a:ln w="0">
            <a:noFill/>
            <a:prstDash val="solid"/>
          </a:ln>
        </p:spPr>
        <p:txBody>
          <a:bodyPr/>
          <a:lstStyle/>
          <a:p>
            <a:pPr algn="l">
              <a:defRPr sz="1650" b="0">
                <a:solidFill>
                  <a:srgbClr val="334155"/>
                </a:solidFill>
              </a:defRPr>
            </a:pPr>
            <a:r>
              <a:rPr sz="1651">
                <a:solidFill>
                  <a:srgbClr val="334155"/>
                </a:solidFill>
              </a:rPr>
              <a:t>• Image processing</a:t>
            </a:r>
          </a:p>
          <a:p>
            <a:pPr algn="l">
              <a:defRPr sz="1650" b="0">
                <a:solidFill>
                  <a:srgbClr val="334155"/>
                </a:solidFill>
              </a:defRPr>
            </a:pPr>
            <a:r>
              <a:rPr sz="1651">
                <a:solidFill>
                  <a:srgbClr val="334155"/>
                </a:solidFill>
              </a:rPr>
              <a:t>• API backend</a:t>
            </a:r>
          </a:p>
          <a:p>
            <a:pPr algn="l">
              <a:defRPr sz="1650" b="0">
                <a:solidFill>
                  <a:srgbClr val="334155"/>
                </a:solidFill>
              </a:defRPr>
            </a:pPr>
            <a:r>
              <a:rPr sz="1651">
                <a:solidFill>
                  <a:srgbClr val="334155"/>
                </a:solidFill>
              </a:rPr>
              <a:t>• Scheduled jobs</a:t>
            </a:r>
          </a:p>
          <a:p>
            <a:pPr algn="l">
              <a:defRPr sz="1650" b="0">
                <a:solidFill>
                  <a:srgbClr val="334155"/>
                </a:solidFill>
              </a:defRPr>
            </a:pPr>
            <a:r>
              <a:rPr sz="1651">
                <a:solidFill>
                  <a:srgbClr val="334155"/>
                </a:solidFill>
              </a:rPr>
              <a:t>• File or stream processing</a:t>
            </a:r>
          </a:p>
        </p:txBody>
      </p:sp>
      <p:sp>
        <p:nvSpPr>
          <p:cNvPr id="11" name="Rectangle: Rounded Corners 10">
            <a:extLst>
              <a:ext uri="{FF2B5EF4-FFF2-40B4-BE49-F238E27FC236}">
                <a16:creationId xmlns:a16="http://schemas.microsoft.com/office/drawing/2014/main" id="{99356E8F-8F6F-4970-B7BC-55FBB104DD88}"/>
              </a:ext>
            </a:extLst>
          </p:cNvPr>
          <p:cNvSpPr>
            <a:spLocks noGrp="1"/>
          </p:cNvSpPr>
          <p:nvPr/>
        </p:nvSpPr>
        <p:spPr>
          <a:xfrm>
            <a:off x="6096001" y="2095501"/>
            <a:ext cx="4381500" cy="2476500"/>
          </a:xfrm>
          <a:prstGeom prst="roundRect">
            <a:avLst>
              <a:gd name="adj" fmla="val 2308"/>
            </a:avLst>
          </a:prstGeom>
          <a:solidFill>
            <a:srgbClr val="EAF3FC"/>
          </a:solidFill>
          <a:ln w="9525">
            <a:solidFill>
              <a:srgbClr val="B7D4EF"/>
            </a:solidFill>
            <a:prstDash val="solid"/>
          </a:ln>
        </p:spPr>
        <p:txBody>
          <a:bodyPr/>
          <a:lstStyle/>
          <a:p>
            <a:endParaRPr lang="en-IN"/>
          </a:p>
        </p:txBody>
      </p:sp>
      <p:sp>
        <p:nvSpPr>
          <p:cNvPr id="12" name="Rectangle 11">
            <a:extLst>
              <a:ext uri="{FF2B5EF4-FFF2-40B4-BE49-F238E27FC236}">
                <a16:creationId xmlns:a16="http://schemas.microsoft.com/office/drawing/2014/main" id="{857EC0CC-9822-4EFD-A9BA-E00999CDCEEC}"/>
              </a:ext>
            </a:extLst>
          </p:cNvPr>
          <p:cNvSpPr>
            <a:spLocks noGrp="1"/>
          </p:cNvSpPr>
          <p:nvPr/>
        </p:nvSpPr>
        <p:spPr>
          <a:xfrm>
            <a:off x="6381751" y="2362200"/>
            <a:ext cx="3619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Simple class explanation</a:t>
            </a:r>
          </a:p>
        </p:txBody>
      </p:sp>
      <p:sp>
        <p:nvSpPr>
          <p:cNvPr id="13" name="Rectangle 12">
            <a:extLst>
              <a:ext uri="{FF2B5EF4-FFF2-40B4-BE49-F238E27FC236}">
                <a16:creationId xmlns:a16="http://schemas.microsoft.com/office/drawing/2014/main" id="{A7FF1721-C3AE-4165-A4EE-3F0EDA3321F5}"/>
              </a:ext>
            </a:extLst>
          </p:cNvPr>
          <p:cNvSpPr>
            <a:spLocks noGrp="1"/>
          </p:cNvSpPr>
          <p:nvPr/>
        </p:nvSpPr>
        <p:spPr>
          <a:xfrm>
            <a:off x="6381751" y="2905125"/>
            <a:ext cx="3619500" cy="1143000"/>
          </a:xfrm>
          <a:prstGeom prst="rect">
            <a:avLst/>
          </a:prstGeom>
          <a:noFill/>
          <a:ln w="0">
            <a:noFill/>
            <a:prstDash val="solid"/>
          </a:ln>
        </p:spPr>
        <p:txBody>
          <a:bodyPr/>
          <a:lstStyle/>
          <a:p>
            <a:pPr algn="l">
              <a:defRPr sz="1800" b="0">
                <a:solidFill>
                  <a:srgbClr val="334155"/>
                </a:solidFill>
              </a:defRPr>
            </a:pPr>
            <a:r>
              <a:rPr>
                <a:solidFill>
                  <a:srgbClr val="334155"/>
                </a:solidFill>
              </a:rPr>
              <a:t>Like a worker who starts only when a task arrives and stops when the task is done.</a:t>
            </a:r>
          </a:p>
        </p:txBody>
      </p:sp>
    </p:spTree>
    <p:extLst>
      <p:ext uri="{BB962C8B-B14F-4D97-AF65-F5344CB8AC3E}">
        <p14:creationId xmlns:p14="http://schemas.microsoft.com/office/powerpoint/2010/main" val="106835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C82CF8D-C8D4-460C-A860-80660CD3E6D7}"/>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EF117AF5-59C2-497A-8D02-BA677BAC2917}"/>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1 · Architecture</a:t>
            </a:r>
          </a:p>
        </p:txBody>
      </p:sp>
      <p:sp>
        <p:nvSpPr>
          <p:cNvPr id="3" name="Rectangle 2">
            <a:extLst>
              <a:ext uri="{FF2B5EF4-FFF2-40B4-BE49-F238E27FC236}">
                <a16:creationId xmlns:a16="http://schemas.microsoft.com/office/drawing/2014/main" id="{83C2DFF2-0932-4240-A618-B302C657DF41}"/>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05</a:t>
            </a:r>
          </a:p>
        </p:txBody>
      </p:sp>
      <p:sp>
        <p:nvSpPr>
          <p:cNvPr id="4" name="Rectangle 3">
            <a:extLst>
              <a:ext uri="{FF2B5EF4-FFF2-40B4-BE49-F238E27FC236}">
                <a16:creationId xmlns:a16="http://schemas.microsoft.com/office/drawing/2014/main" id="{C7DCF74D-4017-4C04-B560-4435471A7C4D}"/>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AWS Lambda architecture</a:t>
            </a:r>
          </a:p>
        </p:txBody>
      </p:sp>
      <p:sp>
        <p:nvSpPr>
          <p:cNvPr id="5" name="Rectangle 4">
            <a:extLst>
              <a:ext uri="{FF2B5EF4-FFF2-40B4-BE49-F238E27FC236}">
                <a16:creationId xmlns:a16="http://schemas.microsoft.com/office/drawing/2014/main" id="{5B2E7A79-993F-4441-A6D7-9BA578EFB11C}"/>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Follow the request or data path from left to right.</a:t>
            </a:r>
          </a:p>
        </p:txBody>
      </p:sp>
      <p:sp>
        <p:nvSpPr>
          <p:cNvPr id="6" name="Rectangle: Rounded Corners 5">
            <a:extLst>
              <a:ext uri="{FF2B5EF4-FFF2-40B4-BE49-F238E27FC236}">
                <a16:creationId xmlns:a16="http://schemas.microsoft.com/office/drawing/2014/main" id="{F8B4C6B1-CF25-463F-821A-E903E47BF80D}"/>
              </a:ext>
            </a:extLst>
          </p:cNvPr>
          <p:cNvSpPr>
            <a:spLocks noGrp="1"/>
          </p:cNvSpPr>
          <p:nvPr/>
        </p:nvSpPr>
        <p:spPr>
          <a:xfrm>
            <a:off x="857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2F6FE190-96F8-41D5-9FC1-C2C3939CEAC2}"/>
              </a:ext>
            </a:extLst>
          </p:cNvPr>
          <p:cNvSpPr>
            <a:spLocks noGrp="1"/>
          </p:cNvSpPr>
          <p:nvPr/>
        </p:nvSpPr>
        <p:spPr>
          <a:xfrm>
            <a:off x="952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Event source</a:t>
            </a:r>
          </a:p>
        </p:txBody>
      </p:sp>
      <p:sp>
        <p:nvSpPr>
          <p:cNvPr id="8" name="Arrow: Right 7">
            <a:extLst>
              <a:ext uri="{FF2B5EF4-FFF2-40B4-BE49-F238E27FC236}">
                <a16:creationId xmlns:a16="http://schemas.microsoft.com/office/drawing/2014/main" id="{BF512552-F950-44C8-92AF-B536B27543F8}"/>
              </a:ext>
            </a:extLst>
          </p:cNvPr>
          <p:cNvSpPr>
            <a:spLocks noGrp="1"/>
          </p:cNvSpPr>
          <p:nvPr/>
        </p:nvSpPr>
        <p:spPr>
          <a:xfrm>
            <a:off x="2724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A38C1E91-E57F-42EB-A200-35EC288C5E01}"/>
              </a:ext>
            </a:extLst>
          </p:cNvPr>
          <p:cNvSpPr>
            <a:spLocks noGrp="1"/>
          </p:cNvSpPr>
          <p:nvPr/>
        </p:nvSpPr>
        <p:spPr>
          <a:xfrm>
            <a:off x="2952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A2449795-2A40-4905-83A4-3C58DB3FD618}"/>
              </a:ext>
            </a:extLst>
          </p:cNvPr>
          <p:cNvSpPr>
            <a:spLocks noGrp="1"/>
          </p:cNvSpPr>
          <p:nvPr/>
        </p:nvSpPr>
        <p:spPr>
          <a:xfrm>
            <a:off x="3048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Lambda function</a:t>
            </a:r>
          </a:p>
        </p:txBody>
      </p:sp>
      <p:sp>
        <p:nvSpPr>
          <p:cNvPr id="11" name="Arrow: Right 10">
            <a:extLst>
              <a:ext uri="{FF2B5EF4-FFF2-40B4-BE49-F238E27FC236}">
                <a16:creationId xmlns:a16="http://schemas.microsoft.com/office/drawing/2014/main" id="{AD28C370-4D1F-450A-9B19-36378FB85AD1}"/>
              </a:ext>
            </a:extLst>
          </p:cNvPr>
          <p:cNvSpPr>
            <a:spLocks noGrp="1"/>
          </p:cNvSpPr>
          <p:nvPr/>
        </p:nvSpPr>
        <p:spPr>
          <a:xfrm>
            <a:off x="4819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F30E0D8E-E67A-4676-A516-E7BB23149CEF}"/>
              </a:ext>
            </a:extLst>
          </p:cNvPr>
          <p:cNvSpPr>
            <a:spLocks noGrp="1"/>
          </p:cNvSpPr>
          <p:nvPr/>
        </p:nvSpPr>
        <p:spPr>
          <a:xfrm>
            <a:off x="5048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584E0219-7CCA-49B8-8420-0B28F0EFE9C6}"/>
              </a:ext>
            </a:extLst>
          </p:cNvPr>
          <p:cNvSpPr>
            <a:spLocks noGrp="1"/>
          </p:cNvSpPr>
          <p:nvPr/>
        </p:nvSpPr>
        <p:spPr>
          <a:xfrm>
            <a:off x="5143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IAM role</a:t>
            </a:r>
          </a:p>
        </p:txBody>
      </p:sp>
      <p:sp>
        <p:nvSpPr>
          <p:cNvPr id="14" name="Arrow: Right 13">
            <a:extLst>
              <a:ext uri="{FF2B5EF4-FFF2-40B4-BE49-F238E27FC236}">
                <a16:creationId xmlns:a16="http://schemas.microsoft.com/office/drawing/2014/main" id="{405FC013-AAAB-42F3-87BC-AA783FC057EB}"/>
              </a:ext>
            </a:extLst>
          </p:cNvPr>
          <p:cNvSpPr>
            <a:spLocks noGrp="1"/>
          </p:cNvSpPr>
          <p:nvPr/>
        </p:nvSpPr>
        <p:spPr>
          <a:xfrm>
            <a:off x="6915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464B0D35-5E15-4256-A5E6-7DC5519F5EAC}"/>
              </a:ext>
            </a:extLst>
          </p:cNvPr>
          <p:cNvSpPr>
            <a:spLocks noGrp="1"/>
          </p:cNvSpPr>
          <p:nvPr/>
        </p:nvSpPr>
        <p:spPr>
          <a:xfrm>
            <a:off x="7143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C0287B36-EFE3-482D-BFA3-62247A477D14}"/>
              </a:ext>
            </a:extLst>
          </p:cNvPr>
          <p:cNvSpPr>
            <a:spLocks noGrp="1"/>
          </p:cNvSpPr>
          <p:nvPr/>
        </p:nvSpPr>
        <p:spPr>
          <a:xfrm>
            <a:off x="7239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CloudWatch Logs</a:t>
            </a:r>
          </a:p>
        </p:txBody>
      </p:sp>
      <p:sp>
        <p:nvSpPr>
          <p:cNvPr id="17" name="Arrow: Right 16">
            <a:extLst>
              <a:ext uri="{FF2B5EF4-FFF2-40B4-BE49-F238E27FC236}">
                <a16:creationId xmlns:a16="http://schemas.microsoft.com/office/drawing/2014/main" id="{97AE6987-EE3B-4CBB-B936-9BE85731491D}"/>
              </a:ext>
            </a:extLst>
          </p:cNvPr>
          <p:cNvSpPr>
            <a:spLocks noGrp="1"/>
          </p:cNvSpPr>
          <p:nvPr/>
        </p:nvSpPr>
        <p:spPr>
          <a:xfrm>
            <a:off x="9010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A9D988F9-C15D-4999-9CDA-51B917B3431C}"/>
              </a:ext>
            </a:extLst>
          </p:cNvPr>
          <p:cNvSpPr>
            <a:spLocks noGrp="1"/>
          </p:cNvSpPr>
          <p:nvPr/>
        </p:nvSpPr>
        <p:spPr>
          <a:xfrm>
            <a:off x="9239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25191E34-1377-43F1-B68D-95D342FAEBED}"/>
              </a:ext>
            </a:extLst>
          </p:cNvPr>
          <p:cNvSpPr>
            <a:spLocks noGrp="1"/>
          </p:cNvSpPr>
          <p:nvPr/>
        </p:nvSpPr>
        <p:spPr>
          <a:xfrm>
            <a:off x="9334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Downstream service</a:t>
            </a:r>
          </a:p>
        </p:txBody>
      </p:sp>
      <p:sp>
        <p:nvSpPr>
          <p:cNvPr id="20" name="Rectangle 19">
            <a:extLst>
              <a:ext uri="{FF2B5EF4-FFF2-40B4-BE49-F238E27FC236}">
                <a16:creationId xmlns:a16="http://schemas.microsoft.com/office/drawing/2014/main" id="{51AAE36D-F14C-4916-8AE3-B1D72411DD02}"/>
              </a:ext>
            </a:extLst>
          </p:cNvPr>
          <p:cNvSpPr>
            <a:spLocks noGrp="1"/>
          </p:cNvSpPr>
          <p:nvPr/>
        </p:nvSpPr>
        <p:spPr>
          <a:xfrm>
            <a:off x="952500" y="4191000"/>
            <a:ext cx="3429000" cy="323851"/>
          </a:xfrm>
          <a:prstGeom prst="rect">
            <a:avLst/>
          </a:prstGeom>
          <a:noFill/>
          <a:ln w="0">
            <a:noFill/>
            <a:prstDash val="solid"/>
          </a:ln>
        </p:spPr>
        <p:txBody>
          <a:bodyPr/>
          <a:lstStyle/>
          <a:p>
            <a:pPr algn="l">
              <a:defRPr sz="1950" b="1">
                <a:solidFill>
                  <a:srgbClr val="12233F"/>
                </a:solidFill>
              </a:defRPr>
            </a:pPr>
            <a:r>
              <a:rPr sz="1951" b="1">
                <a:solidFill>
                  <a:srgbClr val="12233F"/>
                </a:solidFill>
              </a:rPr>
              <a:t>Architecture explanation</a:t>
            </a:r>
          </a:p>
        </p:txBody>
      </p:sp>
      <p:sp>
        <p:nvSpPr>
          <p:cNvPr id="21" name="Rectangle 20">
            <a:extLst>
              <a:ext uri="{FF2B5EF4-FFF2-40B4-BE49-F238E27FC236}">
                <a16:creationId xmlns:a16="http://schemas.microsoft.com/office/drawing/2014/main" id="{E7C89A3B-E286-42AE-B0FE-BB12CD7C6136}"/>
              </a:ext>
            </a:extLst>
          </p:cNvPr>
          <p:cNvSpPr>
            <a:spLocks noGrp="1"/>
          </p:cNvSpPr>
          <p:nvPr/>
        </p:nvSpPr>
        <p:spPr>
          <a:xfrm>
            <a:off x="952500" y="4667251"/>
            <a:ext cx="9144000" cy="1066800"/>
          </a:xfrm>
          <a:prstGeom prst="rect">
            <a:avLst/>
          </a:prstGeom>
          <a:noFill/>
          <a:ln w="0">
            <a:noFill/>
            <a:prstDash val="solid"/>
          </a:ln>
        </p:spPr>
        <p:txBody>
          <a:bodyPr/>
          <a:lstStyle/>
          <a:p>
            <a:pPr algn="l">
              <a:defRPr sz="1650" b="0">
                <a:solidFill>
                  <a:srgbClr val="334155"/>
                </a:solidFill>
              </a:defRPr>
            </a:pPr>
            <a:r>
              <a:rPr sz="1651">
                <a:solidFill>
                  <a:srgbClr val="334155"/>
                </a:solidFill>
              </a:rPr>
              <a:t>• AWS Lambda owns the middle responsibility in this flow.</a:t>
            </a:r>
          </a:p>
          <a:p>
            <a:pPr algn="l">
              <a:defRPr sz="1650" b="0">
                <a:solidFill>
                  <a:srgbClr val="334155"/>
                </a:solidFill>
              </a:defRPr>
            </a:pPr>
            <a:r>
              <a:rPr sz="1651">
                <a:solidFill>
                  <a:srgbClr val="334155"/>
                </a:solidFill>
              </a:rPr>
              <a:t>• IAM controls who can call or use the service.</a:t>
            </a:r>
          </a:p>
          <a:p>
            <a:pPr algn="l">
              <a:defRPr sz="1650" b="0">
                <a:solidFill>
                  <a:srgbClr val="334155"/>
                </a:solidFill>
              </a:defRPr>
            </a:pPr>
            <a:r>
              <a:rPr sz="1651">
                <a:solidFill>
                  <a:srgbClr val="334155"/>
                </a:solidFill>
              </a:rPr>
              <a:t>• CloudWatch and CloudTrail help with monitoring and audit trails.</a:t>
            </a:r>
          </a:p>
        </p:txBody>
      </p:sp>
    </p:spTree>
    <p:extLst>
      <p:ext uri="{BB962C8B-B14F-4D97-AF65-F5344CB8AC3E}">
        <p14:creationId xmlns:p14="http://schemas.microsoft.com/office/powerpoint/2010/main" val="278720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13F9B63D-8E93-4A9A-BCF5-8C89C9C79EB5}"/>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033C18D1-C471-462E-A6A2-3FA9F09DC49B}"/>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1 · Process</a:t>
            </a:r>
          </a:p>
        </p:txBody>
      </p:sp>
      <p:sp>
        <p:nvSpPr>
          <p:cNvPr id="3" name="Rectangle 2">
            <a:extLst>
              <a:ext uri="{FF2B5EF4-FFF2-40B4-BE49-F238E27FC236}">
                <a16:creationId xmlns:a16="http://schemas.microsoft.com/office/drawing/2014/main" id="{14CA2CAB-DB5C-4D85-875B-CA44B0E9F281}"/>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06</a:t>
            </a:r>
          </a:p>
        </p:txBody>
      </p:sp>
      <p:sp>
        <p:nvSpPr>
          <p:cNvPr id="4" name="Rectangle 3">
            <a:extLst>
              <a:ext uri="{FF2B5EF4-FFF2-40B4-BE49-F238E27FC236}">
                <a16:creationId xmlns:a16="http://schemas.microsoft.com/office/drawing/2014/main" id="{AEC1843E-F5B8-4E20-A4C7-A598AB5165E8}"/>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How AWS Lambda works in practice</a:t>
            </a:r>
          </a:p>
        </p:txBody>
      </p:sp>
      <p:sp>
        <p:nvSpPr>
          <p:cNvPr id="5" name="Rectangle 4">
            <a:extLst>
              <a:ext uri="{FF2B5EF4-FFF2-40B4-BE49-F238E27FC236}">
                <a16:creationId xmlns:a16="http://schemas.microsoft.com/office/drawing/2014/main" id="{B1A6AB9C-0603-4FA4-91DE-E7A55892FA59}"/>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Use this as the step-by-step explanation during the meeting.</a:t>
            </a:r>
          </a:p>
        </p:txBody>
      </p:sp>
      <p:sp>
        <p:nvSpPr>
          <p:cNvPr id="6" name="Rectangle: Rounded Corners 5">
            <a:extLst>
              <a:ext uri="{FF2B5EF4-FFF2-40B4-BE49-F238E27FC236}">
                <a16:creationId xmlns:a16="http://schemas.microsoft.com/office/drawing/2014/main" id="{7E5EA38C-F850-4F5A-B1CB-DEC35AABD5D0}"/>
              </a:ext>
            </a:extLst>
          </p:cNvPr>
          <p:cNvSpPr>
            <a:spLocks noGrp="1"/>
          </p:cNvSpPr>
          <p:nvPr/>
        </p:nvSpPr>
        <p:spPr>
          <a:xfrm>
            <a:off x="876301" y="19526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669100D5-DE90-4DA6-8543-83AB838C79D4}"/>
              </a:ext>
            </a:extLst>
          </p:cNvPr>
          <p:cNvSpPr>
            <a:spLocks noGrp="1"/>
          </p:cNvSpPr>
          <p:nvPr/>
        </p:nvSpPr>
        <p:spPr>
          <a:xfrm>
            <a:off x="971549" y="20669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Create function</a:t>
            </a:r>
          </a:p>
        </p:txBody>
      </p:sp>
      <p:sp>
        <p:nvSpPr>
          <p:cNvPr id="8" name="Arrow: Down 7">
            <a:extLst>
              <a:ext uri="{FF2B5EF4-FFF2-40B4-BE49-F238E27FC236}">
                <a16:creationId xmlns:a16="http://schemas.microsoft.com/office/drawing/2014/main" id="{0D0B2634-175E-42EE-9212-17752115AE69}"/>
              </a:ext>
            </a:extLst>
          </p:cNvPr>
          <p:cNvSpPr>
            <a:spLocks noGrp="1"/>
          </p:cNvSpPr>
          <p:nvPr/>
        </p:nvSpPr>
        <p:spPr>
          <a:xfrm>
            <a:off x="3019426" y="2457449"/>
            <a:ext cx="190500" cy="95251"/>
          </a:xfrm>
          <a:prstGeom prst="down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9BA98DDF-489A-4A52-96A8-F7CF7667F1FB}"/>
              </a:ext>
            </a:extLst>
          </p:cNvPr>
          <p:cNvSpPr>
            <a:spLocks noGrp="1"/>
          </p:cNvSpPr>
          <p:nvPr/>
        </p:nvSpPr>
        <p:spPr>
          <a:xfrm>
            <a:off x="876301" y="26003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65FE356E-C777-461D-807C-9E568FABFD2B}"/>
              </a:ext>
            </a:extLst>
          </p:cNvPr>
          <p:cNvSpPr>
            <a:spLocks noGrp="1"/>
          </p:cNvSpPr>
          <p:nvPr/>
        </p:nvSpPr>
        <p:spPr>
          <a:xfrm>
            <a:off x="971549" y="27146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Choose runtime</a:t>
            </a:r>
          </a:p>
        </p:txBody>
      </p:sp>
      <p:sp>
        <p:nvSpPr>
          <p:cNvPr id="11" name="Arrow: Down 10">
            <a:extLst>
              <a:ext uri="{FF2B5EF4-FFF2-40B4-BE49-F238E27FC236}">
                <a16:creationId xmlns:a16="http://schemas.microsoft.com/office/drawing/2014/main" id="{A62BD36D-6796-4F54-B071-C97D505F2BC7}"/>
              </a:ext>
            </a:extLst>
          </p:cNvPr>
          <p:cNvSpPr>
            <a:spLocks noGrp="1"/>
          </p:cNvSpPr>
          <p:nvPr/>
        </p:nvSpPr>
        <p:spPr>
          <a:xfrm>
            <a:off x="3019426" y="3105149"/>
            <a:ext cx="190500" cy="95251"/>
          </a:xfrm>
          <a:prstGeom prst="down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892935DB-8158-4ACA-AE88-42B226D2B6C1}"/>
              </a:ext>
            </a:extLst>
          </p:cNvPr>
          <p:cNvSpPr>
            <a:spLocks noGrp="1"/>
          </p:cNvSpPr>
          <p:nvPr/>
        </p:nvSpPr>
        <p:spPr>
          <a:xfrm>
            <a:off x="876301" y="32480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027B1138-268F-4972-A2C5-1FC6AA48CDA4}"/>
              </a:ext>
            </a:extLst>
          </p:cNvPr>
          <p:cNvSpPr>
            <a:spLocks noGrp="1"/>
          </p:cNvSpPr>
          <p:nvPr/>
        </p:nvSpPr>
        <p:spPr>
          <a:xfrm>
            <a:off x="971549" y="33623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Attach IAM role</a:t>
            </a:r>
          </a:p>
        </p:txBody>
      </p:sp>
      <p:sp>
        <p:nvSpPr>
          <p:cNvPr id="14" name="Arrow: Down 13">
            <a:extLst>
              <a:ext uri="{FF2B5EF4-FFF2-40B4-BE49-F238E27FC236}">
                <a16:creationId xmlns:a16="http://schemas.microsoft.com/office/drawing/2014/main" id="{217A6BB2-2A19-4EB3-9FD5-AE7D5F17C6B6}"/>
              </a:ext>
            </a:extLst>
          </p:cNvPr>
          <p:cNvSpPr>
            <a:spLocks noGrp="1"/>
          </p:cNvSpPr>
          <p:nvPr/>
        </p:nvSpPr>
        <p:spPr>
          <a:xfrm>
            <a:off x="3019426" y="3752849"/>
            <a:ext cx="190500" cy="95251"/>
          </a:xfrm>
          <a:prstGeom prst="down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14D534A0-1AFB-421A-818D-27412CFA9451}"/>
              </a:ext>
            </a:extLst>
          </p:cNvPr>
          <p:cNvSpPr>
            <a:spLocks noGrp="1"/>
          </p:cNvSpPr>
          <p:nvPr/>
        </p:nvSpPr>
        <p:spPr>
          <a:xfrm>
            <a:off x="876301" y="38957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C1D9221E-28F8-497D-A25F-A6713DB939D0}"/>
              </a:ext>
            </a:extLst>
          </p:cNvPr>
          <p:cNvSpPr>
            <a:spLocks noGrp="1"/>
          </p:cNvSpPr>
          <p:nvPr/>
        </p:nvSpPr>
        <p:spPr>
          <a:xfrm>
            <a:off x="971549" y="40100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Deploy code</a:t>
            </a:r>
          </a:p>
        </p:txBody>
      </p:sp>
      <p:sp>
        <p:nvSpPr>
          <p:cNvPr id="17" name="Arrow: Down 16">
            <a:extLst>
              <a:ext uri="{FF2B5EF4-FFF2-40B4-BE49-F238E27FC236}">
                <a16:creationId xmlns:a16="http://schemas.microsoft.com/office/drawing/2014/main" id="{0B38D0A9-DCA8-4F22-8C7F-EB8F459924A3}"/>
              </a:ext>
            </a:extLst>
          </p:cNvPr>
          <p:cNvSpPr>
            <a:spLocks noGrp="1"/>
          </p:cNvSpPr>
          <p:nvPr/>
        </p:nvSpPr>
        <p:spPr>
          <a:xfrm>
            <a:off x="3019426" y="4400549"/>
            <a:ext cx="190500" cy="95251"/>
          </a:xfrm>
          <a:prstGeom prst="down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69A0E903-DFCB-4CB5-9295-EB4558505EAC}"/>
              </a:ext>
            </a:extLst>
          </p:cNvPr>
          <p:cNvSpPr>
            <a:spLocks noGrp="1"/>
          </p:cNvSpPr>
          <p:nvPr/>
        </p:nvSpPr>
        <p:spPr>
          <a:xfrm>
            <a:off x="876301" y="45434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A45BEC21-0851-49DF-8769-D4CF05FE9E5C}"/>
              </a:ext>
            </a:extLst>
          </p:cNvPr>
          <p:cNvSpPr>
            <a:spLocks noGrp="1"/>
          </p:cNvSpPr>
          <p:nvPr/>
        </p:nvSpPr>
        <p:spPr>
          <a:xfrm>
            <a:off x="971549" y="46577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Trigger with event</a:t>
            </a:r>
          </a:p>
        </p:txBody>
      </p:sp>
      <p:sp>
        <p:nvSpPr>
          <p:cNvPr id="20" name="Arrow: Down 19">
            <a:extLst>
              <a:ext uri="{FF2B5EF4-FFF2-40B4-BE49-F238E27FC236}">
                <a16:creationId xmlns:a16="http://schemas.microsoft.com/office/drawing/2014/main" id="{515F7924-4C80-4004-BFAE-A00F44C4807A}"/>
              </a:ext>
            </a:extLst>
          </p:cNvPr>
          <p:cNvSpPr>
            <a:spLocks noGrp="1"/>
          </p:cNvSpPr>
          <p:nvPr/>
        </p:nvSpPr>
        <p:spPr>
          <a:xfrm>
            <a:off x="3019426" y="5048249"/>
            <a:ext cx="190500" cy="95251"/>
          </a:xfrm>
          <a:prstGeom prst="downArrow">
            <a:avLst/>
          </a:prstGeom>
          <a:solidFill>
            <a:srgbClr val="FF9900"/>
          </a:solidFill>
          <a:ln w="0">
            <a:solidFill>
              <a:srgbClr val="FF9900"/>
            </a:solidFill>
            <a:prstDash val="solid"/>
          </a:ln>
        </p:spPr>
        <p:txBody>
          <a:bodyPr/>
          <a:lstStyle/>
          <a:p>
            <a:endParaRPr lang="en-IN"/>
          </a:p>
        </p:txBody>
      </p:sp>
      <p:sp>
        <p:nvSpPr>
          <p:cNvPr id="21" name="Rectangle: Rounded Corners 20">
            <a:extLst>
              <a:ext uri="{FF2B5EF4-FFF2-40B4-BE49-F238E27FC236}">
                <a16:creationId xmlns:a16="http://schemas.microsoft.com/office/drawing/2014/main" id="{7E09F092-4E68-4C46-9DB0-6F3C669178DA}"/>
              </a:ext>
            </a:extLst>
          </p:cNvPr>
          <p:cNvSpPr>
            <a:spLocks noGrp="1"/>
          </p:cNvSpPr>
          <p:nvPr/>
        </p:nvSpPr>
        <p:spPr>
          <a:xfrm>
            <a:off x="876301" y="51911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22" name="Rectangle 21">
            <a:extLst>
              <a:ext uri="{FF2B5EF4-FFF2-40B4-BE49-F238E27FC236}">
                <a16:creationId xmlns:a16="http://schemas.microsoft.com/office/drawing/2014/main" id="{E3D4BCAC-A447-42F9-86C4-C7B6D4AAE13D}"/>
              </a:ext>
            </a:extLst>
          </p:cNvPr>
          <p:cNvSpPr>
            <a:spLocks noGrp="1"/>
          </p:cNvSpPr>
          <p:nvPr/>
        </p:nvSpPr>
        <p:spPr>
          <a:xfrm>
            <a:off x="971549" y="53054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Review logs</a:t>
            </a:r>
          </a:p>
        </p:txBody>
      </p:sp>
      <p:sp>
        <p:nvSpPr>
          <p:cNvPr id="23" name="Rectangle: Rounded Corners 22">
            <a:extLst>
              <a:ext uri="{FF2B5EF4-FFF2-40B4-BE49-F238E27FC236}">
                <a16:creationId xmlns:a16="http://schemas.microsoft.com/office/drawing/2014/main" id="{B20956C8-9DA3-4153-8EF5-5C7F54522CD2}"/>
              </a:ext>
            </a:extLst>
          </p:cNvPr>
          <p:cNvSpPr>
            <a:spLocks noGrp="1"/>
          </p:cNvSpPr>
          <p:nvPr/>
        </p:nvSpPr>
        <p:spPr>
          <a:xfrm>
            <a:off x="6191250" y="2000251"/>
            <a:ext cx="4095751" cy="2286000"/>
          </a:xfrm>
          <a:prstGeom prst="roundRect">
            <a:avLst>
              <a:gd name="adj" fmla="val 2500"/>
            </a:avLst>
          </a:prstGeom>
          <a:solidFill>
            <a:srgbClr val="FFFFFF"/>
          </a:solidFill>
          <a:ln w="9525">
            <a:solidFill>
              <a:srgbClr val="D7E2EE"/>
            </a:solidFill>
            <a:prstDash val="solid"/>
          </a:ln>
        </p:spPr>
        <p:txBody>
          <a:bodyPr/>
          <a:lstStyle/>
          <a:p>
            <a:endParaRPr lang="en-IN"/>
          </a:p>
        </p:txBody>
      </p:sp>
      <p:sp>
        <p:nvSpPr>
          <p:cNvPr id="24" name="Rectangle 23">
            <a:extLst>
              <a:ext uri="{FF2B5EF4-FFF2-40B4-BE49-F238E27FC236}">
                <a16:creationId xmlns:a16="http://schemas.microsoft.com/office/drawing/2014/main" id="{F4F0D2F6-01B7-43D6-9829-70D5B736E981}"/>
              </a:ext>
            </a:extLst>
          </p:cNvPr>
          <p:cNvSpPr>
            <a:spLocks noGrp="1"/>
          </p:cNvSpPr>
          <p:nvPr/>
        </p:nvSpPr>
        <p:spPr>
          <a:xfrm>
            <a:off x="6477001" y="2266951"/>
            <a:ext cx="2857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Best practices</a:t>
            </a:r>
          </a:p>
        </p:txBody>
      </p:sp>
      <p:sp>
        <p:nvSpPr>
          <p:cNvPr id="25" name="Rectangle 24">
            <a:extLst>
              <a:ext uri="{FF2B5EF4-FFF2-40B4-BE49-F238E27FC236}">
                <a16:creationId xmlns:a16="http://schemas.microsoft.com/office/drawing/2014/main" id="{A6C1F798-F3AB-49BF-9B73-22FC5A5BA7A6}"/>
              </a:ext>
            </a:extLst>
          </p:cNvPr>
          <p:cNvSpPr>
            <a:spLocks noGrp="1"/>
          </p:cNvSpPr>
          <p:nvPr/>
        </p:nvSpPr>
        <p:spPr>
          <a:xfrm>
            <a:off x="6477001" y="2819401"/>
            <a:ext cx="3333751" cy="1104900"/>
          </a:xfrm>
          <a:prstGeom prst="rect">
            <a:avLst/>
          </a:prstGeom>
          <a:noFill/>
          <a:ln w="0">
            <a:noFill/>
            <a:prstDash val="solid"/>
          </a:ln>
        </p:spPr>
        <p:txBody>
          <a:bodyPr/>
          <a:lstStyle/>
          <a:p>
            <a:pPr algn="l">
              <a:defRPr sz="1500" b="0">
                <a:solidFill>
                  <a:srgbClr val="334155"/>
                </a:solidFill>
              </a:defRPr>
            </a:pPr>
            <a:r>
              <a:rPr sz="1500">
                <a:solidFill>
                  <a:srgbClr val="334155"/>
                </a:solidFill>
              </a:rPr>
              <a:t>• Keep functions small and focused</a:t>
            </a:r>
          </a:p>
          <a:p>
            <a:pPr algn="l">
              <a:defRPr sz="1500" b="0">
                <a:solidFill>
                  <a:srgbClr val="334155"/>
                </a:solidFill>
              </a:defRPr>
            </a:pPr>
            <a:r>
              <a:rPr sz="1500">
                <a:solidFill>
                  <a:srgbClr val="334155"/>
                </a:solidFill>
              </a:rPr>
              <a:t>• Use least-privilege IAM</a:t>
            </a:r>
          </a:p>
          <a:p>
            <a:pPr algn="l">
              <a:defRPr sz="1500" b="0">
                <a:solidFill>
                  <a:srgbClr val="334155"/>
                </a:solidFill>
              </a:defRPr>
            </a:pPr>
            <a:r>
              <a:rPr sz="1500">
                <a:solidFill>
                  <a:srgbClr val="334155"/>
                </a:solidFill>
              </a:rPr>
              <a:t>• Store secrets outside code</a:t>
            </a:r>
          </a:p>
          <a:p>
            <a:pPr algn="l">
              <a:defRPr sz="1500" b="0">
                <a:solidFill>
                  <a:srgbClr val="334155"/>
                </a:solidFill>
              </a:defRPr>
            </a:pPr>
            <a:r>
              <a:rPr sz="1500">
                <a:solidFill>
                  <a:srgbClr val="334155"/>
                </a:solidFill>
              </a:rPr>
              <a:t>• Monitor logs and metrics</a:t>
            </a:r>
          </a:p>
        </p:txBody>
      </p:sp>
      <p:sp>
        <p:nvSpPr>
          <p:cNvPr id="26" name="Rectangle: Rounded Corners 25">
            <a:extLst>
              <a:ext uri="{FF2B5EF4-FFF2-40B4-BE49-F238E27FC236}">
                <a16:creationId xmlns:a16="http://schemas.microsoft.com/office/drawing/2014/main" id="{26BCC4E4-33BD-4828-9892-702488725648}"/>
              </a:ext>
            </a:extLst>
          </p:cNvPr>
          <p:cNvSpPr>
            <a:spLocks noGrp="1"/>
          </p:cNvSpPr>
          <p:nvPr/>
        </p:nvSpPr>
        <p:spPr>
          <a:xfrm>
            <a:off x="6191250" y="4619625"/>
            <a:ext cx="4095751" cy="914400"/>
          </a:xfrm>
          <a:prstGeom prst="roundRect">
            <a:avLst>
              <a:gd name="adj" fmla="val 6250"/>
            </a:avLst>
          </a:prstGeom>
          <a:solidFill>
            <a:srgbClr val="EAF3FC"/>
          </a:solidFill>
          <a:ln w="9525">
            <a:solidFill>
              <a:srgbClr val="B7D4EF"/>
            </a:solidFill>
            <a:prstDash val="solid"/>
          </a:ln>
        </p:spPr>
        <p:txBody>
          <a:bodyPr/>
          <a:lstStyle/>
          <a:p>
            <a:endParaRPr lang="en-IN"/>
          </a:p>
        </p:txBody>
      </p:sp>
      <p:sp>
        <p:nvSpPr>
          <p:cNvPr id="27" name="Rectangle 26">
            <a:extLst>
              <a:ext uri="{FF2B5EF4-FFF2-40B4-BE49-F238E27FC236}">
                <a16:creationId xmlns:a16="http://schemas.microsoft.com/office/drawing/2014/main" id="{73EA5D11-49FE-4F5E-90C5-E9DEA7220245}"/>
              </a:ext>
            </a:extLst>
          </p:cNvPr>
          <p:cNvSpPr>
            <a:spLocks noGrp="1"/>
          </p:cNvSpPr>
          <p:nvPr/>
        </p:nvSpPr>
        <p:spPr>
          <a:xfrm>
            <a:off x="6477000" y="4876801"/>
            <a:ext cx="3429000" cy="361951"/>
          </a:xfrm>
          <a:prstGeom prst="rect">
            <a:avLst/>
          </a:prstGeom>
          <a:noFill/>
          <a:ln w="0">
            <a:noFill/>
            <a:prstDash val="solid"/>
          </a:ln>
        </p:spPr>
        <p:txBody>
          <a:bodyPr/>
          <a:lstStyle/>
          <a:p>
            <a:pPr algn="l">
              <a:defRPr sz="1650" b="1">
                <a:solidFill>
                  <a:srgbClr val="1F5D99"/>
                </a:solidFill>
              </a:defRPr>
            </a:pPr>
            <a:r>
              <a:rPr sz="1651" b="1">
                <a:solidFill>
                  <a:srgbClr val="1F5D99"/>
                </a:solidFill>
              </a:rPr>
              <a:t>Interview cue: What is serverless?</a:t>
            </a:r>
          </a:p>
        </p:txBody>
      </p:sp>
    </p:spTree>
    <p:extLst>
      <p:ext uri="{BB962C8B-B14F-4D97-AF65-F5344CB8AC3E}">
        <p14:creationId xmlns:p14="http://schemas.microsoft.com/office/powerpoint/2010/main" val="452459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C4948-7858-41BC-9ADF-7CFE2DB7F251}"/>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3D9DFEA2-4368-416A-8010-54DB5BC2E285}"/>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1 · Recap</a:t>
            </a:r>
          </a:p>
        </p:txBody>
      </p:sp>
      <p:sp>
        <p:nvSpPr>
          <p:cNvPr id="3" name="Rectangle 2">
            <a:extLst>
              <a:ext uri="{FF2B5EF4-FFF2-40B4-BE49-F238E27FC236}">
                <a16:creationId xmlns:a16="http://schemas.microsoft.com/office/drawing/2014/main" id="{95EB7FA8-E4E9-499F-8718-08B023CB4D69}"/>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07</a:t>
            </a:r>
          </a:p>
        </p:txBody>
      </p:sp>
      <p:sp>
        <p:nvSpPr>
          <p:cNvPr id="4" name="Rectangle 3">
            <a:extLst>
              <a:ext uri="{FF2B5EF4-FFF2-40B4-BE49-F238E27FC236}">
                <a16:creationId xmlns:a16="http://schemas.microsoft.com/office/drawing/2014/main" id="{2D16A404-D523-4BE6-8038-2F6F681A01F0}"/>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AWS Lambda: what to remember</a:t>
            </a:r>
          </a:p>
        </p:txBody>
      </p:sp>
      <p:sp>
        <p:nvSpPr>
          <p:cNvPr id="5" name="Rectangle 4">
            <a:extLst>
              <a:ext uri="{FF2B5EF4-FFF2-40B4-BE49-F238E27FC236}">
                <a16:creationId xmlns:a16="http://schemas.microsoft.com/office/drawing/2014/main" id="{2478EE7A-5098-48F3-9475-1A4EA36BB196}"/>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Close the module with practical rules and common questions.</a:t>
            </a:r>
          </a:p>
        </p:txBody>
      </p:sp>
      <p:sp>
        <p:nvSpPr>
          <p:cNvPr id="6" name="Rectangle 5">
            <a:extLst>
              <a:ext uri="{FF2B5EF4-FFF2-40B4-BE49-F238E27FC236}">
                <a16:creationId xmlns:a16="http://schemas.microsoft.com/office/drawing/2014/main" id="{CAE5A010-86FA-4709-A864-BB82A693107B}"/>
              </a:ext>
            </a:extLst>
          </p:cNvPr>
          <p:cNvSpPr>
            <a:spLocks noGrp="1"/>
          </p:cNvSpPr>
          <p:nvPr/>
        </p:nvSpPr>
        <p:spPr>
          <a:xfrm>
            <a:off x="857251"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Common questions</a:t>
            </a:r>
          </a:p>
        </p:txBody>
      </p:sp>
      <p:sp>
        <p:nvSpPr>
          <p:cNvPr id="7" name="Rectangle 6">
            <a:extLst>
              <a:ext uri="{FF2B5EF4-FFF2-40B4-BE49-F238E27FC236}">
                <a16:creationId xmlns:a16="http://schemas.microsoft.com/office/drawing/2014/main" id="{9A0ACEF3-EED5-4CD2-9D30-A8424CE5C755}"/>
              </a:ext>
            </a:extLst>
          </p:cNvPr>
          <p:cNvSpPr>
            <a:spLocks noGrp="1"/>
          </p:cNvSpPr>
          <p:nvPr/>
        </p:nvSpPr>
        <p:spPr>
          <a:xfrm>
            <a:off x="952501" y="2571751"/>
            <a:ext cx="4381500" cy="1524000"/>
          </a:xfrm>
          <a:prstGeom prst="rect">
            <a:avLst/>
          </a:prstGeom>
          <a:noFill/>
          <a:ln w="0">
            <a:noFill/>
            <a:prstDash val="solid"/>
          </a:ln>
        </p:spPr>
        <p:txBody>
          <a:bodyPr/>
          <a:lstStyle/>
          <a:p>
            <a:pPr algn="l">
              <a:defRPr sz="1800" b="0">
                <a:solidFill>
                  <a:srgbClr val="334155"/>
                </a:solidFill>
              </a:defRPr>
            </a:pPr>
            <a:r>
              <a:rPr>
                <a:solidFill>
                  <a:srgbClr val="334155"/>
                </a:solidFill>
              </a:rPr>
              <a:t>• What is serverless?</a:t>
            </a:r>
          </a:p>
          <a:p>
            <a:pPr algn="l">
              <a:defRPr sz="1800" b="0">
                <a:solidFill>
                  <a:srgbClr val="334155"/>
                </a:solidFill>
              </a:defRPr>
            </a:pPr>
            <a:r>
              <a:rPr>
                <a:solidFill>
                  <a:srgbClr val="334155"/>
                </a:solidFill>
              </a:rPr>
              <a:t>• Cold start vs warm start</a:t>
            </a:r>
          </a:p>
          <a:p>
            <a:pPr algn="l">
              <a:defRPr sz="1800" b="0">
                <a:solidFill>
                  <a:srgbClr val="334155"/>
                </a:solidFill>
              </a:defRPr>
            </a:pPr>
            <a:r>
              <a:rPr>
                <a:solidFill>
                  <a:srgbClr val="334155"/>
                </a:solidFill>
              </a:rPr>
              <a:t>• Lambda vs EC2</a:t>
            </a:r>
          </a:p>
        </p:txBody>
      </p:sp>
      <p:sp>
        <p:nvSpPr>
          <p:cNvPr id="8" name="Rectangle 7">
            <a:extLst>
              <a:ext uri="{FF2B5EF4-FFF2-40B4-BE49-F238E27FC236}">
                <a16:creationId xmlns:a16="http://schemas.microsoft.com/office/drawing/2014/main" id="{71A653D8-90AE-4AFD-9962-0D51C1C4648A}"/>
              </a:ext>
            </a:extLst>
          </p:cNvPr>
          <p:cNvSpPr>
            <a:spLocks noGrp="1"/>
          </p:cNvSpPr>
          <p:nvPr/>
        </p:nvSpPr>
        <p:spPr>
          <a:xfrm>
            <a:off x="6334125"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One-line memory hook</a:t>
            </a:r>
          </a:p>
        </p:txBody>
      </p:sp>
      <p:sp>
        <p:nvSpPr>
          <p:cNvPr id="9" name="Rectangle: Rounded Corners 8">
            <a:extLst>
              <a:ext uri="{FF2B5EF4-FFF2-40B4-BE49-F238E27FC236}">
                <a16:creationId xmlns:a16="http://schemas.microsoft.com/office/drawing/2014/main" id="{441BE0DA-88BA-49EF-928F-4B2D281F9B67}"/>
              </a:ext>
            </a:extLst>
          </p:cNvPr>
          <p:cNvSpPr>
            <a:spLocks noGrp="1"/>
          </p:cNvSpPr>
          <p:nvPr/>
        </p:nvSpPr>
        <p:spPr>
          <a:xfrm>
            <a:off x="6191249" y="2571751"/>
            <a:ext cx="4286251" cy="1524000"/>
          </a:xfrm>
          <a:prstGeom prst="roundRect">
            <a:avLst>
              <a:gd name="adj" fmla="val 3750"/>
            </a:avLst>
          </a:prstGeom>
          <a:solidFill>
            <a:srgbClr val="12233F"/>
          </a:solidFill>
          <a:ln w="9525">
            <a:solidFill>
              <a:srgbClr val="12233F"/>
            </a:solidFill>
            <a:prstDash val="solid"/>
          </a:ln>
        </p:spPr>
        <p:txBody>
          <a:bodyPr/>
          <a:lstStyle/>
          <a:p>
            <a:endParaRPr lang="en-IN"/>
          </a:p>
        </p:txBody>
      </p:sp>
      <p:sp>
        <p:nvSpPr>
          <p:cNvPr id="10" name="Rectangle 9">
            <a:extLst>
              <a:ext uri="{FF2B5EF4-FFF2-40B4-BE49-F238E27FC236}">
                <a16:creationId xmlns:a16="http://schemas.microsoft.com/office/drawing/2014/main" id="{A8DC99FD-7F42-457B-9BFA-242B58895DDA}"/>
              </a:ext>
            </a:extLst>
          </p:cNvPr>
          <p:cNvSpPr>
            <a:spLocks noGrp="1"/>
          </p:cNvSpPr>
          <p:nvPr/>
        </p:nvSpPr>
        <p:spPr>
          <a:xfrm>
            <a:off x="6534151" y="2952749"/>
            <a:ext cx="3619500" cy="781051"/>
          </a:xfrm>
          <a:prstGeom prst="rect">
            <a:avLst/>
          </a:prstGeom>
          <a:noFill/>
          <a:ln w="0">
            <a:noFill/>
            <a:prstDash val="solid"/>
          </a:ln>
        </p:spPr>
        <p:txBody>
          <a:bodyPr/>
          <a:lstStyle/>
          <a:p>
            <a:pPr algn="ctr">
              <a:defRPr sz="2100" b="1">
                <a:solidFill>
                  <a:srgbClr val="FFFFFF"/>
                </a:solidFill>
              </a:defRPr>
            </a:pPr>
            <a:r>
              <a:rPr sz="2100" b="1">
                <a:solidFill>
                  <a:srgbClr val="FFFFFF"/>
                </a:solidFill>
              </a:rPr>
              <a:t>Lambda runs code only when events ask it to.</a:t>
            </a:r>
          </a:p>
        </p:txBody>
      </p:sp>
    </p:spTree>
    <p:extLst>
      <p:ext uri="{BB962C8B-B14F-4D97-AF65-F5344CB8AC3E}">
        <p14:creationId xmlns:p14="http://schemas.microsoft.com/office/powerpoint/2010/main" val="1587068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61F6B01-FBF5-49FA-B490-7B61D02B97F8}"/>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F8BCE0C7-47F5-47F1-AB6B-971BE6C94235}"/>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2 · Managed API front door</a:t>
            </a:r>
          </a:p>
        </p:txBody>
      </p:sp>
      <p:sp>
        <p:nvSpPr>
          <p:cNvPr id="3" name="Rectangle 2">
            <a:extLst>
              <a:ext uri="{FF2B5EF4-FFF2-40B4-BE49-F238E27FC236}">
                <a16:creationId xmlns:a16="http://schemas.microsoft.com/office/drawing/2014/main" id="{5FFA20B9-0E88-4FD1-8952-7ACEC472CCED}"/>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08</a:t>
            </a:r>
          </a:p>
        </p:txBody>
      </p:sp>
      <p:sp>
        <p:nvSpPr>
          <p:cNvPr id="4" name="Rectangle 3">
            <a:extLst>
              <a:ext uri="{FF2B5EF4-FFF2-40B4-BE49-F238E27FC236}">
                <a16:creationId xmlns:a16="http://schemas.microsoft.com/office/drawing/2014/main" id="{0A390074-31FA-424F-AF7D-41A8FFC274AA}"/>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Amazon API Gateway: what it is</a:t>
            </a:r>
          </a:p>
        </p:txBody>
      </p:sp>
      <p:sp>
        <p:nvSpPr>
          <p:cNvPr id="5" name="Rectangle 4">
            <a:extLst>
              <a:ext uri="{FF2B5EF4-FFF2-40B4-BE49-F238E27FC236}">
                <a16:creationId xmlns:a16="http://schemas.microsoft.com/office/drawing/2014/main" id="{C88FC964-8C8F-4679-AA41-99A964F18EF1}"/>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Creates, publishes, monitors, and secures REST, HTTP, and WebSocket APIs at scale.</a:t>
            </a:r>
          </a:p>
        </p:txBody>
      </p:sp>
      <p:sp>
        <p:nvSpPr>
          <p:cNvPr id="6" name="Oval 5">
            <a:extLst>
              <a:ext uri="{FF2B5EF4-FFF2-40B4-BE49-F238E27FC236}">
                <a16:creationId xmlns:a16="http://schemas.microsoft.com/office/drawing/2014/main" id="{026755AC-A49C-416F-B9A1-D8AF0941570A}"/>
              </a:ext>
            </a:extLst>
          </p:cNvPr>
          <p:cNvSpPr>
            <a:spLocks noGrp="1"/>
          </p:cNvSpPr>
          <p:nvPr/>
        </p:nvSpPr>
        <p:spPr>
          <a:xfrm>
            <a:off x="9239251" y="876300"/>
            <a:ext cx="1066800" cy="1066800"/>
          </a:xfrm>
          <a:prstGeom prst="ellipse">
            <a:avLst/>
          </a:prstGeom>
          <a:solidFill>
            <a:srgbClr val="12233F"/>
          </a:solidFill>
          <a:ln w="28575">
            <a:solidFill>
              <a:srgbClr val="FF9900"/>
            </a:solidFill>
            <a:prstDash val="solid"/>
          </a:ln>
        </p:spPr>
        <p:txBody>
          <a:bodyPr/>
          <a:lstStyle/>
          <a:p>
            <a:endParaRPr lang="en-IN"/>
          </a:p>
        </p:txBody>
      </p:sp>
      <p:sp>
        <p:nvSpPr>
          <p:cNvPr id="7" name="Rectangle 6">
            <a:extLst>
              <a:ext uri="{FF2B5EF4-FFF2-40B4-BE49-F238E27FC236}">
                <a16:creationId xmlns:a16="http://schemas.microsoft.com/office/drawing/2014/main" id="{80830958-A4A5-4355-95A5-72213049400B}"/>
              </a:ext>
            </a:extLst>
          </p:cNvPr>
          <p:cNvSpPr>
            <a:spLocks noGrp="1"/>
          </p:cNvSpPr>
          <p:nvPr/>
        </p:nvSpPr>
        <p:spPr>
          <a:xfrm>
            <a:off x="9239251" y="1133475"/>
            <a:ext cx="1066800" cy="400051"/>
          </a:xfrm>
          <a:prstGeom prst="rect">
            <a:avLst/>
          </a:prstGeom>
          <a:noFill/>
          <a:ln w="0">
            <a:noFill/>
            <a:prstDash val="solid"/>
          </a:ln>
        </p:spPr>
        <p:txBody>
          <a:bodyPr/>
          <a:lstStyle/>
          <a:p>
            <a:pPr algn="ctr">
              <a:defRPr sz="1950" b="1">
                <a:solidFill>
                  <a:srgbClr val="FFFFFF"/>
                </a:solidFill>
              </a:defRPr>
            </a:pPr>
            <a:r>
              <a:rPr sz="1951" b="1">
                <a:solidFill>
                  <a:srgbClr val="FFFFFF"/>
                </a:solidFill>
              </a:rPr>
              <a:t>AG</a:t>
            </a:r>
          </a:p>
        </p:txBody>
      </p:sp>
      <p:sp>
        <p:nvSpPr>
          <p:cNvPr id="8" name="Rectangle: Rounded Corners 7">
            <a:extLst>
              <a:ext uri="{FF2B5EF4-FFF2-40B4-BE49-F238E27FC236}">
                <a16:creationId xmlns:a16="http://schemas.microsoft.com/office/drawing/2014/main" id="{6C181404-E452-4C0E-B83C-C1B0F8285D77}"/>
              </a:ext>
            </a:extLst>
          </p:cNvPr>
          <p:cNvSpPr>
            <a:spLocks noGrp="1"/>
          </p:cNvSpPr>
          <p:nvPr/>
        </p:nvSpPr>
        <p:spPr>
          <a:xfrm>
            <a:off x="742951" y="2095501"/>
            <a:ext cx="4762500" cy="2476500"/>
          </a:xfrm>
          <a:prstGeom prst="roundRect">
            <a:avLst>
              <a:gd name="adj" fmla="val 2308"/>
            </a:avLst>
          </a:prstGeom>
          <a:solidFill>
            <a:srgbClr val="FFFFFF"/>
          </a:solidFill>
          <a:ln w="9525">
            <a:solidFill>
              <a:srgbClr val="D7E2EE"/>
            </a:solidFill>
            <a:prstDash val="solid"/>
          </a:ln>
        </p:spPr>
        <p:txBody>
          <a:bodyPr/>
          <a:lstStyle/>
          <a:p>
            <a:endParaRPr lang="en-IN"/>
          </a:p>
        </p:txBody>
      </p:sp>
      <p:sp>
        <p:nvSpPr>
          <p:cNvPr id="9" name="Rectangle 8">
            <a:extLst>
              <a:ext uri="{FF2B5EF4-FFF2-40B4-BE49-F238E27FC236}">
                <a16:creationId xmlns:a16="http://schemas.microsoft.com/office/drawing/2014/main" id="{D90BF880-8E4B-441E-83FD-0D75CBB94EE3}"/>
              </a:ext>
            </a:extLst>
          </p:cNvPr>
          <p:cNvSpPr>
            <a:spLocks noGrp="1"/>
          </p:cNvSpPr>
          <p:nvPr/>
        </p:nvSpPr>
        <p:spPr>
          <a:xfrm>
            <a:off x="1009651" y="2362200"/>
            <a:ext cx="38100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Use it when you need to</a:t>
            </a:r>
          </a:p>
        </p:txBody>
      </p:sp>
      <p:sp>
        <p:nvSpPr>
          <p:cNvPr id="10" name="Rectangle 9">
            <a:extLst>
              <a:ext uri="{FF2B5EF4-FFF2-40B4-BE49-F238E27FC236}">
                <a16:creationId xmlns:a16="http://schemas.microsoft.com/office/drawing/2014/main" id="{D8B27260-F2E9-42DC-926B-6759E9BE9C44}"/>
              </a:ext>
            </a:extLst>
          </p:cNvPr>
          <p:cNvSpPr>
            <a:spLocks noGrp="1"/>
          </p:cNvSpPr>
          <p:nvPr/>
        </p:nvSpPr>
        <p:spPr>
          <a:xfrm>
            <a:off x="1066801" y="2895600"/>
            <a:ext cx="4000500" cy="1238251"/>
          </a:xfrm>
          <a:prstGeom prst="rect">
            <a:avLst/>
          </a:prstGeom>
          <a:noFill/>
          <a:ln w="0">
            <a:noFill/>
            <a:prstDash val="solid"/>
          </a:ln>
        </p:spPr>
        <p:txBody>
          <a:bodyPr/>
          <a:lstStyle/>
          <a:p>
            <a:pPr algn="l">
              <a:defRPr sz="1650" b="0">
                <a:solidFill>
                  <a:srgbClr val="334155"/>
                </a:solidFill>
              </a:defRPr>
            </a:pPr>
            <a:r>
              <a:rPr sz="1651">
                <a:solidFill>
                  <a:srgbClr val="334155"/>
                </a:solidFill>
              </a:rPr>
              <a:t>• Serverless APIs</a:t>
            </a:r>
          </a:p>
          <a:p>
            <a:pPr algn="l">
              <a:defRPr sz="1650" b="0">
                <a:solidFill>
                  <a:srgbClr val="334155"/>
                </a:solidFill>
              </a:defRPr>
            </a:pPr>
            <a:r>
              <a:rPr sz="1651">
                <a:solidFill>
                  <a:srgbClr val="334155"/>
                </a:solidFill>
              </a:rPr>
              <a:t>• Mobile backends</a:t>
            </a:r>
          </a:p>
          <a:p>
            <a:pPr algn="l">
              <a:defRPr sz="1650" b="0">
                <a:solidFill>
                  <a:srgbClr val="334155"/>
                </a:solidFill>
              </a:defRPr>
            </a:pPr>
            <a:r>
              <a:rPr sz="1651">
                <a:solidFill>
                  <a:srgbClr val="334155"/>
                </a:solidFill>
              </a:rPr>
              <a:t>• Partner APIs</a:t>
            </a:r>
          </a:p>
          <a:p>
            <a:pPr algn="l">
              <a:defRPr sz="1650" b="0">
                <a:solidFill>
                  <a:srgbClr val="334155"/>
                </a:solidFill>
              </a:defRPr>
            </a:pPr>
            <a:r>
              <a:rPr sz="1651">
                <a:solidFill>
                  <a:srgbClr val="334155"/>
                </a:solidFill>
              </a:rPr>
              <a:t>• WebSocket apps</a:t>
            </a:r>
          </a:p>
        </p:txBody>
      </p:sp>
      <p:sp>
        <p:nvSpPr>
          <p:cNvPr id="11" name="Rectangle: Rounded Corners 10">
            <a:extLst>
              <a:ext uri="{FF2B5EF4-FFF2-40B4-BE49-F238E27FC236}">
                <a16:creationId xmlns:a16="http://schemas.microsoft.com/office/drawing/2014/main" id="{FCD77127-FB3F-4525-AF30-8906F4C22464}"/>
              </a:ext>
            </a:extLst>
          </p:cNvPr>
          <p:cNvSpPr>
            <a:spLocks noGrp="1"/>
          </p:cNvSpPr>
          <p:nvPr/>
        </p:nvSpPr>
        <p:spPr>
          <a:xfrm>
            <a:off x="6096001" y="2095501"/>
            <a:ext cx="4381500" cy="2476500"/>
          </a:xfrm>
          <a:prstGeom prst="roundRect">
            <a:avLst>
              <a:gd name="adj" fmla="val 2308"/>
            </a:avLst>
          </a:prstGeom>
          <a:solidFill>
            <a:srgbClr val="EAF3FC"/>
          </a:solidFill>
          <a:ln w="9525">
            <a:solidFill>
              <a:srgbClr val="B7D4EF"/>
            </a:solidFill>
            <a:prstDash val="solid"/>
          </a:ln>
        </p:spPr>
        <p:txBody>
          <a:bodyPr/>
          <a:lstStyle/>
          <a:p>
            <a:endParaRPr lang="en-IN"/>
          </a:p>
        </p:txBody>
      </p:sp>
      <p:sp>
        <p:nvSpPr>
          <p:cNvPr id="12" name="Rectangle 11">
            <a:extLst>
              <a:ext uri="{FF2B5EF4-FFF2-40B4-BE49-F238E27FC236}">
                <a16:creationId xmlns:a16="http://schemas.microsoft.com/office/drawing/2014/main" id="{40F164FA-0D09-404D-A9EF-9FCFCF00A978}"/>
              </a:ext>
            </a:extLst>
          </p:cNvPr>
          <p:cNvSpPr>
            <a:spLocks noGrp="1"/>
          </p:cNvSpPr>
          <p:nvPr/>
        </p:nvSpPr>
        <p:spPr>
          <a:xfrm>
            <a:off x="6381751" y="2362200"/>
            <a:ext cx="3619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Simple class explanation</a:t>
            </a:r>
          </a:p>
        </p:txBody>
      </p:sp>
      <p:sp>
        <p:nvSpPr>
          <p:cNvPr id="13" name="Rectangle 12">
            <a:extLst>
              <a:ext uri="{FF2B5EF4-FFF2-40B4-BE49-F238E27FC236}">
                <a16:creationId xmlns:a16="http://schemas.microsoft.com/office/drawing/2014/main" id="{7610CDAF-615B-404E-B5BA-7D436DF7A8E8}"/>
              </a:ext>
            </a:extLst>
          </p:cNvPr>
          <p:cNvSpPr>
            <a:spLocks noGrp="1"/>
          </p:cNvSpPr>
          <p:nvPr/>
        </p:nvSpPr>
        <p:spPr>
          <a:xfrm>
            <a:off x="6381751" y="2905125"/>
            <a:ext cx="3619500" cy="1143000"/>
          </a:xfrm>
          <a:prstGeom prst="rect">
            <a:avLst/>
          </a:prstGeom>
          <a:noFill/>
          <a:ln w="0">
            <a:noFill/>
            <a:prstDash val="solid"/>
          </a:ln>
        </p:spPr>
        <p:txBody>
          <a:bodyPr/>
          <a:lstStyle/>
          <a:p>
            <a:pPr algn="l">
              <a:defRPr sz="1800" b="0">
                <a:solidFill>
                  <a:srgbClr val="334155"/>
                </a:solidFill>
              </a:defRPr>
            </a:pPr>
            <a:r>
              <a:rPr>
                <a:solidFill>
                  <a:srgbClr val="334155"/>
                </a:solidFill>
              </a:rPr>
              <a:t>Like the reception desk for your backend: it checks requests and sends them to the right service.</a:t>
            </a:r>
          </a:p>
        </p:txBody>
      </p:sp>
    </p:spTree>
    <p:extLst>
      <p:ext uri="{BB962C8B-B14F-4D97-AF65-F5344CB8AC3E}">
        <p14:creationId xmlns:p14="http://schemas.microsoft.com/office/powerpoint/2010/main" val="817859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996B644-0C83-4FB0-9333-29F00D3E565F}"/>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920E062E-2372-4519-9002-64B238CB6EE0}"/>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2 · Architecture</a:t>
            </a:r>
          </a:p>
        </p:txBody>
      </p:sp>
      <p:sp>
        <p:nvSpPr>
          <p:cNvPr id="3" name="Rectangle 2">
            <a:extLst>
              <a:ext uri="{FF2B5EF4-FFF2-40B4-BE49-F238E27FC236}">
                <a16:creationId xmlns:a16="http://schemas.microsoft.com/office/drawing/2014/main" id="{B0767B81-4BCA-49B1-9CC0-DF32BE350500}"/>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09</a:t>
            </a:r>
          </a:p>
        </p:txBody>
      </p:sp>
      <p:sp>
        <p:nvSpPr>
          <p:cNvPr id="4" name="Rectangle 3">
            <a:extLst>
              <a:ext uri="{FF2B5EF4-FFF2-40B4-BE49-F238E27FC236}">
                <a16:creationId xmlns:a16="http://schemas.microsoft.com/office/drawing/2014/main" id="{4807069B-697C-4C6E-92CB-663E5CE97D58}"/>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Amazon API Gateway architecture</a:t>
            </a:r>
          </a:p>
        </p:txBody>
      </p:sp>
      <p:sp>
        <p:nvSpPr>
          <p:cNvPr id="5" name="Rectangle 4">
            <a:extLst>
              <a:ext uri="{FF2B5EF4-FFF2-40B4-BE49-F238E27FC236}">
                <a16:creationId xmlns:a16="http://schemas.microsoft.com/office/drawing/2014/main" id="{93920028-1F78-48E0-8E5F-E76E8C86217A}"/>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Follow the request or data path from left to right.</a:t>
            </a:r>
          </a:p>
        </p:txBody>
      </p:sp>
      <p:sp>
        <p:nvSpPr>
          <p:cNvPr id="6" name="Rectangle: Rounded Corners 5">
            <a:extLst>
              <a:ext uri="{FF2B5EF4-FFF2-40B4-BE49-F238E27FC236}">
                <a16:creationId xmlns:a16="http://schemas.microsoft.com/office/drawing/2014/main" id="{EA3B63F3-0BBA-4802-A9B2-647EF287D90D}"/>
              </a:ext>
            </a:extLst>
          </p:cNvPr>
          <p:cNvSpPr>
            <a:spLocks noGrp="1"/>
          </p:cNvSpPr>
          <p:nvPr/>
        </p:nvSpPr>
        <p:spPr>
          <a:xfrm>
            <a:off x="857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596C2A08-C7F2-46D6-9CDA-4BF67DA4B0FF}"/>
              </a:ext>
            </a:extLst>
          </p:cNvPr>
          <p:cNvSpPr>
            <a:spLocks noGrp="1"/>
          </p:cNvSpPr>
          <p:nvPr/>
        </p:nvSpPr>
        <p:spPr>
          <a:xfrm>
            <a:off x="952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Client app</a:t>
            </a:r>
          </a:p>
        </p:txBody>
      </p:sp>
      <p:sp>
        <p:nvSpPr>
          <p:cNvPr id="8" name="Arrow: Right 7">
            <a:extLst>
              <a:ext uri="{FF2B5EF4-FFF2-40B4-BE49-F238E27FC236}">
                <a16:creationId xmlns:a16="http://schemas.microsoft.com/office/drawing/2014/main" id="{34210B13-9FCC-4BFE-9E60-0904C7B02F80}"/>
              </a:ext>
            </a:extLst>
          </p:cNvPr>
          <p:cNvSpPr>
            <a:spLocks noGrp="1"/>
          </p:cNvSpPr>
          <p:nvPr/>
        </p:nvSpPr>
        <p:spPr>
          <a:xfrm>
            <a:off x="2724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C5C36CD5-4E63-435E-B10D-80E4A6E4A94D}"/>
              </a:ext>
            </a:extLst>
          </p:cNvPr>
          <p:cNvSpPr>
            <a:spLocks noGrp="1"/>
          </p:cNvSpPr>
          <p:nvPr/>
        </p:nvSpPr>
        <p:spPr>
          <a:xfrm>
            <a:off x="2952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6E901305-1FA7-4A71-860D-8A63B9261ABB}"/>
              </a:ext>
            </a:extLst>
          </p:cNvPr>
          <p:cNvSpPr>
            <a:spLocks noGrp="1"/>
          </p:cNvSpPr>
          <p:nvPr/>
        </p:nvSpPr>
        <p:spPr>
          <a:xfrm>
            <a:off x="3048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API Gateway</a:t>
            </a:r>
          </a:p>
        </p:txBody>
      </p:sp>
      <p:sp>
        <p:nvSpPr>
          <p:cNvPr id="11" name="Arrow: Right 10">
            <a:extLst>
              <a:ext uri="{FF2B5EF4-FFF2-40B4-BE49-F238E27FC236}">
                <a16:creationId xmlns:a16="http://schemas.microsoft.com/office/drawing/2014/main" id="{BD9D6E53-525F-4DF1-89A4-D07CA01170F0}"/>
              </a:ext>
            </a:extLst>
          </p:cNvPr>
          <p:cNvSpPr>
            <a:spLocks noGrp="1"/>
          </p:cNvSpPr>
          <p:nvPr/>
        </p:nvSpPr>
        <p:spPr>
          <a:xfrm>
            <a:off x="4819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8C9DFE5E-E19D-4E2E-A07D-7164E9E50A4D}"/>
              </a:ext>
            </a:extLst>
          </p:cNvPr>
          <p:cNvSpPr>
            <a:spLocks noGrp="1"/>
          </p:cNvSpPr>
          <p:nvPr/>
        </p:nvSpPr>
        <p:spPr>
          <a:xfrm>
            <a:off x="5048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253E7EF0-44BC-4166-9537-E1F42C2A74AA}"/>
              </a:ext>
            </a:extLst>
          </p:cNvPr>
          <p:cNvSpPr>
            <a:spLocks noGrp="1"/>
          </p:cNvSpPr>
          <p:nvPr/>
        </p:nvSpPr>
        <p:spPr>
          <a:xfrm>
            <a:off x="5143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Authorizer / throttling</a:t>
            </a:r>
          </a:p>
        </p:txBody>
      </p:sp>
      <p:sp>
        <p:nvSpPr>
          <p:cNvPr id="14" name="Arrow: Right 13">
            <a:extLst>
              <a:ext uri="{FF2B5EF4-FFF2-40B4-BE49-F238E27FC236}">
                <a16:creationId xmlns:a16="http://schemas.microsoft.com/office/drawing/2014/main" id="{98077BDF-1822-46A3-9303-607D7D8DF7EE}"/>
              </a:ext>
            </a:extLst>
          </p:cNvPr>
          <p:cNvSpPr>
            <a:spLocks noGrp="1"/>
          </p:cNvSpPr>
          <p:nvPr/>
        </p:nvSpPr>
        <p:spPr>
          <a:xfrm>
            <a:off x="6915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3F90CC5C-5141-45F9-8006-DB98AB507CCC}"/>
              </a:ext>
            </a:extLst>
          </p:cNvPr>
          <p:cNvSpPr>
            <a:spLocks noGrp="1"/>
          </p:cNvSpPr>
          <p:nvPr/>
        </p:nvSpPr>
        <p:spPr>
          <a:xfrm>
            <a:off x="7143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EF67A4E4-37F5-410A-B70F-609F8FF73A83}"/>
              </a:ext>
            </a:extLst>
          </p:cNvPr>
          <p:cNvSpPr>
            <a:spLocks noGrp="1"/>
          </p:cNvSpPr>
          <p:nvPr/>
        </p:nvSpPr>
        <p:spPr>
          <a:xfrm>
            <a:off x="7239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Lambda or HTTP backend</a:t>
            </a:r>
          </a:p>
        </p:txBody>
      </p:sp>
      <p:sp>
        <p:nvSpPr>
          <p:cNvPr id="17" name="Arrow: Right 16">
            <a:extLst>
              <a:ext uri="{FF2B5EF4-FFF2-40B4-BE49-F238E27FC236}">
                <a16:creationId xmlns:a16="http://schemas.microsoft.com/office/drawing/2014/main" id="{CA1C7109-02CC-40CE-BDA0-20D6C5635CBD}"/>
              </a:ext>
            </a:extLst>
          </p:cNvPr>
          <p:cNvSpPr>
            <a:spLocks noGrp="1"/>
          </p:cNvSpPr>
          <p:nvPr/>
        </p:nvSpPr>
        <p:spPr>
          <a:xfrm>
            <a:off x="9010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93078DC3-0785-4D97-964E-C90E8831A087}"/>
              </a:ext>
            </a:extLst>
          </p:cNvPr>
          <p:cNvSpPr>
            <a:spLocks noGrp="1"/>
          </p:cNvSpPr>
          <p:nvPr/>
        </p:nvSpPr>
        <p:spPr>
          <a:xfrm>
            <a:off x="9239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4ADE8D4F-8AA0-4CE1-AF05-602D251B9918}"/>
              </a:ext>
            </a:extLst>
          </p:cNvPr>
          <p:cNvSpPr>
            <a:spLocks noGrp="1"/>
          </p:cNvSpPr>
          <p:nvPr/>
        </p:nvSpPr>
        <p:spPr>
          <a:xfrm>
            <a:off x="9334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Response</a:t>
            </a:r>
          </a:p>
        </p:txBody>
      </p:sp>
      <p:sp>
        <p:nvSpPr>
          <p:cNvPr id="20" name="Rectangle 19">
            <a:extLst>
              <a:ext uri="{FF2B5EF4-FFF2-40B4-BE49-F238E27FC236}">
                <a16:creationId xmlns:a16="http://schemas.microsoft.com/office/drawing/2014/main" id="{3D41879D-181D-4194-B370-11A13F79026E}"/>
              </a:ext>
            </a:extLst>
          </p:cNvPr>
          <p:cNvSpPr>
            <a:spLocks noGrp="1"/>
          </p:cNvSpPr>
          <p:nvPr/>
        </p:nvSpPr>
        <p:spPr>
          <a:xfrm>
            <a:off x="952500" y="4191000"/>
            <a:ext cx="3429000" cy="323851"/>
          </a:xfrm>
          <a:prstGeom prst="rect">
            <a:avLst/>
          </a:prstGeom>
          <a:noFill/>
          <a:ln w="0">
            <a:noFill/>
            <a:prstDash val="solid"/>
          </a:ln>
        </p:spPr>
        <p:txBody>
          <a:bodyPr/>
          <a:lstStyle/>
          <a:p>
            <a:pPr algn="l">
              <a:defRPr sz="1950" b="1">
                <a:solidFill>
                  <a:srgbClr val="12233F"/>
                </a:solidFill>
              </a:defRPr>
            </a:pPr>
            <a:r>
              <a:rPr sz="1951" b="1">
                <a:solidFill>
                  <a:srgbClr val="12233F"/>
                </a:solidFill>
              </a:rPr>
              <a:t>Architecture explanation</a:t>
            </a:r>
          </a:p>
        </p:txBody>
      </p:sp>
      <p:sp>
        <p:nvSpPr>
          <p:cNvPr id="21" name="Rectangle 20">
            <a:extLst>
              <a:ext uri="{FF2B5EF4-FFF2-40B4-BE49-F238E27FC236}">
                <a16:creationId xmlns:a16="http://schemas.microsoft.com/office/drawing/2014/main" id="{6B169F7E-AB1D-481F-843F-6A72BCC66B9F}"/>
              </a:ext>
            </a:extLst>
          </p:cNvPr>
          <p:cNvSpPr>
            <a:spLocks noGrp="1"/>
          </p:cNvSpPr>
          <p:nvPr/>
        </p:nvSpPr>
        <p:spPr>
          <a:xfrm>
            <a:off x="952500" y="4667251"/>
            <a:ext cx="9144000" cy="1066800"/>
          </a:xfrm>
          <a:prstGeom prst="rect">
            <a:avLst/>
          </a:prstGeom>
          <a:noFill/>
          <a:ln w="0">
            <a:noFill/>
            <a:prstDash val="solid"/>
          </a:ln>
        </p:spPr>
        <p:txBody>
          <a:bodyPr/>
          <a:lstStyle/>
          <a:p>
            <a:pPr algn="l">
              <a:defRPr sz="1650" b="0">
                <a:solidFill>
                  <a:srgbClr val="334155"/>
                </a:solidFill>
              </a:defRPr>
            </a:pPr>
            <a:r>
              <a:rPr sz="1651">
                <a:solidFill>
                  <a:srgbClr val="334155"/>
                </a:solidFill>
              </a:rPr>
              <a:t>• Amazon API Gateway owns the middle responsibility in this flow.</a:t>
            </a:r>
          </a:p>
          <a:p>
            <a:pPr algn="l">
              <a:defRPr sz="1650" b="0">
                <a:solidFill>
                  <a:srgbClr val="334155"/>
                </a:solidFill>
              </a:defRPr>
            </a:pPr>
            <a:r>
              <a:rPr sz="1651">
                <a:solidFill>
                  <a:srgbClr val="334155"/>
                </a:solidFill>
              </a:rPr>
              <a:t>• IAM controls who can call or use the service.</a:t>
            </a:r>
          </a:p>
          <a:p>
            <a:pPr algn="l">
              <a:defRPr sz="1650" b="0">
                <a:solidFill>
                  <a:srgbClr val="334155"/>
                </a:solidFill>
              </a:defRPr>
            </a:pPr>
            <a:r>
              <a:rPr sz="1651">
                <a:solidFill>
                  <a:srgbClr val="334155"/>
                </a:solidFill>
              </a:rPr>
              <a:t>• CloudWatch and CloudTrail help with monitoring and audit trails.</a:t>
            </a:r>
          </a:p>
        </p:txBody>
      </p:sp>
    </p:spTree>
    <p:extLst>
      <p:ext uri="{BB962C8B-B14F-4D97-AF65-F5344CB8AC3E}">
        <p14:creationId xmlns:p14="http://schemas.microsoft.com/office/powerpoint/2010/main" val="215074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B0BEEA97-ECFA-4EA0-B87B-A499AAB5A4DB}"/>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3396B2D7-1CA9-43F9-9978-FE07C5AFC245}"/>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2 · Process</a:t>
            </a:r>
          </a:p>
        </p:txBody>
      </p:sp>
      <p:sp>
        <p:nvSpPr>
          <p:cNvPr id="3" name="Rectangle 2">
            <a:extLst>
              <a:ext uri="{FF2B5EF4-FFF2-40B4-BE49-F238E27FC236}">
                <a16:creationId xmlns:a16="http://schemas.microsoft.com/office/drawing/2014/main" id="{CD7EC0D9-4177-4FD9-A616-AC3400ED60AC}"/>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10</a:t>
            </a:r>
          </a:p>
        </p:txBody>
      </p:sp>
      <p:sp>
        <p:nvSpPr>
          <p:cNvPr id="4" name="Rectangle 3">
            <a:extLst>
              <a:ext uri="{FF2B5EF4-FFF2-40B4-BE49-F238E27FC236}">
                <a16:creationId xmlns:a16="http://schemas.microsoft.com/office/drawing/2014/main" id="{1691901C-4806-491C-9BC2-F3BD4ECD6503}"/>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How Amazon API Gateway works in practice</a:t>
            </a:r>
          </a:p>
        </p:txBody>
      </p:sp>
      <p:sp>
        <p:nvSpPr>
          <p:cNvPr id="5" name="Rectangle 4">
            <a:extLst>
              <a:ext uri="{FF2B5EF4-FFF2-40B4-BE49-F238E27FC236}">
                <a16:creationId xmlns:a16="http://schemas.microsoft.com/office/drawing/2014/main" id="{27FD2A82-4292-449F-AB30-4B1B5F1C0BEA}"/>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Use this as the step-by-step explanation during the meeting.</a:t>
            </a:r>
          </a:p>
        </p:txBody>
      </p:sp>
      <p:sp>
        <p:nvSpPr>
          <p:cNvPr id="6" name="Rectangle: Rounded Corners 5">
            <a:extLst>
              <a:ext uri="{FF2B5EF4-FFF2-40B4-BE49-F238E27FC236}">
                <a16:creationId xmlns:a16="http://schemas.microsoft.com/office/drawing/2014/main" id="{D1529C9B-B91F-4A07-944F-9E9D514AF9D2}"/>
              </a:ext>
            </a:extLst>
          </p:cNvPr>
          <p:cNvSpPr>
            <a:spLocks noGrp="1"/>
          </p:cNvSpPr>
          <p:nvPr/>
        </p:nvSpPr>
        <p:spPr>
          <a:xfrm>
            <a:off x="876301" y="19526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6D53840E-A275-4DCD-8392-17CB0513C02C}"/>
              </a:ext>
            </a:extLst>
          </p:cNvPr>
          <p:cNvSpPr>
            <a:spLocks noGrp="1"/>
          </p:cNvSpPr>
          <p:nvPr/>
        </p:nvSpPr>
        <p:spPr>
          <a:xfrm>
            <a:off x="971549" y="20669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Define API route</a:t>
            </a:r>
          </a:p>
        </p:txBody>
      </p:sp>
      <p:sp>
        <p:nvSpPr>
          <p:cNvPr id="8" name="Arrow: Down 7">
            <a:extLst>
              <a:ext uri="{FF2B5EF4-FFF2-40B4-BE49-F238E27FC236}">
                <a16:creationId xmlns:a16="http://schemas.microsoft.com/office/drawing/2014/main" id="{A95BB7A8-4544-4BBE-8D93-372F658CED7E}"/>
              </a:ext>
            </a:extLst>
          </p:cNvPr>
          <p:cNvSpPr>
            <a:spLocks noGrp="1"/>
          </p:cNvSpPr>
          <p:nvPr/>
        </p:nvSpPr>
        <p:spPr>
          <a:xfrm>
            <a:off x="3019426" y="2457449"/>
            <a:ext cx="190500" cy="95251"/>
          </a:xfrm>
          <a:prstGeom prst="down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5DB71ABF-0B35-4E74-80F7-B5BBAD553430}"/>
              </a:ext>
            </a:extLst>
          </p:cNvPr>
          <p:cNvSpPr>
            <a:spLocks noGrp="1"/>
          </p:cNvSpPr>
          <p:nvPr/>
        </p:nvSpPr>
        <p:spPr>
          <a:xfrm>
            <a:off x="876301" y="26003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CB80F9AC-714A-4501-A284-9618DC8966D7}"/>
              </a:ext>
            </a:extLst>
          </p:cNvPr>
          <p:cNvSpPr>
            <a:spLocks noGrp="1"/>
          </p:cNvSpPr>
          <p:nvPr/>
        </p:nvSpPr>
        <p:spPr>
          <a:xfrm>
            <a:off x="971549" y="27146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Choose integration</a:t>
            </a:r>
          </a:p>
        </p:txBody>
      </p:sp>
      <p:sp>
        <p:nvSpPr>
          <p:cNvPr id="11" name="Arrow: Down 10">
            <a:extLst>
              <a:ext uri="{FF2B5EF4-FFF2-40B4-BE49-F238E27FC236}">
                <a16:creationId xmlns:a16="http://schemas.microsoft.com/office/drawing/2014/main" id="{FE046909-B3C8-4671-A2A3-109824DAD946}"/>
              </a:ext>
            </a:extLst>
          </p:cNvPr>
          <p:cNvSpPr>
            <a:spLocks noGrp="1"/>
          </p:cNvSpPr>
          <p:nvPr/>
        </p:nvSpPr>
        <p:spPr>
          <a:xfrm>
            <a:off x="3019426" y="3105149"/>
            <a:ext cx="190500" cy="95251"/>
          </a:xfrm>
          <a:prstGeom prst="down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8181D6B0-8270-4E02-933A-EBFBB16A99B9}"/>
              </a:ext>
            </a:extLst>
          </p:cNvPr>
          <p:cNvSpPr>
            <a:spLocks noGrp="1"/>
          </p:cNvSpPr>
          <p:nvPr/>
        </p:nvSpPr>
        <p:spPr>
          <a:xfrm>
            <a:off x="876301" y="32480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E633AC08-0F54-4964-8802-73569070B573}"/>
              </a:ext>
            </a:extLst>
          </p:cNvPr>
          <p:cNvSpPr>
            <a:spLocks noGrp="1"/>
          </p:cNvSpPr>
          <p:nvPr/>
        </p:nvSpPr>
        <p:spPr>
          <a:xfrm>
            <a:off x="971549" y="33623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Add auth and throttling</a:t>
            </a:r>
          </a:p>
        </p:txBody>
      </p:sp>
      <p:sp>
        <p:nvSpPr>
          <p:cNvPr id="14" name="Arrow: Down 13">
            <a:extLst>
              <a:ext uri="{FF2B5EF4-FFF2-40B4-BE49-F238E27FC236}">
                <a16:creationId xmlns:a16="http://schemas.microsoft.com/office/drawing/2014/main" id="{AF003B68-A3FB-4DCD-8068-22954F78CD95}"/>
              </a:ext>
            </a:extLst>
          </p:cNvPr>
          <p:cNvSpPr>
            <a:spLocks noGrp="1"/>
          </p:cNvSpPr>
          <p:nvPr/>
        </p:nvSpPr>
        <p:spPr>
          <a:xfrm>
            <a:off x="3019426" y="3752849"/>
            <a:ext cx="190500" cy="95251"/>
          </a:xfrm>
          <a:prstGeom prst="down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27407E9F-B904-482C-8E44-62070467B858}"/>
              </a:ext>
            </a:extLst>
          </p:cNvPr>
          <p:cNvSpPr>
            <a:spLocks noGrp="1"/>
          </p:cNvSpPr>
          <p:nvPr/>
        </p:nvSpPr>
        <p:spPr>
          <a:xfrm>
            <a:off x="876301" y="38957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47925E18-A082-47CD-9CBB-3BAE776CB0F4}"/>
              </a:ext>
            </a:extLst>
          </p:cNvPr>
          <p:cNvSpPr>
            <a:spLocks noGrp="1"/>
          </p:cNvSpPr>
          <p:nvPr/>
        </p:nvSpPr>
        <p:spPr>
          <a:xfrm>
            <a:off x="971549" y="40100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Deploy stage</a:t>
            </a:r>
          </a:p>
        </p:txBody>
      </p:sp>
      <p:sp>
        <p:nvSpPr>
          <p:cNvPr id="17" name="Arrow: Down 16">
            <a:extLst>
              <a:ext uri="{FF2B5EF4-FFF2-40B4-BE49-F238E27FC236}">
                <a16:creationId xmlns:a16="http://schemas.microsoft.com/office/drawing/2014/main" id="{27932F9C-95E4-4A7F-B0A2-8891BCD61634}"/>
              </a:ext>
            </a:extLst>
          </p:cNvPr>
          <p:cNvSpPr>
            <a:spLocks noGrp="1"/>
          </p:cNvSpPr>
          <p:nvPr/>
        </p:nvSpPr>
        <p:spPr>
          <a:xfrm>
            <a:off x="3019426" y="4400549"/>
            <a:ext cx="190500" cy="95251"/>
          </a:xfrm>
          <a:prstGeom prst="down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5C0A95CA-3CA7-4C28-AB16-0FF1573582BA}"/>
              </a:ext>
            </a:extLst>
          </p:cNvPr>
          <p:cNvSpPr>
            <a:spLocks noGrp="1"/>
          </p:cNvSpPr>
          <p:nvPr/>
        </p:nvSpPr>
        <p:spPr>
          <a:xfrm>
            <a:off x="876301" y="45434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E8660F34-6893-4C1C-9386-07B41FE87DB9}"/>
              </a:ext>
            </a:extLst>
          </p:cNvPr>
          <p:cNvSpPr>
            <a:spLocks noGrp="1"/>
          </p:cNvSpPr>
          <p:nvPr/>
        </p:nvSpPr>
        <p:spPr>
          <a:xfrm>
            <a:off x="971549" y="46577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Monitor requests</a:t>
            </a:r>
          </a:p>
        </p:txBody>
      </p:sp>
      <p:sp>
        <p:nvSpPr>
          <p:cNvPr id="20" name="Rectangle: Rounded Corners 19">
            <a:extLst>
              <a:ext uri="{FF2B5EF4-FFF2-40B4-BE49-F238E27FC236}">
                <a16:creationId xmlns:a16="http://schemas.microsoft.com/office/drawing/2014/main" id="{DDED6C25-914C-4260-BDCC-4498AC090697}"/>
              </a:ext>
            </a:extLst>
          </p:cNvPr>
          <p:cNvSpPr>
            <a:spLocks noGrp="1"/>
          </p:cNvSpPr>
          <p:nvPr/>
        </p:nvSpPr>
        <p:spPr>
          <a:xfrm>
            <a:off x="6191250" y="2000251"/>
            <a:ext cx="4095751" cy="2286000"/>
          </a:xfrm>
          <a:prstGeom prst="roundRect">
            <a:avLst>
              <a:gd name="adj" fmla="val 2500"/>
            </a:avLst>
          </a:prstGeom>
          <a:solidFill>
            <a:srgbClr val="FFFFFF"/>
          </a:solidFill>
          <a:ln w="9525">
            <a:solidFill>
              <a:srgbClr val="D7E2EE"/>
            </a:solidFill>
            <a:prstDash val="solid"/>
          </a:ln>
        </p:spPr>
        <p:txBody>
          <a:bodyPr/>
          <a:lstStyle/>
          <a:p>
            <a:endParaRPr lang="en-IN"/>
          </a:p>
        </p:txBody>
      </p:sp>
      <p:sp>
        <p:nvSpPr>
          <p:cNvPr id="21" name="Rectangle 20">
            <a:extLst>
              <a:ext uri="{FF2B5EF4-FFF2-40B4-BE49-F238E27FC236}">
                <a16:creationId xmlns:a16="http://schemas.microsoft.com/office/drawing/2014/main" id="{778D3041-8D69-48DB-B2C2-73751EF7D1A4}"/>
              </a:ext>
            </a:extLst>
          </p:cNvPr>
          <p:cNvSpPr>
            <a:spLocks noGrp="1"/>
          </p:cNvSpPr>
          <p:nvPr/>
        </p:nvSpPr>
        <p:spPr>
          <a:xfrm>
            <a:off x="6477001" y="2266951"/>
            <a:ext cx="2857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Best practices</a:t>
            </a:r>
          </a:p>
        </p:txBody>
      </p:sp>
      <p:sp>
        <p:nvSpPr>
          <p:cNvPr id="22" name="Rectangle 21">
            <a:extLst>
              <a:ext uri="{FF2B5EF4-FFF2-40B4-BE49-F238E27FC236}">
                <a16:creationId xmlns:a16="http://schemas.microsoft.com/office/drawing/2014/main" id="{FB838F2D-030B-4F99-8547-78E23897EB47}"/>
              </a:ext>
            </a:extLst>
          </p:cNvPr>
          <p:cNvSpPr>
            <a:spLocks noGrp="1"/>
          </p:cNvSpPr>
          <p:nvPr/>
        </p:nvSpPr>
        <p:spPr>
          <a:xfrm>
            <a:off x="6477001" y="2819401"/>
            <a:ext cx="3333751" cy="1104900"/>
          </a:xfrm>
          <a:prstGeom prst="rect">
            <a:avLst/>
          </a:prstGeom>
          <a:noFill/>
          <a:ln w="0">
            <a:noFill/>
            <a:prstDash val="solid"/>
          </a:ln>
        </p:spPr>
        <p:txBody>
          <a:bodyPr/>
          <a:lstStyle/>
          <a:p>
            <a:pPr algn="l">
              <a:defRPr sz="1500" b="0">
                <a:solidFill>
                  <a:srgbClr val="334155"/>
                </a:solidFill>
              </a:defRPr>
            </a:pPr>
            <a:r>
              <a:rPr sz="1500">
                <a:solidFill>
                  <a:srgbClr val="334155"/>
                </a:solidFill>
              </a:rPr>
              <a:t>• Use stages for environments</a:t>
            </a:r>
          </a:p>
          <a:p>
            <a:pPr algn="l">
              <a:defRPr sz="1500" b="0">
                <a:solidFill>
                  <a:srgbClr val="334155"/>
                </a:solidFill>
              </a:defRPr>
            </a:pPr>
            <a:r>
              <a:rPr sz="1500">
                <a:solidFill>
                  <a:srgbClr val="334155"/>
                </a:solidFill>
              </a:rPr>
              <a:t>• Protect with authorization</a:t>
            </a:r>
          </a:p>
          <a:p>
            <a:pPr algn="l">
              <a:defRPr sz="1500" b="0">
                <a:solidFill>
                  <a:srgbClr val="334155"/>
                </a:solidFill>
              </a:defRPr>
            </a:pPr>
            <a:r>
              <a:rPr sz="1500">
                <a:solidFill>
                  <a:srgbClr val="334155"/>
                </a:solidFill>
              </a:rPr>
              <a:t>• Enable logging</a:t>
            </a:r>
          </a:p>
          <a:p>
            <a:pPr algn="l">
              <a:defRPr sz="1500" b="0">
                <a:solidFill>
                  <a:srgbClr val="334155"/>
                </a:solidFill>
              </a:defRPr>
            </a:pPr>
            <a:r>
              <a:rPr sz="1500">
                <a:solidFill>
                  <a:srgbClr val="334155"/>
                </a:solidFill>
              </a:rPr>
              <a:t>• Throttle abusive clients</a:t>
            </a:r>
          </a:p>
        </p:txBody>
      </p:sp>
      <p:sp>
        <p:nvSpPr>
          <p:cNvPr id="23" name="Rectangle: Rounded Corners 22">
            <a:extLst>
              <a:ext uri="{FF2B5EF4-FFF2-40B4-BE49-F238E27FC236}">
                <a16:creationId xmlns:a16="http://schemas.microsoft.com/office/drawing/2014/main" id="{DA594B92-0169-4F70-AA00-D771A24CCBE1}"/>
              </a:ext>
            </a:extLst>
          </p:cNvPr>
          <p:cNvSpPr>
            <a:spLocks noGrp="1"/>
          </p:cNvSpPr>
          <p:nvPr/>
        </p:nvSpPr>
        <p:spPr>
          <a:xfrm>
            <a:off x="6191250" y="4619625"/>
            <a:ext cx="4095751" cy="914400"/>
          </a:xfrm>
          <a:prstGeom prst="roundRect">
            <a:avLst>
              <a:gd name="adj" fmla="val 6250"/>
            </a:avLst>
          </a:prstGeom>
          <a:solidFill>
            <a:srgbClr val="EAF3FC"/>
          </a:solidFill>
          <a:ln w="9525">
            <a:solidFill>
              <a:srgbClr val="B7D4EF"/>
            </a:solidFill>
            <a:prstDash val="solid"/>
          </a:ln>
        </p:spPr>
        <p:txBody>
          <a:bodyPr/>
          <a:lstStyle/>
          <a:p>
            <a:endParaRPr lang="en-IN"/>
          </a:p>
        </p:txBody>
      </p:sp>
      <p:sp>
        <p:nvSpPr>
          <p:cNvPr id="24" name="Rectangle 23">
            <a:extLst>
              <a:ext uri="{FF2B5EF4-FFF2-40B4-BE49-F238E27FC236}">
                <a16:creationId xmlns:a16="http://schemas.microsoft.com/office/drawing/2014/main" id="{5D36B63F-8410-4DB0-ACD7-E3FD66126313}"/>
              </a:ext>
            </a:extLst>
          </p:cNvPr>
          <p:cNvSpPr>
            <a:spLocks noGrp="1"/>
          </p:cNvSpPr>
          <p:nvPr/>
        </p:nvSpPr>
        <p:spPr>
          <a:xfrm>
            <a:off x="6477000" y="4876801"/>
            <a:ext cx="3429000" cy="361951"/>
          </a:xfrm>
          <a:prstGeom prst="rect">
            <a:avLst/>
          </a:prstGeom>
          <a:noFill/>
          <a:ln w="0">
            <a:noFill/>
            <a:prstDash val="solid"/>
          </a:ln>
        </p:spPr>
        <p:txBody>
          <a:bodyPr/>
          <a:lstStyle/>
          <a:p>
            <a:pPr algn="l">
              <a:defRPr sz="1650" b="1">
                <a:solidFill>
                  <a:srgbClr val="1F5D99"/>
                </a:solidFill>
              </a:defRPr>
            </a:pPr>
            <a:r>
              <a:rPr sz="1651" b="1">
                <a:solidFill>
                  <a:srgbClr val="1F5D99"/>
                </a:solidFill>
              </a:rPr>
              <a:t>Interview cue: API Gateway vs ALB</a:t>
            </a:r>
          </a:p>
        </p:txBody>
      </p:sp>
    </p:spTree>
    <p:extLst>
      <p:ext uri="{BB962C8B-B14F-4D97-AF65-F5344CB8AC3E}">
        <p14:creationId xmlns:p14="http://schemas.microsoft.com/office/powerpoint/2010/main" val="248529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3806F2E-2ACE-4774-AE76-1C01212C4562}"/>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91E6AA31-0BB7-416E-B1D3-4C4057819709}"/>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2 · Recap</a:t>
            </a:r>
          </a:p>
        </p:txBody>
      </p:sp>
      <p:sp>
        <p:nvSpPr>
          <p:cNvPr id="3" name="Rectangle 2">
            <a:extLst>
              <a:ext uri="{FF2B5EF4-FFF2-40B4-BE49-F238E27FC236}">
                <a16:creationId xmlns:a16="http://schemas.microsoft.com/office/drawing/2014/main" id="{00CA4D8B-77DB-4D1E-8F5D-7E6D253DB8BA}"/>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11</a:t>
            </a:r>
          </a:p>
        </p:txBody>
      </p:sp>
      <p:sp>
        <p:nvSpPr>
          <p:cNvPr id="4" name="Rectangle 3">
            <a:extLst>
              <a:ext uri="{FF2B5EF4-FFF2-40B4-BE49-F238E27FC236}">
                <a16:creationId xmlns:a16="http://schemas.microsoft.com/office/drawing/2014/main" id="{F56C2858-9A73-4CE2-8586-EAA28B4E4E08}"/>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Amazon API Gateway: what to remember</a:t>
            </a:r>
          </a:p>
        </p:txBody>
      </p:sp>
      <p:sp>
        <p:nvSpPr>
          <p:cNvPr id="5" name="Rectangle 4">
            <a:extLst>
              <a:ext uri="{FF2B5EF4-FFF2-40B4-BE49-F238E27FC236}">
                <a16:creationId xmlns:a16="http://schemas.microsoft.com/office/drawing/2014/main" id="{946046AD-5DCA-405B-A02D-514AE669F2F8}"/>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Close the module with practical rules and common questions.</a:t>
            </a:r>
          </a:p>
        </p:txBody>
      </p:sp>
      <p:sp>
        <p:nvSpPr>
          <p:cNvPr id="6" name="Rectangle 5">
            <a:extLst>
              <a:ext uri="{FF2B5EF4-FFF2-40B4-BE49-F238E27FC236}">
                <a16:creationId xmlns:a16="http://schemas.microsoft.com/office/drawing/2014/main" id="{24354877-88DF-4887-BC7B-BF2AAD31E9E5}"/>
              </a:ext>
            </a:extLst>
          </p:cNvPr>
          <p:cNvSpPr>
            <a:spLocks noGrp="1"/>
          </p:cNvSpPr>
          <p:nvPr/>
        </p:nvSpPr>
        <p:spPr>
          <a:xfrm>
            <a:off x="857251"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Common questions</a:t>
            </a:r>
          </a:p>
        </p:txBody>
      </p:sp>
      <p:sp>
        <p:nvSpPr>
          <p:cNvPr id="7" name="Rectangle 6">
            <a:extLst>
              <a:ext uri="{FF2B5EF4-FFF2-40B4-BE49-F238E27FC236}">
                <a16:creationId xmlns:a16="http://schemas.microsoft.com/office/drawing/2014/main" id="{E791D319-ECCA-431B-A134-733BB76755DC}"/>
              </a:ext>
            </a:extLst>
          </p:cNvPr>
          <p:cNvSpPr>
            <a:spLocks noGrp="1"/>
          </p:cNvSpPr>
          <p:nvPr/>
        </p:nvSpPr>
        <p:spPr>
          <a:xfrm>
            <a:off x="952501" y="2571751"/>
            <a:ext cx="4381500" cy="1524000"/>
          </a:xfrm>
          <a:prstGeom prst="rect">
            <a:avLst/>
          </a:prstGeom>
          <a:noFill/>
          <a:ln w="0">
            <a:noFill/>
            <a:prstDash val="solid"/>
          </a:ln>
        </p:spPr>
        <p:txBody>
          <a:bodyPr/>
          <a:lstStyle/>
          <a:p>
            <a:pPr algn="l">
              <a:defRPr sz="1800" b="0">
                <a:solidFill>
                  <a:srgbClr val="334155"/>
                </a:solidFill>
              </a:defRPr>
            </a:pPr>
            <a:r>
              <a:rPr>
                <a:solidFill>
                  <a:srgbClr val="334155"/>
                </a:solidFill>
              </a:rPr>
              <a:t>• API Gateway vs ALB</a:t>
            </a:r>
          </a:p>
          <a:p>
            <a:pPr algn="l">
              <a:defRPr sz="1800" b="0">
                <a:solidFill>
                  <a:srgbClr val="334155"/>
                </a:solidFill>
              </a:defRPr>
            </a:pPr>
            <a:r>
              <a:rPr>
                <a:solidFill>
                  <a:srgbClr val="334155"/>
                </a:solidFill>
              </a:rPr>
              <a:t>• REST API vs HTTP API</a:t>
            </a:r>
          </a:p>
          <a:p>
            <a:pPr algn="l">
              <a:defRPr sz="1800" b="0">
                <a:solidFill>
                  <a:srgbClr val="334155"/>
                </a:solidFill>
              </a:defRPr>
            </a:pPr>
            <a:r>
              <a:rPr>
                <a:solidFill>
                  <a:srgbClr val="334155"/>
                </a:solidFill>
              </a:rPr>
              <a:t>• How does API Gateway trigger Lambda?</a:t>
            </a:r>
          </a:p>
        </p:txBody>
      </p:sp>
      <p:sp>
        <p:nvSpPr>
          <p:cNvPr id="8" name="Rectangle 7">
            <a:extLst>
              <a:ext uri="{FF2B5EF4-FFF2-40B4-BE49-F238E27FC236}">
                <a16:creationId xmlns:a16="http://schemas.microsoft.com/office/drawing/2014/main" id="{02DC6064-78F8-43B2-8A6E-CA36461DBB5A}"/>
              </a:ext>
            </a:extLst>
          </p:cNvPr>
          <p:cNvSpPr>
            <a:spLocks noGrp="1"/>
          </p:cNvSpPr>
          <p:nvPr/>
        </p:nvSpPr>
        <p:spPr>
          <a:xfrm>
            <a:off x="6334125"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One-line memory hook</a:t>
            </a:r>
          </a:p>
        </p:txBody>
      </p:sp>
      <p:sp>
        <p:nvSpPr>
          <p:cNvPr id="9" name="Rectangle: Rounded Corners 8">
            <a:extLst>
              <a:ext uri="{FF2B5EF4-FFF2-40B4-BE49-F238E27FC236}">
                <a16:creationId xmlns:a16="http://schemas.microsoft.com/office/drawing/2014/main" id="{AC2C66AF-1A93-4FCD-9D15-D82D82CF2EE0}"/>
              </a:ext>
            </a:extLst>
          </p:cNvPr>
          <p:cNvSpPr>
            <a:spLocks noGrp="1"/>
          </p:cNvSpPr>
          <p:nvPr/>
        </p:nvSpPr>
        <p:spPr>
          <a:xfrm>
            <a:off x="6191249" y="2571751"/>
            <a:ext cx="4286251" cy="1524000"/>
          </a:xfrm>
          <a:prstGeom prst="roundRect">
            <a:avLst>
              <a:gd name="adj" fmla="val 3750"/>
            </a:avLst>
          </a:prstGeom>
          <a:solidFill>
            <a:srgbClr val="12233F"/>
          </a:solidFill>
          <a:ln w="9525">
            <a:solidFill>
              <a:srgbClr val="12233F"/>
            </a:solidFill>
            <a:prstDash val="solid"/>
          </a:ln>
        </p:spPr>
        <p:txBody>
          <a:bodyPr/>
          <a:lstStyle/>
          <a:p>
            <a:endParaRPr lang="en-IN"/>
          </a:p>
        </p:txBody>
      </p:sp>
      <p:sp>
        <p:nvSpPr>
          <p:cNvPr id="10" name="Rectangle 9">
            <a:extLst>
              <a:ext uri="{FF2B5EF4-FFF2-40B4-BE49-F238E27FC236}">
                <a16:creationId xmlns:a16="http://schemas.microsoft.com/office/drawing/2014/main" id="{232971A0-5351-42CA-8975-9952FE4D3710}"/>
              </a:ext>
            </a:extLst>
          </p:cNvPr>
          <p:cNvSpPr>
            <a:spLocks noGrp="1"/>
          </p:cNvSpPr>
          <p:nvPr/>
        </p:nvSpPr>
        <p:spPr>
          <a:xfrm>
            <a:off x="6534151" y="2952749"/>
            <a:ext cx="3619500" cy="781051"/>
          </a:xfrm>
          <a:prstGeom prst="rect">
            <a:avLst/>
          </a:prstGeom>
          <a:noFill/>
          <a:ln w="0">
            <a:noFill/>
            <a:prstDash val="solid"/>
          </a:ln>
        </p:spPr>
        <p:txBody>
          <a:bodyPr/>
          <a:lstStyle/>
          <a:p>
            <a:pPr algn="ctr">
              <a:defRPr sz="2100" b="1">
                <a:solidFill>
                  <a:srgbClr val="FFFFFF"/>
                </a:solidFill>
              </a:defRPr>
            </a:pPr>
            <a:r>
              <a:rPr sz="2100" b="1">
                <a:solidFill>
                  <a:srgbClr val="FFFFFF"/>
                </a:solidFill>
              </a:rPr>
              <a:t>API Gateway is the managed front door for APIs.</a:t>
            </a:r>
          </a:p>
        </p:txBody>
      </p:sp>
    </p:spTree>
    <p:extLst>
      <p:ext uri="{BB962C8B-B14F-4D97-AF65-F5344CB8AC3E}">
        <p14:creationId xmlns:p14="http://schemas.microsoft.com/office/powerpoint/2010/main" val="1792839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ADA987B-541D-4BC7-84A4-F65F67F0F688}"/>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A4336A28-2018-4F9E-81FA-0825C050DC04}"/>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3 · Key management</a:t>
            </a:r>
          </a:p>
        </p:txBody>
      </p:sp>
      <p:sp>
        <p:nvSpPr>
          <p:cNvPr id="3" name="Rectangle 2">
            <a:extLst>
              <a:ext uri="{FF2B5EF4-FFF2-40B4-BE49-F238E27FC236}">
                <a16:creationId xmlns:a16="http://schemas.microsoft.com/office/drawing/2014/main" id="{2D24DA71-7575-47F5-8A7D-7285F5741717}"/>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12</a:t>
            </a:r>
          </a:p>
        </p:txBody>
      </p:sp>
      <p:sp>
        <p:nvSpPr>
          <p:cNvPr id="4" name="Rectangle 3">
            <a:extLst>
              <a:ext uri="{FF2B5EF4-FFF2-40B4-BE49-F238E27FC236}">
                <a16:creationId xmlns:a16="http://schemas.microsoft.com/office/drawing/2014/main" id="{D84CFD06-7D1F-404D-B8E1-C532CF87726C}"/>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AWS KMS: what it is</a:t>
            </a:r>
          </a:p>
        </p:txBody>
      </p:sp>
      <p:sp>
        <p:nvSpPr>
          <p:cNvPr id="5" name="Rectangle 4">
            <a:extLst>
              <a:ext uri="{FF2B5EF4-FFF2-40B4-BE49-F238E27FC236}">
                <a16:creationId xmlns:a16="http://schemas.microsoft.com/office/drawing/2014/main" id="{C7FBF8F6-B094-46E8-9DFF-9F26BE6E079F}"/>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Provides centralized control over cryptographic keys used to protect data.</a:t>
            </a:r>
          </a:p>
        </p:txBody>
      </p:sp>
      <p:sp>
        <p:nvSpPr>
          <p:cNvPr id="6" name="Oval 5">
            <a:extLst>
              <a:ext uri="{FF2B5EF4-FFF2-40B4-BE49-F238E27FC236}">
                <a16:creationId xmlns:a16="http://schemas.microsoft.com/office/drawing/2014/main" id="{E50F2295-5CB2-4456-8806-CE43AC82D64D}"/>
              </a:ext>
            </a:extLst>
          </p:cNvPr>
          <p:cNvSpPr>
            <a:spLocks noGrp="1"/>
          </p:cNvSpPr>
          <p:nvPr/>
        </p:nvSpPr>
        <p:spPr>
          <a:xfrm>
            <a:off x="9239251" y="876300"/>
            <a:ext cx="1066800" cy="1066800"/>
          </a:xfrm>
          <a:prstGeom prst="ellipse">
            <a:avLst/>
          </a:prstGeom>
          <a:solidFill>
            <a:srgbClr val="12233F"/>
          </a:solidFill>
          <a:ln w="28575">
            <a:solidFill>
              <a:srgbClr val="FF9900"/>
            </a:solidFill>
            <a:prstDash val="solid"/>
          </a:ln>
        </p:spPr>
        <p:txBody>
          <a:bodyPr/>
          <a:lstStyle/>
          <a:p>
            <a:endParaRPr lang="en-IN"/>
          </a:p>
        </p:txBody>
      </p:sp>
      <p:sp>
        <p:nvSpPr>
          <p:cNvPr id="7" name="Rectangle 6">
            <a:extLst>
              <a:ext uri="{FF2B5EF4-FFF2-40B4-BE49-F238E27FC236}">
                <a16:creationId xmlns:a16="http://schemas.microsoft.com/office/drawing/2014/main" id="{752887DA-BCC0-4E19-8F55-E608214A9086}"/>
              </a:ext>
            </a:extLst>
          </p:cNvPr>
          <p:cNvSpPr>
            <a:spLocks noGrp="1"/>
          </p:cNvSpPr>
          <p:nvPr/>
        </p:nvSpPr>
        <p:spPr>
          <a:xfrm>
            <a:off x="9239251" y="1133475"/>
            <a:ext cx="1066800" cy="400051"/>
          </a:xfrm>
          <a:prstGeom prst="rect">
            <a:avLst/>
          </a:prstGeom>
          <a:noFill/>
          <a:ln w="0">
            <a:noFill/>
            <a:prstDash val="solid"/>
          </a:ln>
        </p:spPr>
        <p:txBody>
          <a:bodyPr/>
          <a:lstStyle/>
          <a:p>
            <a:pPr algn="ctr">
              <a:defRPr sz="1950" b="1">
                <a:solidFill>
                  <a:srgbClr val="FFFFFF"/>
                </a:solidFill>
              </a:defRPr>
            </a:pPr>
            <a:r>
              <a:rPr sz="1951" b="1">
                <a:solidFill>
                  <a:srgbClr val="FFFFFF"/>
                </a:solidFill>
              </a:rPr>
              <a:t>K</a:t>
            </a:r>
          </a:p>
        </p:txBody>
      </p:sp>
      <p:sp>
        <p:nvSpPr>
          <p:cNvPr id="8" name="Rectangle: Rounded Corners 7">
            <a:extLst>
              <a:ext uri="{FF2B5EF4-FFF2-40B4-BE49-F238E27FC236}">
                <a16:creationId xmlns:a16="http://schemas.microsoft.com/office/drawing/2014/main" id="{A4DD148E-E330-4384-A409-D1FB84A30F6E}"/>
              </a:ext>
            </a:extLst>
          </p:cNvPr>
          <p:cNvSpPr>
            <a:spLocks noGrp="1"/>
          </p:cNvSpPr>
          <p:nvPr/>
        </p:nvSpPr>
        <p:spPr>
          <a:xfrm>
            <a:off x="742951" y="2095501"/>
            <a:ext cx="4762500" cy="2476500"/>
          </a:xfrm>
          <a:prstGeom prst="roundRect">
            <a:avLst>
              <a:gd name="adj" fmla="val 2308"/>
            </a:avLst>
          </a:prstGeom>
          <a:solidFill>
            <a:srgbClr val="FFFFFF"/>
          </a:solidFill>
          <a:ln w="9525">
            <a:solidFill>
              <a:srgbClr val="D7E2EE"/>
            </a:solidFill>
            <a:prstDash val="solid"/>
          </a:ln>
        </p:spPr>
        <p:txBody>
          <a:bodyPr/>
          <a:lstStyle/>
          <a:p>
            <a:endParaRPr lang="en-IN"/>
          </a:p>
        </p:txBody>
      </p:sp>
      <p:sp>
        <p:nvSpPr>
          <p:cNvPr id="9" name="Rectangle 8">
            <a:extLst>
              <a:ext uri="{FF2B5EF4-FFF2-40B4-BE49-F238E27FC236}">
                <a16:creationId xmlns:a16="http://schemas.microsoft.com/office/drawing/2014/main" id="{6E2D557E-DB22-4859-A988-04D90FE4E319}"/>
              </a:ext>
            </a:extLst>
          </p:cNvPr>
          <p:cNvSpPr>
            <a:spLocks noGrp="1"/>
          </p:cNvSpPr>
          <p:nvPr/>
        </p:nvSpPr>
        <p:spPr>
          <a:xfrm>
            <a:off x="1009651" y="2362200"/>
            <a:ext cx="38100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Use it when you need to</a:t>
            </a:r>
          </a:p>
        </p:txBody>
      </p:sp>
      <p:sp>
        <p:nvSpPr>
          <p:cNvPr id="10" name="Rectangle 9">
            <a:extLst>
              <a:ext uri="{FF2B5EF4-FFF2-40B4-BE49-F238E27FC236}">
                <a16:creationId xmlns:a16="http://schemas.microsoft.com/office/drawing/2014/main" id="{003C1FC6-2EB7-485C-83B2-1AF12C273808}"/>
              </a:ext>
            </a:extLst>
          </p:cNvPr>
          <p:cNvSpPr>
            <a:spLocks noGrp="1"/>
          </p:cNvSpPr>
          <p:nvPr/>
        </p:nvSpPr>
        <p:spPr>
          <a:xfrm>
            <a:off x="1066801" y="2895600"/>
            <a:ext cx="4000500" cy="1238251"/>
          </a:xfrm>
          <a:prstGeom prst="rect">
            <a:avLst/>
          </a:prstGeom>
          <a:noFill/>
          <a:ln w="0">
            <a:noFill/>
            <a:prstDash val="solid"/>
          </a:ln>
        </p:spPr>
        <p:txBody>
          <a:bodyPr/>
          <a:lstStyle/>
          <a:p>
            <a:pPr algn="l">
              <a:defRPr sz="1650" b="0">
                <a:solidFill>
                  <a:srgbClr val="334155"/>
                </a:solidFill>
              </a:defRPr>
            </a:pPr>
            <a:r>
              <a:rPr sz="1651">
                <a:solidFill>
                  <a:srgbClr val="334155"/>
                </a:solidFill>
              </a:rPr>
              <a:t>• Encrypt S3 objects</a:t>
            </a:r>
          </a:p>
          <a:p>
            <a:pPr algn="l">
              <a:defRPr sz="1650" b="0">
                <a:solidFill>
                  <a:srgbClr val="334155"/>
                </a:solidFill>
              </a:defRPr>
            </a:pPr>
            <a:r>
              <a:rPr sz="1651">
                <a:solidFill>
                  <a:srgbClr val="334155"/>
                </a:solidFill>
              </a:rPr>
              <a:t>• Encrypt databases</a:t>
            </a:r>
          </a:p>
          <a:p>
            <a:pPr algn="l">
              <a:defRPr sz="1650" b="0">
                <a:solidFill>
                  <a:srgbClr val="334155"/>
                </a:solidFill>
              </a:defRPr>
            </a:pPr>
            <a:r>
              <a:rPr sz="1651">
                <a:solidFill>
                  <a:srgbClr val="334155"/>
                </a:solidFill>
              </a:rPr>
              <a:t>• Protect secrets</a:t>
            </a:r>
          </a:p>
          <a:p>
            <a:pPr algn="l">
              <a:defRPr sz="1650" b="0">
                <a:solidFill>
                  <a:srgbClr val="334155"/>
                </a:solidFill>
              </a:defRPr>
            </a:pPr>
            <a:r>
              <a:rPr sz="1651">
                <a:solidFill>
                  <a:srgbClr val="334155"/>
                </a:solidFill>
              </a:rPr>
              <a:t>• Application-level encryption</a:t>
            </a:r>
          </a:p>
        </p:txBody>
      </p:sp>
      <p:sp>
        <p:nvSpPr>
          <p:cNvPr id="11" name="Rectangle: Rounded Corners 10">
            <a:extLst>
              <a:ext uri="{FF2B5EF4-FFF2-40B4-BE49-F238E27FC236}">
                <a16:creationId xmlns:a16="http://schemas.microsoft.com/office/drawing/2014/main" id="{4CC81DA0-1A4F-4309-AC6C-CD9521B0B08B}"/>
              </a:ext>
            </a:extLst>
          </p:cNvPr>
          <p:cNvSpPr>
            <a:spLocks noGrp="1"/>
          </p:cNvSpPr>
          <p:nvPr/>
        </p:nvSpPr>
        <p:spPr>
          <a:xfrm>
            <a:off x="6096001" y="2095501"/>
            <a:ext cx="4381500" cy="2476500"/>
          </a:xfrm>
          <a:prstGeom prst="roundRect">
            <a:avLst>
              <a:gd name="adj" fmla="val 2308"/>
            </a:avLst>
          </a:prstGeom>
          <a:solidFill>
            <a:srgbClr val="EAF3FC"/>
          </a:solidFill>
          <a:ln w="9525">
            <a:solidFill>
              <a:srgbClr val="B7D4EF"/>
            </a:solidFill>
            <a:prstDash val="solid"/>
          </a:ln>
        </p:spPr>
        <p:txBody>
          <a:bodyPr/>
          <a:lstStyle/>
          <a:p>
            <a:endParaRPr lang="en-IN"/>
          </a:p>
        </p:txBody>
      </p:sp>
      <p:sp>
        <p:nvSpPr>
          <p:cNvPr id="12" name="Rectangle 11">
            <a:extLst>
              <a:ext uri="{FF2B5EF4-FFF2-40B4-BE49-F238E27FC236}">
                <a16:creationId xmlns:a16="http://schemas.microsoft.com/office/drawing/2014/main" id="{1F22E890-D0AD-4952-8A75-DDD1AB9C1769}"/>
              </a:ext>
            </a:extLst>
          </p:cNvPr>
          <p:cNvSpPr>
            <a:spLocks noGrp="1"/>
          </p:cNvSpPr>
          <p:nvPr/>
        </p:nvSpPr>
        <p:spPr>
          <a:xfrm>
            <a:off x="6381751" y="2362200"/>
            <a:ext cx="3619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Simple class explanation</a:t>
            </a:r>
          </a:p>
        </p:txBody>
      </p:sp>
      <p:sp>
        <p:nvSpPr>
          <p:cNvPr id="13" name="Rectangle 12">
            <a:extLst>
              <a:ext uri="{FF2B5EF4-FFF2-40B4-BE49-F238E27FC236}">
                <a16:creationId xmlns:a16="http://schemas.microsoft.com/office/drawing/2014/main" id="{5A2EFDCF-6788-45F8-80C2-41CA0837D4E2}"/>
              </a:ext>
            </a:extLst>
          </p:cNvPr>
          <p:cNvSpPr>
            <a:spLocks noGrp="1"/>
          </p:cNvSpPr>
          <p:nvPr/>
        </p:nvSpPr>
        <p:spPr>
          <a:xfrm>
            <a:off x="6381751" y="2905125"/>
            <a:ext cx="3619500" cy="1143000"/>
          </a:xfrm>
          <a:prstGeom prst="rect">
            <a:avLst/>
          </a:prstGeom>
          <a:noFill/>
          <a:ln w="0">
            <a:noFill/>
            <a:prstDash val="solid"/>
          </a:ln>
        </p:spPr>
        <p:txBody>
          <a:bodyPr/>
          <a:lstStyle/>
          <a:p>
            <a:pPr algn="l">
              <a:defRPr sz="1800" b="0">
                <a:solidFill>
                  <a:srgbClr val="334155"/>
                </a:solidFill>
              </a:defRPr>
            </a:pPr>
            <a:r>
              <a:rPr>
                <a:solidFill>
                  <a:srgbClr val="334155"/>
                </a:solidFill>
              </a:rPr>
              <a:t>Like a secure key vault that controls who can use encryption keys.</a:t>
            </a:r>
          </a:p>
        </p:txBody>
      </p:sp>
    </p:spTree>
    <p:extLst>
      <p:ext uri="{BB962C8B-B14F-4D97-AF65-F5344CB8AC3E}">
        <p14:creationId xmlns:p14="http://schemas.microsoft.com/office/powerpoint/2010/main" val="982556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6B0512A-3A52-4350-9C50-3F503EA866EF}"/>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609A6E48-47A5-41BC-8FCD-6D9862A10E7C}"/>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3 · Architecture</a:t>
            </a:r>
          </a:p>
        </p:txBody>
      </p:sp>
      <p:sp>
        <p:nvSpPr>
          <p:cNvPr id="3" name="Rectangle 2">
            <a:extLst>
              <a:ext uri="{FF2B5EF4-FFF2-40B4-BE49-F238E27FC236}">
                <a16:creationId xmlns:a16="http://schemas.microsoft.com/office/drawing/2014/main" id="{E4CFF9E8-2352-4DC8-9CFB-B42971EFFDC0}"/>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13</a:t>
            </a:r>
          </a:p>
        </p:txBody>
      </p:sp>
      <p:sp>
        <p:nvSpPr>
          <p:cNvPr id="4" name="Rectangle 3">
            <a:extLst>
              <a:ext uri="{FF2B5EF4-FFF2-40B4-BE49-F238E27FC236}">
                <a16:creationId xmlns:a16="http://schemas.microsoft.com/office/drawing/2014/main" id="{0C6B94EF-714E-46FE-AD82-C215BB7C12EA}"/>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AWS KMS architecture</a:t>
            </a:r>
          </a:p>
        </p:txBody>
      </p:sp>
      <p:sp>
        <p:nvSpPr>
          <p:cNvPr id="5" name="Rectangle 4">
            <a:extLst>
              <a:ext uri="{FF2B5EF4-FFF2-40B4-BE49-F238E27FC236}">
                <a16:creationId xmlns:a16="http://schemas.microsoft.com/office/drawing/2014/main" id="{CBB2EDB3-586E-4D85-9297-D8734DC08B67}"/>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Follow the request or data path from left to right.</a:t>
            </a:r>
          </a:p>
        </p:txBody>
      </p:sp>
      <p:sp>
        <p:nvSpPr>
          <p:cNvPr id="6" name="Rectangle: Rounded Corners 5">
            <a:extLst>
              <a:ext uri="{FF2B5EF4-FFF2-40B4-BE49-F238E27FC236}">
                <a16:creationId xmlns:a16="http://schemas.microsoft.com/office/drawing/2014/main" id="{52E77C0D-6986-4B37-8D61-CD9E72D99EAA}"/>
              </a:ext>
            </a:extLst>
          </p:cNvPr>
          <p:cNvSpPr>
            <a:spLocks noGrp="1"/>
          </p:cNvSpPr>
          <p:nvPr/>
        </p:nvSpPr>
        <p:spPr>
          <a:xfrm>
            <a:off x="857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3EB92578-D629-4ACB-81BC-96541D133C4E}"/>
              </a:ext>
            </a:extLst>
          </p:cNvPr>
          <p:cNvSpPr>
            <a:spLocks noGrp="1"/>
          </p:cNvSpPr>
          <p:nvPr/>
        </p:nvSpPr>
        <p:spPr>
          <a:xfrm>
            <a:off x="952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Application or AWS service</a:t>
            </a:r>
          </a:p>
        </p:txBody>
      </p:sp>
      <p:sp>
        <p:nvSpPr>
          <p:cNvPr id="8" name="Arrow: Right 7">
            <a:extLst>
              <a:ext uri="{FF2B5EF4-FFF2-40B4-BE49-F238E27FC236}">
                <a16:creationId xmlns:a16="http://schemas.microsoft.com/office/drawing/2014/main" id="{1AF67E65-FC8C-4E57-82DD-80D62AE38019}"/>
              </a:ext>
            </a:extLst>
          </p:cNvPr>
          <p:cNvSpPr>
            <a:spLocks noGrp="1"/>
          </p:cNvSpPr>
          <p:nvPr/>
        </p:nvSpPr>
        <p:spPr>
          <a:xfrm>
            <a:off x="2724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E2A54F3F-182F-4BD5-8453-C304A9B7A0C1}"/>
              </a:ext>
            </a:extLst>
          </p:cNvPr>
          <p:cNvSpPr>
            <a:spLocks noGrp="1"/>
          </p:cNvSpPr>
          <p:nvPr/>
        </p:nvSpPr>
        <p:spPr>
          <a:xfrm>
            <a:off x="2952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A618A899-918F-4EFB-906A-7BAB01AFA9F8}"/>
              </a:ext>
            </a:extLst>
          </p:cNvPr>
          <p:cNvSpPr>
            <a:spLocks noGrp="1"/>
          </p:cNvSpPr>
          <p:nvPr/>
        </p:nvSpPr>
        <p:spPr>
          <a:xfrm>
            <a:off x="3048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KMS key policy</a:t>
            </a:r>
          </a:p>
        </p:txBody>
      </p:sp>
      <p:sp>
        <p:nvSpPr>
          <p:cNvPr id="11" name="Arrow: Right 10">
            <a:extLst>
              <a:ext uri="{FF2B5EF4-FFF2-40B4-BE49-F238E27FC236}">
                <a16:creationId xmlns:a16="http://schemas.microsoft.com/office/drawing/2014/main" id="{71BE3F51-119F-47A9-874C-331E29C8702D}"/>
              </a:ext>
            </a:extLst>
          </p:cNvPr>
          <p:cNvSpPr>
            <a:spLocks noGrp="1"/>
          </p:cNvSpPr>
          <p:nvPr/>
        </p:nvSpPr>
        <p:spPr>
          <a:xfrm>
            <a:off x="4819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44707017-F535-492E-860A-E8C343421698}"/>
              </a:ext>
            </a:extLst>
          </p:cNvPr>
          <p:cNvSpPr>
            <a:spLocks noGrp="1"/>
          </p:cNvSpPr>
          <p:nvPr/>
        </p:nvSpPr>
        <p:spPr>
          <a:xfrm>
            <a:off x="5048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9E064CFD-730C-4CD1-95DD-4108743046E2}"/>
              </a:ext>
            </a:extLst>
          </p:cNvPr>
          <p:cNvSpPr>
            <a:spLocks noGrp="1"/>
          </p:cNvSpPr>
          <p:nvPr/>
        </p:nvSpPr>
        <p:spPr>
          <a:xfrm>
            <a:off x="5143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AWS KMS</a:t>
            </a:r>
          </a:p>
        </p:txBody>
      </p:sp>
      <p:sp>
        <p:nvSpPr>
          <p:cNvPr id="14" name="Arrow: Right 13">
            <a:extLst>
              <a:ext uri="{FF2B5EF4-FFF2-40B4-BE49-F238E27FC236}">
                <a16:creationId xmlns:a16="http://schemas.microsoft.com/office/drawing/2014/main" id="{C0053A6E-F05A-4F19-BC85-A56663D26436}"/>
              </a:ext>
            </a:extLst>
          </p:cNvPr>
          <p:cNvSpPr>
            <a:spLocks noGrp="1"/>
          </p:cNvSpPr>
          <p:nvPr/>
        </p:nvSpPr>
        <p:spPr>
          <a:xfrm>
            <a:off x="6915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FFBEEEF4-09A6-4F95-8515-1D4B5FFC235E}"/>
              </a:ext>
            </a:extLst>
          </p:cNvPr>
          <p:cNvSpPr>
            <a:spLocks noGrp="1"/>
          </p:cNvSpPr>
          <p:nvPr/>
        </p:nvSpPr>
        <p:spPr>
          <a:xfrm>
            <a:off x="7143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3D6440DC-A834-4F49-8208-E669FAA1C842}"/>
              </a:ext>
            </a:extLst>
          </p:cNvPr>
          <p:cNvSpPr>
            <a:spLocks noGrp="1"/>
          </p:cNvSpPr>
          <p:nvPr/>
        </p:nvSpPr>
        <p:spPr>
          <a:xfrm>
            <a:off x="7239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Encrypt / decrypt operation</a:t>
            </a:r>
          </a:p>
        </p:txBody>
      </p:sp>
      <p:sp>
        <p:nvSpPr>
          <p:cNvPr id="17" name="Arrow: Right 16">
            <a:extLst>
              <a:ext uri="{FF2B5EF4-FFF2-40B4-BE49-F238E27FC236}">
                <a16:creationId xmlns:a16="http://schemas.microsoft.com/office/drawing/2014/main" id="{30834898-9A06-444A-B046-53D2485743F7}"/>
              </a:ext>
            </a:extLst>
          </p:cNvPr>
          <p:cNvSpPr>
            <a:spLocks noGrp="1"/>
          </p:cNvSpPr>
          <p:nvPr/>
        </p:nvSpPr>
        <p:spPr>
          <a:xfrm>
            <a:off x="9010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6755AE75-4C23-4795-AC2E-E886595D1BCB}"/>
              </a:ext>
            </a:extLst>
          </p:cNvPr>
          <p:cNvSpPr>
            <a:spLocks noGrp="1"/>
          </p:cNvSpPr>
          <p:nvPr/>
        </p:nvSpPr>
        <p:spPr>
          <a:xfrm>
            <a:off x="9239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7DF570E4-8A55-455B-B0B6-830E6D6EF01C}"/>
              </a:ext>
            </a:extLst>
          </p:cNvPr>
          <p:cNvSpPr>
            <a:spLocks noGrp="1"/>
          </p:cNvSpPr>
          <p:nvPr/>
        </p:nvSpPr>
        <p:spPr>
          <a:xfrm>
            <a:off x="9334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Protected data</a:t>
            </a:r>
          </a:p>
        </p:txBody>
      </p:sp>
      <p:sp>
        <p:nvSpPr>
          <p:cNvPr id="20" name="Rectangle 19">
            <a:extLst>
              <a:ext uri="{FF2B5EF4-FFF2-40B4-BE49-F238E27FC236}">
                <a16:creationId xmlns:a16="http://schemas.microsoft.com/office/drawing/2014/main" id="{E687F40F-6367-46E2-9A23-DA8E0C85902D}"/>
              </a:ext>
            </a:extLst>
          </p:cNvPr>
          <p:cNvSpPr>
            <a:spLocks noGrp="1"/>
          </p:cNvSpPr>
          <p:nvPr/>
        </p:nvSpPr>
        <p:spPr>
          <a:xfrm>
            <a:off x="952500" y="4191000"/>
            <a:ext cx="3429000" cy="323851"/>
          </a:xfrm>
          <a:prstGeom prst="rect">
            <a:avLst/>
          </a:prstGeom>
          <a:noFill/>
          <a:ln w="0">
            <a:noFill/>
            <a:prstDash val="solid"/>
          </a:ln>
        </p:spPr>
        <p:txBody>
          <a:bodyPr/>
          <a:lstStyle/>
          <a:p>
            <a:pPr algn="l">
              <a:defRPr sz="1950" b="1">
                <a:solidFill>
                  <a:srgbClr val="12233F"/>
                </a:solidFill>
              </a:defRPr>
            </a:pPr>
            <a:r>
              <a:rPr sz="1951" b="1">
                <a:solidFill>
                  <a:srgbClr val="12233F"/>
                </a:solidFill>
              </a:rPr>
              <a:t>Architecture explanation</a:t>
            </a:r>
          </a:p>
        </p:txBody>
      </p:sp>
      <p:sp>
        <p:nvSpPr>
          <p:cNvPr id="21" name="Rectangle 20">
            <a:extLst>
              <a:ext uri="{FF2B5EF4-FFF2-40B4-BE49-F238E27FC236}">
                <a16:creationId xmlns:a16="http://schemas.microsoft.com/office/drawing/2014/main" id="{7C2C4B49-ED0C-4DE0-95DA-198297AAFFAB}"/>
              </a:ext>
            </a:extLst>
          </p:cNvPr>
          <p:cNvSpPr>
            <a:spLocks noGrp="1"/>
          </p:cNvSpPr>
          <p:nvPr/>
        </p:nvSpPr>
        <p:spPr>
          <a:xfrm>
            <a:off x="952500" y="4667251"/>
            <a:ext cx="9144000" cy="1066800"/>
          </a:xfrm>
          <a:prstGeom prst="rect">
            <a:avLst/>
          </a:prstGeom>
          <a:noFill/>
          <a:ln w="0">
            <a:noFill/>
            <a:prstDash val="solid"/>
          </a:ln>
        </p:spPr>
        <p:txBody>
          <a:bodyPr/>
          <a:lstStyle/>
          <a:p>
            <a:pPr algn="l">
              <a:defRPr sz="1650" b="0">
                <a:solidFill>
                  <a:srgbClr val="334155"/>
                </a:solidFill>
              </a:defRPr>
            </a:pPr>
            <a:r>
              <a:rPr sz="1651">
                <a:solidFill>
                  <a:srgbClr val="334155"/>
                </a:solidFill>
              </a:rPr>
              <a:t>• AWS KMS owns the middle responsibility in this flow.</a:t>
            </a:r>
          </a:p>
          <a:p>
            <a:pPr algn="l">
              <a:defRPr sz="1650" b="0">
                <a:solidFill>
                  <a:srgbClr val="334155"/>
                </a:solidFill>
              </a:defRPr>
            </a:pPr>
            <a:r>
              <a:rPr sz="1651">
                <a:solidFill>
                  <a:srgbClr val="334155"/>
                </a:solidFill>
              </a:rPr>
              <a:t>• IAM controls who can call or use the service.</a:t>
            </a:r>
          </a:p>
          <a:p>
            <a:pPr algn="l">
              <a:defRPr sz="1650" b="0">
                <a:solidFill>
                  <a:srgbClr val="334155"/>
                </a:solidFill>
              </a:defRPr>
            </a:pPr>
            <a:r>
              <a:rPr sz="1651">
                <a:solidFill>
                  <a:srgbClr val="334155"/>
                </a:solidFill>
              </a:rPr>
              <a:t>• CloudWatch and CloudTrail help with monitoring and audit trails.</a:t>
            </a:r>
          </a:p>
        </p:txBody>
      </p:sp>
    </p:spTree>
    <p:extLst>
      <p:ext uri="{BB962C8B-B14F-4D97-AF65-F5344CB8AC3E}">
        <p14:creationId xmlns:p14="http://schemas.microsoft.com/office/powerpoint/2010/main" val="482168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A95FA2D3-EFF7-45DB-9C61-D6A8DC1BCEDE}"/>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4D499771-5E04-4F19-AC8F-F9E8123E4EEC}"/>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3 · Process</a:t>
            </a:r>
          </a:p>
        </p:txBody>
      </p:sp>
      <p:sp>
        <p:nvSpPr>
          <p:cNvPr id="3" name="Rectangle 2">
            <a:extLst>
              <a:ext uri="{FF2B5EF4-FFF2-40B4-BE49-F238E27FC236}">
                <a16:creationId xmlns:a16="http://schemas.microsoft.com/office/drawing/2014/main" id="{1F50A50B-CA97-4185-B6FF-B5174FF44B6A}"/>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14</a:t>
            </a:r>
          </a:p>
        </p:txBody>
      </p:sp>
      <p:sp>
        <p:nvSpPr>
          <p:cNvPr id="4" name="Rectangle 3">
            <a:extLst>
              <a:ext uri="{FF2B5EF4-FFF2-40B4-BE49-F238E27FC236}">
                <a16:creationId xmlns:a16="http://schemas.microsoft.com/office/drawing/2014/main" id="{493B07C9-9267-407E-842C-F5BD2C1716DE}"/>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How AWS KMS works in practice</a:t>
            </a:r>
          </a:p>
        </p:txBody>
      </p:sp>
      <p:sp>
        <p:nvSpPr>
          <p:cNvPr id="5" name="Rectangle 4">
            <a:extLst>
              <a:ext uri="{FF2B5EF4-FFF2-40B4-BE49-F238E27FC236}">
                <a16:creationId xmlns:a16="http://schemas.microsoft.com/office/drawing/2014/main" id="{C6B7111A-17E7-4E47-BC52-7AC7637BB2E2}"/>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Use this as the step-by-step explanation during the meeting.</a:t>
            </a:r>
          </a:p>
        </p:txBody>
      </p:sp>
      <p:sp>
        <p:nvSpPr>
          <p:cNvPr id="6" name="Rectangle: Rounded Corners 5">
            <a:extLst>
              <a:ext uri="{FF2B5EF4-FFF2-40B4-BE49-F238E27FC236}">
                <a16:creationId xmlns:a16="http://schemas.microsoft.com/office/drawing/2014/main" id="{912FB3EE-3F5C-4342-9B9A-5ACF361EAEA5}"/>
              </a:ext>
            </a:extLst>
          </p:cNvPr>
          <p:cNvSpPr>
            <a:spLocks noGrp="1"/>
          </p:cNvSpPr>
          <p:nvPr/>
        </p:nvSpPr>
        <p:spPr>
          <a:xfrm>
            <a:off x="876301" y="19526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D2464ACB-D836-4AF8-9CD7-C10CCF31B826}"/>
              </a:ext>
            </a:extLst>
          </p:cNvPr>
          <p:cNvSpPr>
            <a:spLocks noGrp="1"/>
          </p:cNvSpPr>
          <p:nvPr/>
        </p:nvSpPr>
        <p:spPr>
          <a:xfrm>
            <a:off x="971549" y="20669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Create KMS key</a:t>
            </a:r>
          </a:p>
        </p:txBody>
      </p:sp>
      <p:sp>
        <p:nvSpPr>
          <p:cNvPr id="8" name="Arrow: Down 7">
            <a:extLst>
              <a:ext uri="{FF2B5EF4-FFF2-40B4-BE49-F238E27FC236}">
                <a16:creationId xmlns:a16="http://schemas.microsoft.com/office/drawing/2014/main" id="{9C67CFF1-087F-4DB1-953E-802B978E892D}"/>
              </a:ext>
            </a:extLst>
          </p:cNvPr>
          <p:cNvSpPr>
            <a:spLocks noGrp="1"/>
          </p:cNvSpPr>
          <p:nvPr/>
        </p:nvSpPr>
        <p:spPr>
          <a:xfrm>
            <a:off x="3019426" y="2457449"/>
            <a:ext cx="190500" cy="95251"/>
          </a:xfrm>
          <a:prstGeom prst="down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3978DC98-86DA-4DB9-9582-01EA974B026E}"/>
              </a:ext>
            </a:extLst>
          </p:cNvPr>
          <p:cNvSpPr>
            <a:spLocks noGrp="1"/>
          </p:cNvSpPr>
          <p:nvPr/>
        </p:nvSpPr>
        <p:spPr>
          <a:xfrm>
            <a:off x="876301" y="26003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D7D303C2-C0D6-4450-AF17-19759410F452}"/>
              </a:ext>
            </a:extLst>
          </p:cNvPr>
          <p:cNvSpPr>
            <a:spLocks noGrp="1"/>
          </p:cNvSpPr>
          <p:nvPr/>
        </p:nvSpPr>
        <p:spPr>
          <a:xfrm>
            <a:off x="971549" y="27146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Set key policy</a:t>
            </a:r>
          </a:p>
        </p:txBody>
      </p:sp>
      <p:sp>
        <p:nvSpPr>
          <p:cNvPr id="11" name="Arrow: Down 10">
            <a:extLst>
              <a:ext uri="{FF2B5EF4-FFF2-40B4-BE49-F238E27FC236}">
                <a16:creationId xmlns:a16="http://schemas.microsoft.com/office/drawing/2014/main" id="{630313FC-A34E-44F0-8607-A28A988E1A1C}"/>
              </a:ext>
            </a:extLst>
          </p:cNvPr>
          <p:cNvSpPr>
            <a:spLocks noGrp="1"/>
          </p:cNvSpPr>
          <p:nvPr/>
        </p:nvSpPr>
        <p:spPr>
          <a:xfrm>
            <a:off x="3019426" y="3105149"/>
            <a:ext cx="190500" cy="95251"/>
          </a:xfrm>
          <a:prstGeom prst="down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687A447D-C4FC-4C68-A645-4DFDA0269DD3}"/>
              </a:ext>
            </a:extLst>
          </p:cNvPr>
          <p:cNvSpPr>
            <a:spLocks noGrp="1"/>
          </p:cNvSpPr>
          <p:nvPr/>
        </p:nvSpPr>
        <p:spPr>
          <a:xfrm>
            <a:off x="876301" y="32480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1063731C-7898-4623-815A-9F927FDCA6EC}"/>
              </a:ext>
            </a:extLst>
          </p:cNvPr>
          <p:cNvSpPr>
            <a:spLocks noGrp="1"/>
          </p:cNvSpPr>
          <p:nvPr/>
        </p:nvSpPr>
        <p:spPr>
          <a:xfrm>
            <a:off x="971549" y="33623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Grant usage permissions</a:t>
            </a:r>
          </a:p>
        </p:txBody>
      </p:sp>
      <p:sp>
        <p:nvSpPr>
          <p:cNvPr id="14" name="Arrow: Down 13">
            <a:extLst>
              <a:ext uri="{FF2B5EF4-FFF2-40B4-BE49-F238E27FC236}">
                <a16:creationId xmlns:a16="http://schemas.microsoft.com/office/drawing/2014/main" id="{8E1F8603-7FEB-4424-968D-A7A4F746B6D8}"/>
              </a:ext>
            </a:extLst>
          </p:cNvPr>
          <p:cNvSpPr>
            <a:spLocks noGrp="1"/>
          </p:cNvSpPr>
          <p:nvPr/>
        </p:nvSpPr>
        <p:spPr>
          <a:xfrm>
            <a:off x="3019426" y="3752849"/>
            <a:ext cx="190500" cy="95251"/>
          </a:xfrm>
          <a:prstGeom prst="down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79305FD1-E9CE-4DCD-A11C-15F5B59EF208}"/>
              </a:ext>
            </a:extLst>
          </p:cNvPr>
          <p:cNvSpPr>
            <a:spLocks noGrp="1"/>
          </p:cNvSpPr>
          <p:nvPr/>
        </p:nvSpPr>
        <p:spPr>
          <a:xfrm>
            <a:off x="876301" y="38957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5AB2B0C8-BC93-43F4-B0A2-137175779295}"/>
              </a:ext>
            </a:extLst>
          </p:cNvPr>
          <p:cNvSpPr>
            <a:spLocks noGrp="1"/>
          </p:cNvSpPr>
          <p:nvPr/>
        </p:nvSpPr>
        <p:spPr>
          <a:xfrm>
            <a:off x="971549" y="40100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Encrypt data or data keys</a:t>
            </a:r>
          </a:p>
        </p:txBody>
      </p:sp>
      <p:sp>
        <p:nvSpPr>
          <p:cNvPr id="17" name="Arrow: Down 16">
            <a:extLst>
              <a:ext uri="{FF2B5EF4-FFF2-40B4-BE49-F238E27FC236}">
                <a16:creationId xmlns:a16="http://schemas.microsoft.com/office/drawing/2014/main" id="{19E71EF6-DB0E-4870-A0D7-FDC5822008F3}"/>
              </a:ext>
            </a:extLst>
          </p:cNvPr>
          <p:cNvSpPr>
            <a:spLocks noGrp="1"/>
          </p:cNvSpPr>
          <p:nvPr/>
        </p:nvSpPr>
        <p:spPr>
          <a:xfrm>
            <a:off x="3019426" y="4400549"/>
            <a:ext cx="190500" cy="95251"/>
          </a:xfrm>
          <a:prstGeom prst="down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E7181406-A8B0-424A-8663-2A6A94A808E4}"/>
              </a:ext>
            </a:extLst>
          </p:cNvPr>
          <p:cNvSpPr>
            <a:spLocks noGrp="1"/>
          </p:cNvSpPr>
          <p:nvPr/>
        </p:nvSpPr>
        <p:spPr>
          <a:xfrm>
            <a:off x="876301" y="45434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2369B669-4E69-4A71-BF93-EAD2B1B9C431}"/>
              </a:ext>
            </a:extLst>
          </p:cNvPr>
          <p:cNvSpPr>
            <a:spLocks noGrp="1"/>
          </p:cNvSpPr>
          <p:nvPr/>
        </p:nvSpPr>
        <p:spPr>
          <a:xfrm>
            <a:off x="971549" y="46577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Audit use in CloudTrail</a:t>
            </a:r>
          </a:p>
        </p:txBody>
      </p:sp>
      <p:sp>
        <p:nvSpPr>
          <p:cNvPr id="20" name="Rectangle: Rounded Corners 19">
            <a:extLst>
              <a:ext uri="{FF2B5EF4-FFF2-40B4-BE49-F238E27FC236}">
                <a16:creationId xmlns:a16="http://schemas.microsoft.com/office/drawing/2014/main" id="{817E1105-471C-42A9-9454-F45FB4584FB7}"/>
              </a:ext>
            </a:extLst>
          </p:cNvPr>
          <p:cNvSpPr>
            <a:spLocks noGrp="1"/>
          </p:cNvSpPr>
          <p:nvPr/>
        </p:nvSpPr>
        <p:spPr>
          <a:xfrm>
            <a:off x="6191250" y="2000251"/>
            <a:ext cx="4095751" cy="2286000"/>
          </a:xfrm>
          <a:prstGeom prst="roundRect">
            <a:avLst>
              <a:gd name="adj" fmla="val 2500"/>
            </a:avLst>
          </a:prstGeom>
          <a:solidFill>
            <a:srgbClr val="FFFFFF"/>
          </a:solidFill>
          <a:ln w="9525">
            <a:solidFill>
              <a:srgbClr val="D7E2EE"/>
            </a:solidFill>
            <a:prstDash val="solid"/>
          </a:ln>
        </p:spPr>
        <p:txBody>
          <a:bodyPr/>
          <a:lstStyle/>
          <a:p>
            <a:endParaRPr lang="en-IN"/>
          </a:p>
        </p:txBody>
      </p:sp>
      <p:sp>
        <p:nvSpPr>
          <p:cNvPr id="21" name="Rectangle 20">
            <a:extLst>
              <a:ext uri="{FF2B5EF4-FFF2-40B4-BE49-F238E27FC236}">
                <a16:creationId xmlns:a16="http://schemas.microsoft.com/office/drawing/2014/main" id="{CDE74D6B-C7A3-4BCF-BE00-6352BF7EDFC6}"/>
              </a:ext>
            </a:extLst>
          </p:cNvPr>
          <p:cNvSpPr>
            <a:spLocks noGrp="1"/>
          </p:cNvSpPr>
          <p:nvPr/>
        </p:nvSpPr>
        <p:spPr>
          <a:xfrm>
            <a:off x="6477001" y="2266951"/>
            <a:ext cx="2857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Best practices</a:t>
            </a:r>
          </a:p>
        </p:txBody>
      </p:sp>
      <p:sp>
        <p:nvSpPr>
          <p:cNvPr id="22" name="Rectangle 21">
            <a:extLst>
              <a:ext uri="{FF2B5EF4-FFF2-40B4-BE49-F238E27FC236}">
                <a16:creationId xmlns:a16="http://schemas.microsoft.com/office/drawing/2014/main" id="{421BA102-942A-4C38-A671-1E05D8304D64}"/>
              </a:ext>
            </a:extLst>
          </p:cNvPr>
          <p:cNvSpPr>
            <a:spLocks noGrp="1"/>
          </p:cNvSpPr>
          <p:nvPr/>
        </p:nvSpPr>
        <p:spPr>
          <a:xfrm>
            <a:off x="6477001" y="2819401"/>
            <a:ext cx="3333751" cy="1104900"/>
          </a:xfrm>
          <a:prstGeom prst="rect">
            <a:avLst/>
          </a:prstGeom>
          <a:noFill/>
          <a:ln w="0">
            <a:noFill/>
            <a:prstDash val="solid"/>
          </a:ln>
        </p:spPr>
        <p:txBody>
          <a:bodyPr/>
          <a:lstStyle/>
          <a:p>
            <a:pPr algn="l">
              <a:defRPr sz="1500" b="0">
                <a:solidFill>
                  <a:srgbClr val="334155"/>
                </a:solidFill>
              </a:defRPr>
            </a:pPr>
            <a:r>
              <a:rPr sz="1500">
                <a:solidFill>
                  <a:srgbClr val="334155"/>
                </a:solidFill>
              </a:rPr>
              <a:t>• Separate key admins from key users</a:t>
            </a:r>
          </a:p>
          <a:p>
            <a:pPr algn="l">
              <a:defRPr sz="1500" b="0">
                <a:solidFill>
                  <a:srgbClr val="334155"/>
                </a:solidFill>
              </a:defRPr>
            </a:pPr>
            <a:r>
              <a:rPr sz="1500">
                <a:solidFill>
                  <a:srgbClr val="334155"/>
                </a:solidFill>
              </a:rPr>
              <a:t>• Prefer customer managed keys when control is needed</a:t>
            </a:r>
          </a:p>
          <a:p>
            <a:pPr algn="l">
              <a:defRPr sz="1500" b="0">
                <a:solidFill>
                  <a:srgbClr val="334155"/>
                </a:solidFill>
              </a:defRPr>
            </a:pPr>
            <a:r>
              <a:rPr sz="1500">
                <a:solidFill>
                  <a:srgbClr val="334155"/>
                </a:solidFill>
              </a:rPr>
              <a:t>• Review key policies</a:t>
            </a:r>
          </a:p>
          <a:p>
            <a:pPr algn="l">
              <a:defRPr sz="1500" b="0">
                <a:solidFill>
                  <a:srgbClr val="334155"/>
                </a:solidFill>
              </a:defRPr>
            </a:pPr>
            <a:r>
              <a:rPr sz="1500">
                <a:solidFill>
                  <a:srgbClr val="334155"/>
                </a:solidFill>
              </a:rPr>
              <a:t>• Audit key usage</a:t>
            </a:r>
          </a:p>
        </p:txBody>
      </p:sp>
      <p:sp>
        <p:nvSpPr>
          <p:cNvPr id="23" name="Rectangle: Rounded Corners 22">
            <a:extLst>
              <a:ext uri="{FF2B5EF4-FFF2-40B4-BE49-F238E27FC236}">
                <a16:creationId xmlns:a16="http://schemas.microsoft.com/office/drawing/2014/main" id="{CA298D65-3DA9-4B01-86B6-F0354A0C7ABF}"/>
              </a:ext>
            </a:extLst>
          </p:cNvPr>
          <p:cNvSpPr>
            <a:spLocks noGrp="1"/>
          </p:cNvSpPr>
          <p:nvPr/>
        </p:nvSpPr>
        <p:spPr>
          <a:xfrm>
            <a:off x="6191250" y="4619625"/>
            <a:ext cx="4095751" cy="914400"/>
          </a:xfrm>
          <a:prstGeom prst="roundRect">
            <a:avLst>
              <a:gd name="adj" fmla="val 6250"/>
            </a:avLst>
          </a:prstGeom>
          <a:solidFill>
            <a:srgbClr val="EAF3FC"/>
          </a:solidFill>
          <a:ln w="9525">
            <a:solidFill>
              <a:srgbClr val="B7D4EF"/>
            </a:solidFill>
            <a:prstDash val="solid"/>
          </a:ln>
        </p:spPr>
        <p:txBody>
          <a:bodyPr/>
          <a:lstStyle/>
          <a:p>
            <a:endParaRPr lang="en-IN"/>
          </a:p>
        </p:txBody>
      </p:sp>
      <p:sp>
        <p:nvSpPr>
          <p:cNvPr id="24" name="Rectangle 23">
            <a:extLst>
              <a:ext uri="{FF2B5EF4-FFF2-40B4-BE49-F238E27FC236}">
                <a16:creationId xmlns:a16="http://schemas.microsoft.com/office/drawing/2014/main" id="{B1B45883-5046-4B0D-8149-5E8A4FEAC8AE}"/>
              </a:ext>
            </a:extLst>
          </p:cNvPr>
          <p:cNvSpPr>
            <a:spLocks noGrp="1"/>
          </p:cNvSpPr>
          <p:nvPr/>
        </p:nvSpPr>
        <p:spPr>
          <a:xfrm>
            <a:off x="6477000" y="4876801"/>
            <a:ext cx="3429000" cy="361951"/>
          </a:xfrm>
          <a:prstGeom prst="rect">
            <a:avLst/>
          </a:prstGeom>
          <a:noFill/>
          <a:ln w="0">
            <a:noFill/>
            <a:prstDash val="solid"/>
          </a:ln>
        </p:spPr>
        <p:txBody>
          <a:bodyPr/>
          <a:lstStyle/>
          <a:p>
            <a:pPr algn="l">
              <a:defRPr sz="1650" b="1">
                <a:solidFill>
                  <a:srgbClr val="1F5D99"/>
                </a:solidFill>
              </a:defRPr>
            </a:pPr>
            <a:r>
              <a:rPr sz="1651" b="1">
                <a:solidFill>
                  <a:srgbClr val="1F5D99"/>
                </a:solidFill>
              </a:rPr>
              <a:t>Interview cue: KMS key vs data key</a:t>
            </a:r>
          </a:p>
        </p:txBody>
      </p:sp>
    </p:spTree>
    <p:extLst>
      <p:ext uri="{BB962C8B-B14F-4D97-AF65-F5344CB8AC3E}">
        <p14:creationId xmlns:p14="http://schemas.microsoft.com/office/powerpoint/2010/main" val="333599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28CC73-6057-42BB-8DF8-56DE5084CF77}"/>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960EC487-C2D3-4780-9F13-85FD409F683D}"/>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3 · Recap</a:t>
            </a:r>
          </a:p>
        </p:txBody>
      </p:sp>
      <p:sp>
        <p:nvSpPr>
          <p:cNvPr id="3" name="Rectangle 2">
            <a:extLst>
              <a:ext uri="{FF2B5EF4-FFF2-40B4-BE49-F238E27FC236}">
                <a16:creationId xmlns:a16="http://schemas.microsoft.com/office/drawing/2014/main" id="{855FFEE9-F2AF-42A2-9BA0-90579BF56B84}"/>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15</a:t>
            </a:r>
          </a:p>
        </p:txBody>
      </p:sp>
      <p:sp>
        <p:nvSpPr>
          <p:cNvPr id="4" name="Rectangle 3">
            <a:extLst>
              <a:ext uri="{FF2B5EF4-FFF2-40B4-BE49-F238E27FC236}">
                <a16:creationId xmlns:a16="http://schemas.microsoft.com/office/drawing/2014/main" id="{8555D719-C519-4839-8164-59D7DE8D47EE}"/>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AWS KMS: what to remember</a:t>
            </a:r>
          </a:p>
        </p:txBody>
      </p:sp>
      <p:sp>
        <p:nvSpPr>
          <p:cNvPr id="5" name="Rectangle 4">
            <a:extLst>
              <a:ext uri="{FF2B5EF4-FFF2-40B4-BE49-F238E27FC236}">
                <a16:creationId xmlns:a16="http://schemas.microsoft.com/office/drawing/2014/main" id="{4B46F6F5-C0BE-4ABD-ABF9-44ED1417861C}"/>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Close the module with practical rules and common questions.</a:t>
            </a:r>
          </a:p>
        </p:txBody>
      </p:sp>
      <p:sp>
        <p:nvSpPr>
          <p:cNvPr id="6" name="Rectangle 5">
            <a:extLst>
              <a:ext uri="{FF2B5EF4-FFF2-40B4-BE49-F238E27FC236}">
                <a16:creationId xmlns:a16="http://schemas.microsoft.com/office/drawing/2014/main" id="{81E96496-4051-4E95-8510-78F4616F1FF7}"/>
              </a:ext>
            </a:extLst>
          </p:cNvPr>
          <p:cNvSpPr>
            <a:spLocks noGrp="1"/>
          </p:cNvSpPr>
          <p:nvPr/>
        </p:nvSpPr>
        <p:spPr>
          <a:xfrm>
            <a:off x="857251"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Common questions</a:t>
            </a:r>
          </a:p>
        </p:txBody>
      </p:sp>
      <p:sp>
        <p:nvSpPr>
          <p:cNvPr id="7" name="Rectangle 6">
            <a:extLst>
              <a:ext uri="{FF2B5EF4-FFF2-40B4-BE49-F238E27FC236}">
                <a16:creationId xmlns:a16="http://schemas.microsoft.com/office/drawing/2014/main" id="{F0DBEAB1-462B-462E-AAF4-055D5862B376}"/>
              </a:ext>
            </a:extLst>
          </p:cNvPr>
          <p:cNvSpPr>
            <a:spLocks noGrp="1"/>
          </p:cNvSpPr>
          <p:nvPr/>
        </p:nvSpPr>
        <p:spPr>
          <a:xfrm>
            <a:off x="952501" y="2571751"/>
            <a:ext cx="4381500" cy="1524000"/>
          </a:xfrm>
          <a:prstGeom prst="rect">
            <a:avLst/>
          </a:prstGeom>
          <a:noFill/>
          <a:ln w="0">
            <a:noFill/>
            <a:prstDash val="solid"/>
          </a:ln>
        </p:spPr>
        <p:txBody>
          <a:bodyPr/>
          <a:lstStyle/>
          <a:p>
            <a:pPr algn="l">
              <a:defRPr sz="1800" b="0">
                <a:solidFill>
                  <a:srgbClr val="334155"/>
                </a:solidFill>
              </a:defRPr>
            </a:pPr>
            <a:r>
              <a:rPr>
                <a:solidFill>
                  <a:srgbClr val="334155"/>
                </a:solidFill>
              </a:rPr>
              <a:t>• KMS key vs data key</a:t>
            </a:r>
          </a:p>
          <a:p>
            <a:pPr algn="l">
              <a:defRPr sz="1800" b="0">
                <a:solidFill>
                  <a:srgbClr val="334155"/>
                </a:solidFill>
              </a:defRPr>
            </a:pPr>
            <a:r>
              <a:rPr>
                <a:solidFill>
                  <a:srgbClr val="334155"/>
                </a:solidFill>
              </a:rPr>
              <a:t>• Key policy vs IAM policy</a:t>
            </a:r>
          </a:p>
          <a:p>
            <a:pPr algn="l">
              <a:defRPr sz="1800" b="0">
                <a:solidFill>
                  <a:srgbClr val="334155"/>
                </a:solidFill>
              </a:defRPr>
            </a:pPr>
            <a:r>
              <a:rPr>
                <a:solidFill>
                  <a:srgbClr val="334155"/>
                </a:solidFill>
              </a:rPr>
              <a:t>• KMS vs CloudHSM</a:t>
            </a:r>
          </a:p>
        </p:txBody>
      </p:sp>
      <p:sp>
        <p:nvSpPr>
          <p:cNvPr id="8" name="Rectangle 7">
            <a:extLst>
              <a:ext uri="{FF2B5EF4-FFF2-40B4-BE49-F238E27FC236}">
                <a16:creationId xmlns:a16="http://schemas.microsoft.com/office/drawing/2014/main" id="{D7B2B44F-7CE6-4384-8441-86E372B58A3E}"/>
              </a:ext>
            </a:extLst>
          </p:cNvPr>
          <p:cNvSpPr>
            <a:spLocks noGrp="1"/>
          </p:cNvSpPr>
          <p:nvPr/>
        </p:nvSpPr>
        <p:spPr>
          <a:xfrm>
            <a:off x="6334125"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One-line memory hook</a:t>
            </a:r>
          </a:p>
        </p:txBody>
      </p:sp>
      <p:sp>
        <p:nvSpPr>
          <p:cNvPr id="9" name="Rectangle: Rounded Corners 8">
            <a:extLst>
              <a:ext uri="{FF2B5EF4-FFF2-40B4-BE49-F238E27FC236}">
                <a16:creationId xmlns:a16="http://schemas.microsoft.com/office/drawing/2014/main" id="{E256F355-CEA2-450A-9EFB-5338308B0273}"/>
              </a:ext>
            </a:extLst>
          </p:cNvPr>
          <p:cNvSpPr>
            <a:spLocks noGrp="1"/>
          </p:cNvSpPr>
          <p:nvPr/>
        </p:nvSpPr>
        <p:spPr>
          <a:xfrm>
            <a:off x="6191249" y="2571751"/>
            <a:ext cx="4286251" cy="1524000"/>
          </a:xfrm>
          <a:prstGeom prst="roundRect">
            <a:avLst>
              <a:gd name="adj" fmla="val 3750"/>
            </a:avLst>
          </a:prstGeom>
          <a:solidFill>
            <a:srgbClr val="12233F"/>
          </a:solidFill>
          <a:ln w="9525">
            <a:solidFill>
              <a:srgbClr val="12233F"/>
            </a:solidFill>
            <a:prstDash val="solid"/>
          </a:ln>
        </p:spPr>
        <p:txBody>
          <a:bodyPr/>
          <a:lstStyle/>
          <a:p>
            <a:endParaRPr lang="en-IN"/>
          </a:p>
        </p:txBody>
      </p:sp>
      <p:sp>
        <p:nvSpPr>
          <p:cNvPr id="10" name="Rectangle 9">
            <a:extLst>
              <a:ext uri="{FF2B5EF4-FFF2-40B4-BE49-F238E27FC236}">
                <a16:creationId xmlns:a16="http://schemas.microsoft.com/office/drawing/2014/main" id="{C6ACAC3D-F8FA-4236-844C-7BC44170B98E}"/>
              </a:ext>
            </a:extLst>
          </p:cNvPr>
          <p:cNvSpPr>
            <a:spLocks noGrp="1"/>
          </p:cNvSpPr>
          <p:nvPr/>
        </p:nvSpPr>
        <p:spPr>
          <a:xfrm>
            <a:off x="6534151" y="2952749"/>
            <a:ext cx="3619500" cy="781051"/>
          </a:xfrm>
          <a:prstGeom prst="rect">
            <a:avLst/>
          </a:prstGeom>
          <a:noFill/>
          <a:ln w="0">
            <a:noFill/>
            <a:prstDash val="solid"/>
          </a:ln>
        </p:spPr>
        <p:txBody>
          <a:bodyPr/>
          <a:lstStyle/>
          <a:p>
            <a:pPr algn="ctr">
              <a:defRPr sz="2100" b="1">
                <a:solidFill>
                  <a:srgbClr val="FFFFFF"/>
                </a:solidFill>
              </a:defRPr>
            </a:pPr>
            <a:r>
              <a:rPr sz="2100" b="1">
                <a:solidFill>
                  <a:srgbClr val="FFFFFF"/>
                </a:solidFill>
              </a:rPr>
              <a:t>KMS controls the keys that protect data.</a:t>
            </a:r>
          </a:p>
        </p:txBody>
      </p:sp>
    </p:spTree>
    <p:extLst>
      <p:ext uri="{BB962C8B-B14F-4D97-AF65-F5344CB8AC3E}">
        <p14:creationId xmlns:p14="http://schemas.microsoft.com/office/powerpoint/2010/main" val="1975885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D5A763E-89F2-4870-BBA1-09967AEE07F3}"/>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27A86038-3C3D-43F2-98E2-47311F82AF85}"/>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4 · Managed queue</a:t>
            </a:r>
          </a:p>
        </p:txBody>
      </p:sp>
      <p:sp>
        <p:nvSpPr>
          <p:cNvPr id="3" name="Rectangle 2">
            <a:extLst>
              <a:ext uri="{FF2B5EF4-FFF2-40B4-BE49-F238E27FC236}">
                <a16:creationId xmlns:a16="http://schemas.microsoft.com/office/drawing/2014/main" id="{96D66E6F-CC15-4262-B9BF-06B8A9C9D25C}"/>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16</a:t>
            </a:r>
          </a:p>
        </p:txBody>
      </p:sp>
      <p:sp>
        <p:nvSpPr>
          <p:cNvPr id="4" name="Rectangle 3">
            <a:extLst>
              <a:ext uri="{FF2B5EF4-FFF2-40B4-BE49-F238E27FC236}">
                <a16:creationId xmlns:a16="http://schemas.microsoft.com/office/drawing/2014/main" id="{E777964F-8039-4157-BDA2-4DD944DD82C7}"/>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Amazon SQS: what it is</a:t>
            </a:r>
          </a:p>
        </p:txBody>
      </p:sp>
      <p:sp>
        <p:nvSpPr>
          <p:cNvPr id="5" name="Rectangle 4">
            <a:extLst>
              <a:ext uri="{FF2B5EF4-FFF2-40B4-BE49-F238E27FC236}">
                <a16:creationId xmlns:a16="http://schemas.microsoft.com/office/drawing/2014/main" id="{81A61390-1151-4A39-B9AD-3CBD5D2014B0}"/>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A fully managed message queuing service for decoupling distributed and serverless applications.</a:t>
            </a:r>
          </a:p>
        </p:txBody>
      </p:sp>
      <p:sp>
        <p:nvSpPr>
          <p:cNvPr id="6" name="Oval 5">
            <a:extLst>
              <a:ext uri="{FF2B5EF4-FFF2-40B4-BE49-F238E27FC236}">
                <a16:creationId xmlns:a16="http://schemas.microsoft.com/office/drawing/2014/main" id="{A4DC81D9-0078-44F7-9FC9-21336BA9AAC2}"/>
              </a:ext>
            </a:extLst>
          </p:cNvPr>
          <p:cNvSpPr>
            <a:spLocks noGrp="1"/>
          </p:cNvSpPr>
          <p:nvPr/>
        </p:nvSpPr>
        <p:spPr>
          <a:xfrm>
            <a:off x="9239251" y="876300"/>
            <a:ext cx="1066800" cy="1066800"/>
          </a:xfrm>
          <a:prstGeom prst="ellipse">
            <a:avLst/>
          </a:prstGeom>
          <a:solidFill>
            <a:srgbClr val="12233F"/>
          </a:solidFill>
          <a:ln w="28575">
            <a:solidFill>
              <a:srgbClr val="FF9900"/>
            </a:solidFill>
            <a:prstDash val="solid"/>
          </a:ln>
        </p:spPr>
        <p:txBody>
          <a:bodyPr/>
          <a:lstStyle/>
          <a:p>
            <a:endParaRPr lang="en-IN"/>
          </a:p>
        </p:txBody>
      </p:sp>
      <p:sp>
        <p:nvSpPr>
          <p:cNvPr id="7" name="Rectangle 6">
            <a:extLst>
              <a:ext uri="{FF2B5EF4-FFF2-40B4-BE49-F238E27FC236}">
                <a16:creationId xmlns:a16="http://schemas.microsoft.com/office/drawing/2014/main" id="{4C9B420B-0A02-4247-B7A0-D5A85EF67DA1}"/>
              </a:ext>
            </a:extLst>
          </p:cNvPr>
          <p:cNvSpPr>
            <a:spLocks noGrp="1"/>
          </p:cNvSpPr>
          <p:nvPr/>
        </p:nvSpPr>
        <p:spPr>
          <a:xfrm>
            <a:off x="9239251" y="1133475"/>
            <a:ext cx="1066800" cy="400051"/>
          </a:xfrm>
          <a:prstGeom prst="rect">
            <a:avLst/>
          </a:prstGeom>
          <a:noFill/>
          <a:ln w="0">
            <a:noFill/>
            <a:prstDash val="solid"/>
          </a:ln>
        </p:spPr>
        <p:txBody>
          <a:bodyPr/>
          <a:lstStyle/>
          <a:p>
            <a:pPr algn="ctr">
              <a:defRPr sz="1950" b="1">
                <a:solidFill>
                  <a:srgbClr val="FFFFFF"/>
                </a:solidFill>
              </a:defRPr>
            </a:pPr>
            <a:r>
              <a:rPr sz="1951" b="1">
                <a:solidFill>
                  <a:srgbClr val="FFFFFF"/>
                </a:solidFill>
              </a:rPr>
              <a:t>S</a:t>
            </a:r>
          </a:p>
        </p:txBody>
      </p:sp>
      <p:sp>
        <p:nvSpPr>
          <p:cNvPr id="8" name="Rectangle: Rounded Corners 7">
            <a:extLst>
              <a:ext uri="{FF2B5EF4-FFF2-40B4-BE49-F238E27FC236}">
                <a16:creationId xmlns:a16="http://schemas.microsoft.com/office/drawing/2014/main" id="{4E46BBC5-4007-4A25-84AD-7DCA984260BB}"/>
              </a:ext>
            </a:extLst>
          </p:cNvPr>
          <p:cNvSpPr>
            <a:spLocks noGrp="1"/>
          </p:cNvSpPr>
          <p:nvPr/>
        </p:nvSpPr>
        <p:spPr>
          <a:xfrm>
            <a:off x="742951" y="2095501"/>
            <a:ext cx="4762500" cy="2476500"/>
          </a:xfrm>
          <a:prstGeom prst="roundRect">
            <a:avLst>
              <a:gd name="adj" fmla="val 2308"/>
            </a:avLst>
          </a:prstGeom>
          <a:solidFill>
            <a:srgbClr val="FFFFFF"/>
          </a:solidFill>
          <a:ln w="9525">
            <a:solidFill>
              <a:srgbClr val="D7E2EE"/>
            </a:solidFill>
            <a:prstDash val="solid"/>
          </a:ln>
        </p:spPr>
        <p:txBody>
          <a:bodyPr/>
          <a:lstStyle/>
          <a:p>
            <a:endParaRPr lang="en-IN"/>
          </a:p>
        </p:txBody>
      </p:sp>
      <p:sp>
        <p:nvSpPr>
          <p:cNvPr id="9" name="Rectangle 8">
            <a:extLst>
              <a:ext uri="{FF2B5EF4-FFF2-40B4-BE49-F238E27FC236}">
                <a16:creationId xmlns:a16="http://schemas.microsoft.com/office/drawing/2014/main" id="{24CBE3C5-8BEA-469B-93C4-790FC3BF28E3}"/>
              </a:ext>
            </a:extLst>
          </p:cNvPr>
          <p:cNvSpPr>
            <a:spLocks noGrp="1"/>
          </p:cNvSpPr>
          <p:nvPr/>
        </p:nvSpPr>
        <p:spPr>
          <a:xfrm>
            <a:off x="1009651" y="2362200"/>
            <a:ext cx="38100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Use it when you need to</a:t>
            </a:r>
          </a:p>
        </p:txBody>
      </p:sp>
      <p:sp>
        <p:nvSpPr>
          <p:cNvPr id="10" name="Rectangle 9">
            <a:extLst>
              <a:ext uri="{FF2B5EF4-FFF2-40B4-BE49-F238E27FC236}">
                <a16:creationId xmlns:a16="http://schemas.microsoft.com/office/drawing/2014/main" id="{212DD2B2-B052-4711-BB41-3734D1980EA6}"/>
              </a:ext>
            </a:extLst>
          </p:cNvPr>
          <p:cNvSpPr>
            <a:spLocks noGrp="1"/>
          </p:cNvSpPr>
          <p:nvPr/>
        </p:nvSpPr>
        <p:spPr>
          <a:xfrm>
            <a:off x="1066801" y="2895600"/>
            <a:ext cx="4000500" cy="1238251"/>
          </a:xfrm>
          <a:prstGeom prst="rect">
            <a:avLst/>
          </a:prstGeom>
          <a:noFill/>
          <a:ln w="0">
            <a:noFill/>
            <a:prstDash val="solid"/>
          </a:ln>
        </p:spPr>
        <p:txBody>
          <a:bodyPr/>
          <a:lstStyle/>
          <a:p>
            <a:pPr algn="l">
              <a:defRPr sz="1650" b="0">
                <a:solidFill>
                  <a:srgbClr val="334155"/>
                </a:solidFill>
              </a:defRPr>
            </a:pPr>
            <a:r>
              <a:rPr sz="1651">
                <a:solidFill>
                  <a:srgbClr val="334155"/>
                </a:solidFill>
              </a:rPr>
              <a:t>• Order processing</a:t>
            </a:r>
          </a:p>
          <a:p>
            <a:pPr algn="l">
              <a:defRPr sz="1650" b="0">
                <a:solidFill>
                  <a:srgbClr val="334155"/>
                </a:solidFill>
              </a:defRPr>
            </a:pPr>
            <a:r>
              <a:rPr sz="1651">
                <a:solidFill>
                  <a:srgbClr val="334155"/>
                </a:solidFill>
              </a:rPr>
              <a:t>• Background jobs</a:t>
            </a:r>
          </a:p>
          <a:p>
            <a:pPr algn="l">
              <a:defRPr sz="1650" b="0">
                <a:solidFill>
                  <a:srgbClr val="334155"/>
                </a:solidFill>
              </a:defRPr>
            </a:pPr>
            <a:r>
              <a:rPr sz="1651">
                <a:solidFill>
                  <a:srgbClr val="334155"/>
                </a:solidFill>
              </a:rPr>
              <a:t>• Buffering traffic spikes</a:t>
            </a:r>
          </a:p>
          <a:p>
            <a:pPr algn="l">
              <a:defRPr sz="1650" b="0">
                <a:solidFill>
                  <a:srgbClr val="334155"/>
                </a:solidFill>
              </a:defRPr>
            </a:pPr>
            <a:r>
              <a:rPr sz="1651">
                <a:solidFill>
                  <a:srgbClr val="334155"/>
                </a:solidFill>
              </a:rPr>
              <a:t>• Retryable workflows</a:t>
            </a:r>
          </a:p>
        </p:txBody>
      </p:sp>
      <p:sp>
        <p:nvSpPr>
          <p:cNvPr id="11" name="Rectangle: Rounded Corners 10">
            <a:extLst>
              <a:ext uri="{FF2B5EF4-FFF2-40B4-BE49-F238E27FC236}">
                <a16:creationId xmlns:a16="http://schemas.microsoft.com/office/drawing/2014/main" id="{81252C7E-C7DF-47E2-8B8E-7D70158B4478}"/>
              </a:ext>
            </a:extLst>
          </p:cNvPr>
          <p:cNvSpPr>
            <a:spLocks noGrp="1"/>
          </p:cNvSpPr>
          <p:nvPr/>
        </p:nvSpPr>
        <p:spPr>
          <a:xfrm>
            <a:off x="6096001" y="2095501"/>
            <a:ext cx="4381500" cy="2476500"/>
          </a:xfrm>
          <a:prstGeom prst="roundRect">
            <a:avLst>
              <a:gd name="adj" fmla="val 2308"/>
            </a:avLst>
          </a:prstGeom>
          <a:solidFill>
            <a:srgbClr val="EAF3FC"/>
          </a:solidFill>
          <a:ln w="9525">
            <a:solidFill>
              <a:srgbClr val="B7D4EF"/>
            </a:solidFill>
            <a:prstDash val="solid"/>
          </a:ln>
        </p:spPr>
        <p:txBody>
          <a:bodyPr/>
          <a:lstStyle/>
          <a:p>
            <a:endParaRPr lang="en-IN"/>
          </a:p>
        </p:txBody>
      </p:sp>
      <p:sp>
        <p:nvSpPr>
          <p:cNvPr id="12" name="Rectangle 11">
            <a:extLst>
              <a:ext uri="{FF2B5EF4-FFF2-40B4-BE49-F238E27FC236}">
                <a16:creationId xmlns:a16="http://schemas.microsoft.com/office/drawing/2014/main" id="{5B2CFF48-512C-404E-9835-075DA3DD9B84}"/>
              </a:ext>
            </a:extLst>
          </p:cNvPr>
          <p:cNvSpPr>
            <a:spLocks noGrp="1"/>
          </p:cNvSpPr>
          <p:nvPr/>
        </p:nvSpPr>
        <p:spPr>
          <a:xfrm>
            <a:off x="6381751" y="2362200"/>
            <a:ext cx="3619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Simple class explanation</a:t>
            </a:r>
          </a:p>
        </p:txBody>
      </p:sp>
      <p:sp>
        <p:nvSpPr>
          <p:cNvPr id="13" name="Rectangle 12">
            <a:extLst>
              <a:ext uri="{FF2B5EF4-FFF2-40B4-BE49-F238E27FC236}">
                <a16:creationId xmlns:a16="http://schemas.microsoft.com/office/drawing/2014/main" id="{52EBBCA5-1F9C-4186-86F8-A66E01680380}"/>
              </a:ext>
            </a:extLst>
          </p:cNvPr>
          <p:cNvSpPr>
            <a:spLocks noGrp="1"/>
          </p:cNvSpPr>
          <p:nvPr/>
        </p:nvSpPr>
        <p:spPr>
          <a:xfrm>
            <a:off x="6381751" y="2905125"/>
            <a:ext cx="3619500" cy="1143000"/>
          </a:xfrm>
          <a:prstGeom prst="rect">
            <a:avLst/>
          </a:prstGeom>
          <a:noFill/>
          <a:ln w="0">
            <a:noFill/>
            <a:prstDash val="solid"/>
          </a:ln>
        </p:spPr>
        <p:txBody>
          <a:bodyPr/>
          <a:lstStyle/>
          <a:p>
            <a:pPr algn="l">
              <a:defRPr sz="1800" b="0">
                <a:solidFill>
                  <a:srgbClr val="334155"/>
                </a:solidFill>
              </a:defRPr>
            </a:pPr>
            <a:r>
              <a:rPr>
                <a:solidFill>
                  <a:srgbClr val="334155"/>
                </a:solidFill>
              </a:rPr>
              <a:t>Like an order queue where work waits safely until a worker is ready.</a:t>
            </a:r>
          </a:p>
        </p:txBody>
      </p:sp>
    </p:spTree>
    <p:extLst>
      <p:ext uri="{BB962C8B-B14F-4D97-AF65-F5344CB8AC3E}">
        <p14:creationId xmlns:p14="http://schemas.microsoft.com/office/powerpoint/2010/main" val="1443499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261873B-7721-41F2-BCCC-39A00465CA4D}"/>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1D28D63B-E62A-4131-969A-E1ACAA39C3DF}"/>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4 · Architecture</a:t>
            </a:r>
          </a:p>
        </p:txBody>
      </p:sp>
      <p:sp>
        <p:nvSpPr>
          <p:cNvPr id="3" name="Rectangle 2">
            <a:extLst>
              <a:ext uri="{FF2B5EF4-FFF2-40B4-BE49-F238E27FC236}">
                <a16:creationId xmlns:a16="http://schemas.microsoft.com/office/drawing/2014/main" id="{6C48A98F-5087-4421-987F-6858B60B6740}"/>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17</a:t>
            </a:r>
          </a:p>
        </p:txBody>
      </p:sp>
      <p:sp>
        <p:nvSpPr>
          <p:cNvPr id="4" name="Rectangle 3">
            <a:extLst>
              <a:ext uri="{FF2B5EF4-FFF2-40B4-BE49-F238E27FC236}">
                <a16:creationId xmlns:a16="http://schemas.microsoft.com/office/drawing/2014/main" id="{B1780AAE-72DD-4096-A73A-09771256DB25}"/>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Amazon SQS architecture</a:t>
            </a:r>
          </a:p>
        </p:txBody>
      </p:sp>
      <p:sp>
        <p:nvSpPr>
          <p:cNvPr id="5" name="Rectangle 4">
            <a:extLst>
              <a:ext uri="{FF2B5EF4-FFF2-40B4-BE49-F238E27FC236}">
                <a16:creationId xmlns:a16="http://schemas.microsoft.com/office/drawing/2014/main" id="{6F62BA7D-2719-49A3-9576-D9B4B7302EF4}"/>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Follow the request or data path from left to right.</a:t>
            </a:r>
          </a:p>
        </p:txBody>
      </p:sp>
      <p:sp>
        <p:nvSpPr>
          <p:cNvPr id="6" name="Rectangle: Rounded Corners 5">
            <a:extLst>
              <a:ext uri="{FF2B5EF4-FFF2-40B4-BE49-F238E27FC236}">
                <a16:creationId xmlns:a16="http://schemas.microsoft.com/office/drawing/2014/main" id="{1D07A65B-52B9-4889-81BA-0BC0D89EB1CA}"/>
              </a:ext>
            </a:extLst>
          </p:cNvPr>
          <p:cNvSpPr>
            <a:spLocks noGrp="1"/>
          </p:cNvSpPr>
          <p:nvPr/>
        </p:nvSpPr>
        <p:spPr>
          <a:xfrm>
            <a:off x="857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FADBFFD3-A70F-4DEB-98D8-1D4562A35839}"/>
              </a:ext>
            </a:extLst>
          </p:cNvPr>
          <p:cNvSpPr>
            <a:spLocks noGrp="1"/>
          </p:cNvSpPr>
          <p:nvPr/>
        </p:nvSpPr>
        <p:spPr>
          <a:xfrm>
            <a:off x="952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Producer</a:t>
            </a:r>
          </a:p>
        </p:txBody>
      </p:sp>
      <p:sp>
        <p:nvSpPr>
          <p:cNvPr id="8" name="Arrow: Right 7">
            <a:extLst>
              <a:ext uri="{FF2B5EF4-FFF2-40B4-BE49-F238E27FC236}">
                <a16:creationId xmlns:a16="http://schemas.microsoft.com/office/drawing/2014/main" id="{0541BADB-F98E-4F28-87C1-C11FCB08ED2B}"/>
              </a:ext>
            </a:extLst>
          </p:cNvPr>
          <p:cNvSpPr>
            <a:spLocks noGrp="1"/>
          </p:cNvSpPr>
          <p:nvPr/>
        </p:nvSpPr>
        <p:spPr>
          <a:xfrm>
            <a:off x="2724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6E02F24C-26AD-4D48-9B49-925F61EFD40B}"/>
              </a:ext>
            </a:extLst>
          </p:cNvPr>
          <p:cNvSpPr>
            <a:spLocks noGrp="1"/>
          </p:cNvSpPr>
          <p:nvPr/>
        </p:nvSpPr>
        <p:spPr>
          <a:xfrm>
            <a:off x="2952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674F2338-DC7A-4B75-8F3C-6259D3874351}"/>
              </a:ext>
            </a:extLst>
          </p:cNvPr>
          <p:cNvSpPr>
            <a:spLocks noGrp="1"/>
          </p:cNvSpPr>
          <p:nvPr/>
        </p:nvSpPr>
        <p:spPr>
          <a:xfrm>
            <a:off x="3048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SQS queue</a:t>
            </a:r>
          </a:p>
        </p:txBody>
      </p:sp>
      <p:sp>
        <p:nvSpPr>
          <p:cNvPr id="11" name="Arrow: Right 10">
            <a:extLst>
              <a:ext uri="{FF2B5EF4-FFF2-40B4-BE49-F238E27FC236}">
                <a16:creationId xmlns:a16="http://schemas.microsoft.com/office/drawing/2014/main" id="{5EED52D1-7FD6-4A21-9EB9-3275D0E31AB4}"/>
              </a:ext>
            </a:extLst>
          </p:cNvPr>
          <p:cNvSpPr>
            <a:spLocks noGrp="1"/>
          </p:cNvSpPr>
          <p:nvPr/>
        </p:nvSpPr>
        <p:spPr>
          <a:xfrm>
            <a:off x="4819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D300BB1B-AE10-4F58-977B-C636A1AD7F43}"/>
              </a:ext>
            </a:extLst>
          </p:cNvPr>
          <p:cNvSpPr>
            <a:spLocks noGrp="1"/>
          </p:cNvSpPr>
          <p:nvPr/>
        </p:nvSpPr>
        <p:spPr>
          <a:xfrm>
            <a:off x="5048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06483163-C7DD-486E-91F4-4FFDC0AACCA9}"/>
              </a:ext>
            </a:extLst>
          </p:cNvPr>
          <p:cNvSpPr>
            <a:spLocks noGrp="1"/>
          </p:cNvSpPr>
          <p:nvPr/>
        </p:nvSpPr>
        <p:spPr>
          <a:xfrm>
            <a:off x="5143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Consumer workers</a:t>
            </a:r>
          </a:p>
        </p:txBody>
      </p:sp>
      <p:sp>
        <p:nvSpPr>
          <p:cNvPr id="14" name="Arrow: Right 13">
            <a:extLst>
              <a:ext uri="{FF2B5EF4-FFF2-40B4-BE49-F238E27FC236}">
                <a16:creationId xmlns:a16="http://schemas.microsoft.com/office/drawing/2014/main" id="{8C9129E6-B95B-49DB-B3A0-FDF8D8919C3C}"/>
              </a:ext>
            </a:extLst>
          </p:cNvPr>
          <p:cNvSpPr>
            <a:spLocks noGrp="1"/>
          </p:cNvSpPr>
          <p:nvPr/>
        </p:nvSpPr>
        <p:spPr>
          <a:xfrm>
            <a:off x="6915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A5B8A87A-3DFB-4FE6-968B-2A819B5C3336}"/>
              </a:ext>
            </a:extLst>
          </p:cNvPr>
          <p:cNvSpPr>
            <a:spLocks noGrp="1"/>
          </p:cNvSpPr>
          <p:nvPr/>
        </p:nvSpPr>
        <p:spPr>
          <a:xfrm>
            <a:off x="7143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5A9A2EEE-A6A4-4F86-993D-7594F321B513}"/>
              </a:ext>
            </a:extLst>
          </p:cNvPr>
          <p:cNvSpPr>
            <a:spLocks noGrp="1"/>
          </p:cNvSpPr>
          <p:nvPr/>
        </p:nvSpPr>
        <p:spPr>
          <a:xfrm>
            <a:off x="7239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Dead-letter queue</a:t>
            </a:r>
          </a:p>
        </p:txBody>
      </p:sp>
      <p:sp>
        <p:nvSpPr>
          <p:cNvPr id="17" name="Arrow: Right 16">
            <a:extLst>
              <a:ext uri="{FF2B5EF4-FFF2-40B4-BE49-F238E27FC236}">
                <a16:creationId xmlns:a16="http://schemas.microsoft.com/office/drawing/2014/main" id="{37395608-0028-4D5B-ADF2-1F19A9F71816}"/>
              </a:ext>
            </a:extLst>
          </p:cNvPr>
          <p:cNvSpPr>
            <a:spLocks noGrp="1"/>
          </p:cNvSpPr>
          <p:nvPr/>
        </p:nvSpPr>
        <p:spPr>
          <a:xfrm>
            <a:off x="9010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F8CBA9C8-BB3D-4B9F-A376-040BD1BAB6E9}"/>
              </a:ext>
            </a:extLst>
          </p:cNvPr>
          <p:cNvSpPr>
            <a:spLocks noGrp="1"/>
          </p:cNvSpPr>
          <p:nvPr/>
        </p:nvSpPr>
        <p:spPr>
          <a:xfrm>
            <a:off x="9239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0AD7B833-D2D0-4997-A3C2-ABEAEF3FB8DC}"/>
              </a:ext>
            </a:extLst>
          </p:cNvPr>
          <p:cNvSpPr>
            <a:spLocks noGrp="1"/>
          </p:cNvSpPr>
          <p:nvPr/>
        </p:nvSpPr>
        <p:spPr>
          <a:xfrm>
            <a:off x="9334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Monitoring</a:t>
            </a:r>
          </a:p>
        </p:txBody>
      </p:sp>
      <p:sp>
        <p:nvSpPr>
          <p:cNvPr id="20" name="Rectangle 19">
            <a:extLst>
              <a:ext uri="{FF2B5EF4-FFF2-40B4-BE49-F238E27FC236}">
                <a16:creationId xmlns:a16="http://schemas.microsoft.com/office/drawing/2014/main" id="{71967649-40C5-4101-84F0-784ECD122E8A}"/>
              </a:ext>
            </a:extLst>
          </p:cNvPr>
          <p:cNvSpPr>
            <a:spLocks noGrp="1"/>
          </p:cNvSpPr>
          <p:nvPr/>
        </p:nvSpPr>
        <p:spPr>
          <a:xfrm>
            <a:off x="952500" y="4191000"/>
            <a:ext cx="3429000" cy="323851"/>
          </a:xfrm>
          <a:prstGeom prst="rect">
            <a:avLst/>
          </a:prstGeom>
          <a:noFill/>
          <a:ln w="0">
            <a:noFill/>
            <a:prstDash val="solid"/>
          </a:ln>
        </p:spPr>
        <p:txBody>
          <a:bodyPr/>
          <a:lstStyle/>
          <a:p>
            <a:pPr algn="l">
              <a:defRPr sz="1950" b="1">
                <a:solidFill>
                  <a:srgbClr val="12233F"/>
                </a:solidFill>
              </a:defRPr>
            </a:pPr>
            <a:r>
              <a:rPr sz="1951" b="1">
                <a:solidFill>
                  <a:srgbClr val="12233F"/>
                </a:solidFill>
              </a:rPr>
              <a:t>Architecture explanation</a:t>
            </a:r>
          </a:p>
        </p:txBody>
      </p:sp>
      <p:sp>
        <p:nvSpPr>
          <p:cNvPr id="21" name="Rectangle 20">
            <a:extLst>
              <a:ext uri="{FF2B5EF4-FFF2-40B4-BE49-F238E27FC236}">
                <a16:creationId xmlns:a16="http://schemas.microsoft.com/office/drawing/2014/main" id="{AAF52D31-15E4-433A-A22C-883627AA54DD}"/>
              </a:ext>
            </a:extLst>
          </p:cNvPr>
          <p:cNvSpPr>
            <a:spLocks noGrp="1"/>
          </p:cNvSpPr>
          <p:nvPr/>
        </p:nvSpPr>
        <p:spPr>
          <a:xfrm>
            <a:off x="952500" y="4667251"/>
            <a:ext cx="9144000" cy="1066800"/>
          </a:xfrm>
          <a:prstGeom prst="rect">
            <a:avLst/>
          </a:prstGeom>
          <a:noFill/>
          <a:ln w="0">
            <a:noFill/>
            <a:prstDash val="solid"/>
          </a:ln>
        </p:spPr>
        <p:txBody>
          <a:bodyPr/>
          <a:lstStyle/>
          <a:p>
            <a:pPr algn="l">
              <a:defRPr sz="1650" b="0">
                <a:solidFill>
                  <a:srgbClr val="334155"/>
                </a:solidFill>
              </a:defRPr>
            </a:pPr>
            <a:r>
              <a:rPr sz="1651">
                <a:solidFill>
                  <a:srgbClr val="334155"/>
                </a:solidFill>
              </a:rPr>
              <a:t>• Amazon SQS owns the middle responsibility in this flow.</a:t>
            </a:r>
          </a:p>
          <a:p>
            <a:pPr algn="l">
              <a:defRPr sz="1650" b="0">
                <a:solidFill>
                  <a:srgbClr val="334155"/>
                </a:solidFill>
              </a:defRPr>
            </a:pPr>
            <a:r>
              <a:rPr sz="1651">
                <a:solidFill>
                  <a:srgbClr val="334155"/>
                </a:solidFill>
              </a:rPr>
              <a:t>• IAM controls who can call or use the service.</a:t>
            </a:r>
          </a:p>
          <a:p>
            <a:pPr algn="l">
              <a:defRPr sz="1650" b="0">
                <a:solidFill>
                  <a:srgbClr val="334155"/>
                </a:solidFill>
              </a:defRPr>
            </a:pPr>
            <a:r>
              <a:rPr sz="1651">
                <a:solidFill>
                  <a:srgbClr val="334155"/>
                </a:solidFill>
              </a:rPr>
              <a:t>• CloudWatch and CloudTrail help with monitoring and audit trails.</a:t>
            </a:r>
          </a:p>
        </p:txBody>
      </p:sp>
    </p:spTree>
    <p:extLst>
      <p:ext uri="{BB962C8B-B14F-4D97-AF65-F5344CB8AC3E}">
        <p14:creationId xmlns:p14="http://schemas.microsoft.com/office/powerpoint/2010/main" val="50670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5C29866-02FE-4978-8092-6EA9697B1F2C}"/>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D7D00EBF-FA9B-4FBD-B82A-D7BFF53EBB49}"/>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4 · Process</a:t>
            </a:r>
          </a:p>
        </p:txBody>
      </p:sp>
      <p:sp>
        <p:nvSpPr>
          <p:cNvPr id="3" name="Rectangle 2">
            <a:extLst>
              <a:ext uri="{FF2B5EF4-FFF2-40B4-BE49-F238E27FC236}">
                <a16:creationId xmlns:a16="http://schemas.microsoft.com/office/drawing/2014/main" id="{E709BF62-94D9-427A-A79D-3E2F0436A7F3}"/>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18</a:t>
            </a:r>
          </a:p>
        </p:txBody>
      </p:sp>
      <p:sp>
        <p:nvSpPr>
          <p:cNvPr id="4" name="Rectangle 3">
            <a:extLst>
              <a:ext uri="{FF2B5EF4-FFF2-40B4-BE49-F238E27FC236}">
                <a16:creationId xmlns:a16="http://schemas.microsoft.com/office/drawing/2014/main" id="{B5943D59-37FD-4087-B746-26BFCC8455FA}"/>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How Amazon SQS works in practice</a:t>
            </a:r>
          </a:p>
        </p:txBody>
      </p:sp>
      <p:sp>
        <p:nvSpPr>
          <p:cNvPr id="5" name="Rectangle 4">
            <a:extLst>
              <a:ext uri="{FF2B5EF4-FFF2-40B4-BE49-F238E27FC236}">
                <a16:creationId xmlns:a16="http://schemas.microsoft.com/office/drawing/2014/main" id="{F56B6A69-7011-4342-A36D-E17B051F917D}"/>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Use this as the step-by-step explanation during the meeting.</a:t>
            </a:r>
          </a:p>
        </p:txBody>
      </p:sp>
      <p:sp>
        <p:nvSpPr>
          <p:cNvPr id="6" name="Rectangle: Rounded Corners 5">
            <a:extLst>
              <a:ext uri="{FF2B5EF4-FFF2-40B4-BE49-F238E27FC236}">
                <a16:creationId xmlns:a16="http://schemas.microsoft.com/office/drawing/2014/main" id="{5B46335A-BF83-4578-96CA-D040F115FEDD}"/>
              </a:ext>
            </a:extLst>
          </p:cNvPr>
          <p:cNvSpPr>
            <a:spLocks noGrp="1"/>
          </p:cNvSpPr>
          <p:nvPr/>
        </p:nvSpPr>
        <p:spPr>
          <a:xfrm>
            <a:off x="876301" y="19526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6BF18DCB-C472-4DFD-A021-3EA07ACFA9D0}"/>
              </a:ext>
            </a:extLst>
          </p:cNvPr>
          <p:cNvSpPr>
            <a:spLocks noGrp="1"/>
          </p:cNvSpPr>
          <p:nvPr/>
        </p:nvSpPr>
        <p:spPr>
          <a:xfrm>
            <a:off x="971549" y="20669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Producer sends message</a:t>
            </a:r>
          </a:p>
        </p:txBody>
      </p:sp>
      <p:sp>
        <p:nvSpPr>
          <p:cNvPr id="8" name="Arrow: Down 7">
            <a:extLst>
              <a:ext uri="{FF2B5EF4-FFF2-40B4-BE49-F238E27FC236}">
                <a16:creationId xmlns:a16="http://schemas.microsoft.com/office/drawing/2014/main" id="{A142BF52-A7A2-4497-8C2A-051EB566CC51}"/>
              </a:ext>
            </a:extLst>
          </p:cNvPr>
          <p:cNvSpPr>
            <a:spLocks noGrp="1"/>
          </p:cNvSpPr>
          <p:nvPr/>
        </p:nvSpPr>
        <p:spPr>
          <a:xfrm>
            <a:off x="3019426" y="2457449"/>
            <a:ext cx="190500" cy="95251"/>
          </a:xfrm>
          <a:prstGeom prst="down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F631A608-9F82-4BE1-84DB-EDF2CF164B2E}"/>
              </a:ext>
            </a:extLst>
          </p:cNvPr>
          <p:cNvSpPr>
            <a:spLocks noGrp="1"/>
          </p:cNvSpPr>
          <p:nvPr/>
        </p:nvSpPr>
        <p:spPr>
          <a:xfrm>
            <a:off x="876301" y="26003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A74EA0C2-159F-467D-AFA6-D93B254A6A70}"/>
              </a:ext>
            </a:extLst>
          </p:cNvPr>
          <p:cNvSpPr>
            <a:spLocks noGrp="1"/>
          </p:cNvSpPr>
          <p:nvPr/>
        </p:nvSpPr>
        <p:spPr>
          <a:xfrm>
            <a:off x="971549" y="27146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Queue stores message</a:t>
            </a:r>
          </a:p>
        </p:txBody>
      </p:sp>
      <p:sp>
        <p:nvSpPr>
          <p:cNvPr id="11" name="Arrow: Down 10">
            <a:extLst>
              <a:ext uri="{FF2B5EF4-FFF2-40B4-BE49-F238E27FC236}">
                <a16:creationId xmlns:a16="http://schemas.microsoft.com/office/drawing/2014/main" id="{6DAB186B-E1F7-4D2D-BEEC-770CC7D32EFD}"/>
              </a:ext>
            </a:extLst>
          </p:cNvPr>
          <p:cNvSpPr>
            <a:spLocks noGrp="1"/>
          </p:cNvSpPr>
          <p:nvPr/>
        </p:nvSpPr>
        <p:spPr>
          <a:xfrm>
            <a:off x="3019426" y="3105149"/>
            <a:ext cx="190500" cy="95251"/>
          </a:xfrm>
          <a:prstGeom prst="down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D6C3BB8F-5C33-4684-ABB4-B8FBFF4094BD}"/>
              </a:ext>
            </a:extLst>
          </p:cNvPr>
          <p:cNvSpPr>
            <a:spLocks noGrp="1"/>
          </p:cNvSpPr>
          <p:nvPr/>
        </p:nvSpPr>
        <p:spPr>
          <a:xfrm>
            <a:off x="876301" y="32480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A281B7A2-EE0D-4E41-BE54-34BE593895F2}"/>
              </a:ext>
            </a:extLst>
          </p:cNvPr>
          <p:cNvSpPr>
            <a:spLocks noGrp="1"/>
          </p:cNvSpPr>
          <p:nvPr/>
        </p:nvSpPr>
        <p:spPr>
          <a:xfrm>
            <a:off x="971549" y="33623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Consumer polls</a:t>
            </a:r>
          </a:p>
        </p:txBody>
      </p:sp>
      <p:sp>
        <p:nvSpPr>
          <p:cNvPr id="14" name="Arrow: Down 13">
            <a:extLst>
              <a:ext uri="{FF2B5EF4-FFF2-40B4-BE49-F238E27FC236}">
                <a16:creationId xmlns:a16="http://schemas.microsoft.com/office/drawing/2014/main" id="{DDC85720-FE7D-4583-969E-1275CBBE2128}"/>
              </a:ext>
            </a:extLst>
          </p:cNvPr>
          <p:cNvSpPr>
            <a:spLocks noGrp="1"/>
          </p:cNvSpPr>
          <p:nvPr/>
        </p:nvSpPr>
        <p:spPr>
          <a:xfrm>
            <a:off x="3019426" y="3752849"/>
            <a:ext cx="190500" cy="95251"/>
          </a:xfrm>
          <a:prstGeom prst="down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19139AA5-A020-46BB-BDA4-643BBCFF8A56}"/>
              </a:ext>
            </a:extLst>
          </p:cNvPr>
          <p:cNvSpPr>
            <a:spLocks noGrp="1"/>
          </p:cNvSpPr>
          <p:nvPr/>
        </p:nvSpPr>
        <p:spPr>
          <a:xfrm>
            <a:off x="876301" y="38957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E81DB837-3F73-41AF-A746-0295F673A7A8}"/>
              </a:ext>
            </a:extLst>
          </p:cNvPr>
          <p:cNvSpPr>
            <a:spLocks noGrp="1"/>
          </p:cNvSpPr>
          <p:nvPr/>
        </p:nvSpPr>
        <p:spPr>
          <a:xfrm>
            <a:off x="971549" y="40100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Consumer processes</a:t>
            </a:r>
          </a:p>
        </p:txBody>
      </p:sp>
      <p:sp>
        <p:nvSpPr>
          <p:cNvPr id="17" name="Arrow: Down 16">
            <a:extLst>
              <a:ext uri="{FF2B5EF4-FFF2-40B4-BE49-F238E27FC236}">
                <a16:creationId xmlns:a16="http://schemas.microsoft.com/office/drawing/2014/main" id="{614573C5-2A72-4DA1-8CFA-B72389321A77}"/>
              </a:ext>
            </a:extLst>
          </p:cNvPr>
          <p:cNvSpPr>
            <a:spLocks noGrp="1"/>
          </p:cNvSpPr>
          <p:nvPr/>
        </p:nvSpPr>
        <p:spPr>
          <a:xfrm>
            <a:off x="3019426" y="4400549"/>
            <a:ext cx="190500" cy="95251"/>
          </a:xfrm>
          <a:prstGeom prst="down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B029813F-6AC8-4733-B712-E39527B9F594}"/>
              </a:ext>
            </a:extLst>
          </p:cNvPr>
          <p:cNvSpPr>
            <a:spLocks noGrp="1"/>
          </p:cNvSpPr>
          <p:nvPr/>
        </p:nvSpPr>
        <p:spPr>
          <a:xfrm>
            <a:off x="876301" y="45434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09A49D04-AA50-4029-9875-07BD8E4CC13F}"/>
              </a:ext>
            </a:extLst>
          </p:cNvPr>
          <p:cNvSpPr>
            <a:spLocks noGrp="1"/>
          </p:cNvSpPr>
          <p:nvPr/>
        </p:nvSpPr>
        <p:spPr>
          <a:xfrm>
            <a:off x="971549" y="46577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Message is deleted</a:t>
            </a:r>
          </a:p>
        </p:txBody>
      </p:sp>
      <p:sp>
        <p:nvSpPr>
          <p:cNvPr id="20" name="Rectangle: Rounded Corners 19">
            <a:extLst>
              <a:ext uri="{FF2B5EF4-FFF2-40B4-BE49-F238E27FC236}">
                <a16:creationId xmlns:a16="http://schemas.microsoft.com/office/drawing/2014/main" id="{69209714-7D92-46F1-98A9-728D47D0AB8C}"/>
              </a:ext>
            </a:extLst>
          </p:cNvPr>
          <p:cNvSpPr>
            <a:spLocks noGrp="1"/>
          </p:cNvSpPr>
          <p:nvPr/>
        </p:nvSpPr>
        <p:spPr>
          <a:xfrm>
            <a:off x="6191250" y="2000251"/>
            <a:ext cx="4095751" cy="2286000"/>
          </a:xfrm>
          <a:prstGeom prst="roundRect">
            <a:avLst>
              <a:gd name="adj" fmla="val 2500"/>
            </a:avLst>
          </a:prstGeom>
          <a:solidFill>
            <a:srgbClr val="FFFFFF"/>
          </a:solidFill>
          <a:ln w="9525">
            <a:solidFill>
              <a:srgbClr val="D7E2EE"/>
            </a:solidFill>
            <a:prstDash val="solid"/>
          </a:ln>
        </p:spPr>
        <p:txBody>
          <a:bodyPr/>
          <a:lstStyle/>
          <a:p>
            <a:endParaRPr lang="en-IN"/>
          </a:p>
        </p:txBody>
      </p:sp>
      <p:sp>
        <p:nvSpPr>
          <p:cNvPr id="21" name="Rectangle 20">
            <a:extLst>
              <a:ext uri="{FF2B5EF4-FFF2-40B4-BE49-F238E27FC236}">
                <a16:creationId xmlns:a16="http://schemas.microsoft.com/office/drawing/2014/main" id="{E060BD90-87D4-44C1-B1F5-B6E158EFC493}"/>
              </a:ext>
            </a:extLst>
          </p:cNvPr>
          <p:cNvSpPr>
            <a:spLocks noGrp="1"/>
          </p:cNvSpPr>
          <p:nvPr/>
        </p:nvSpPr>
        <p:spPr>
          <a:xfrm>
            <a:off x="6477001" y="2266951"/>
            <a:ext cx="2857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Best practices</a:t>
            </a:r>
          </a:p>
        </p:txBody>
      </p:sp>
      <p:sp>
        <p:nvSpPr>
          <p:cNvPr id="22" name="Rectangle 21">
            <a:extLst>
              <a:ext uri="{FF2B5EF4-FFF2-40B4-BE49-F238E27FC236}">
                <a16:creationId xmlns:a16="http://schemas.microsoft.com/office/drawing/2014/main" id="{C53F0A3D-0246-4F84-A56D-A58C4A4A5ACF}"/>
              </a:ext>
            </a:extLst>
          </p:cNvPr>
          <p:cNvSpPr>
            <a:spLocks noGrp="1"/>
          </p:cNvSpPr>
          <p:nvPr/>
        </p:nvSpPr>
        <p:spPr>
          <a:xfrm>
            <a:off x="6477001" y="2819401"/>
            <a:ext cx="3333751" cy="1104900"/>
          </a:xfrm>
          <a:prstGeom prst="rect">
            <a:avLst/>
          </a:prstGeom>
          <a:noFill/>
          <a:ln w="0">
            <a:noFill/>
            <a:prstDash val="solid"/>
          </a:ln>
        </p:spPr>
        <p:txBody>
          <a:bodyPr/>
          <a:lstStyle/>
          <a:p>
            <a:pPr algn="l">
              <a:defRPr sz="1500" b="0">
                <a:solidFill>
                  <a:srgbClr val="334155"/>
                </a:solidFill>
              </a:defRPr>
            </a:pPr>
            <a:r>
              <a:rPr sz="1500">
                <a:solidFill>
                  <a:srgbClr val="334155"/>
                </a:solidFill>
              </a:rPr>
              <a:t>• Use DLQs for failed messages</a:t>
            </a:r>
          </a:p>
          <a:p>
            <a:pPr algn="l">
              <a:defRPr sz="1500" b="0">
                <a:solidFill>
                  <a:srgbClr val="334155"/>
                </a:solidFill>
              </a:defRPr>
            </a:pPr>
            <a:r>
              <a:rPr sz="1500">
                <a:solidFill>
                  <a:srgbClr val="334155"/>
                </a:solidFill>
              </a:rPr>
              <a:t>• Make consumers idempotent</a:t>
            </a:r>
          </a:p>
          <a:p>
            <a:pPr algn="l">
              <a:defRPr sz="1500" b="0">
                <a:solidFill>
                  <a:srgbClr val="334155"/>
                </a:solidFill>
              </a:defRPr>
            </a:pPr>
            <a:r>
              <a:rPr sz="1500">
                <a:solidFill>
                  <a:srgbClr val="334155"/>
                </a:solidFill>
              </a:rPr>
              <a:t>• Tune visibility timeout</a:t>
            </a:r>
          </a:p>
          <a:p>
            <a:pPr algn="l">
              <a:defRPr sz="1500" b="0">
                <a:solidFill>
                  <a:srgbClr val="334155"/>
                </a:solidFill>
              </a:defRPr>
            </a:pPr>
            <a:r>
              <a:rPr sz="1500">
                <a:solidFill>
                  <a:srgbClr val="334155"/>
                </a:solidFill>
              </a:rPr>
              <a:t>• Choose FIFO when order matters</a:t>
            </a:r>
          </a:p>
        </p:txBody>
      </p:sp>
      <p:sp>
        <p:nvSpPr>
          <p:cNvPr id="23" name="Rectangle: Rounded Corners 22">
            <a:extLst>
              <a:ext uri="{FF2B5EF4-FFF2-40B4-BE49-F238E27FC236}">
                <a16:creationId xmlns:a16="http://schemas.microsoft.com/office/drawing/2014/main" id="{74667C28-4823-420D-A087-62EFF72295AD}"/>
              </a:ext>
            </a:extLst>
          </p:cNvPr>
          <p:cNvSpPr>
            <a:spLocks noGrp="1"/>
          </p:cNvSpPr>
          <p:nvPr/>
        </p:nvSpPr>
        <p:spPr>
          <a:xfrm>
            <a:off x="6191250" y="4619625"/>
            <a:ext cx="4095751" cy="914400"/>
          </a:xfrm>
          <a:prstGeom prst="roundRect">
            <a:avLst>
              <a:gd name="adj" fmla="val 6250"/>
            </a:avLst>
          </a:prstGeom>
          <a:solidFill>
            <a:srgbClr val="EAF3FC"/>
          </a:solidFill>
          <a:ln w="9525">
            <a:solidFill>
              <a:srgbClr val="B7D4EF"/>
            </a:solidFill>
            <a:prstDash val="solid"/>
          </a:ln>
        </p:spPr>
        <p:txBody>
          <a:bodyPr/>
          <a:lstStyle/>
          <a:p>
            <a:endParaRPr lang="en-IN"/>
          </a:p>
        </p:txBody>
      </p:sp>
      <p:sp>
        <p:nvSpPr>
          <p:cNvPr id="24" name="Rectangle 23">
            <a:extLst>
              <a:ext uri="{FF2B5EF4-FFF2-40B4-BE49-F238E27FC236}">
                <a16:creationId xmlns:a16="http://schemas.microsoft.com/office/drawing/2014/main" id="{E63756A6-E37A-48D5-8F2A-77344F7A1A8C}"/>
              </a:ext>
            </a:extLst>
          </p:cNvPr>
          <p:cNvSpPr>
            <a:spLocks noGrp="1"/>
          </p:cNvSpPr>
          <p:nvPr/>
        </p:nvSpPr>
        <p:spPr>
          <a:xfrm>
            <a:off x="6477000" y="4876801"/>
            <a:ext cx="3429000" cy="361951"/>
          </a:xfrm>
          <a:prstGeom prst="rect">
            <a:avLst/>
          </a:prstGeom>
          <a:noFill/>
          <a:ln w="0">
            <a:noFill/>
            <a:prstDash val="solid"/>
          </a:ln>
        </p:spPr>
        <p:txBody>
          <a:bodyPr/>
          <a:lstStyle/>
          <a:p>
            <a:pPr algn="l">
              <a:defRPr sz="1650" b="1">
                <a:solidFill>
                  <a:srgbClr val="1F5D99"/>
                </a:solidFill>
              </a:defRPr>
            </a:pPr>
            <a:r>
              <a:rPr sz="1651" b="1">
                <a:solidFill>
                  <a:srgbClr val="1F5D99"/>
                </a:solidFill>
              </a:rPr>
              <a:t>Interview cue: Standard vs FIFO queue</a:t>
            </a:r>
          </a:p>
        </p:txBody>
      </p:sp>
    </p:spTree>
    <p:extLst>
      <p:ext uri="{BB962C8B-B14F-4D97-AF65-F5344CB8AC3E}">
        <p14:creationId xmlns:p14="http://schemas.microsoft.com/office/powerpoint/2010/main" val="1088341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CA6110C-3763-43DA-AFA6-CC7B53740D25}"/>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29A14A43-B410-466F-8E5E-514DBEBD1B36}"/>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4 · Recap</a:t>
            </a:r>
          </a:p>
        </p:txBody>
      </p:sp>
      <p:sp>
        <p:nvSpPr>
          <p:cNvPr id="3" name="Rectangle 2">
            <a:extLst>
              <a:ext uri="{FF2B5EF4-FFF2-40B4-BE49-F238E27FC236}">
                <a16:creationId xmlns:a16="http://schemas.microsoft.com/office/drawing/2014/main" id="{400617B8-B9A8-46E5-98AD-487780A7FDE4}"/>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19</a:t>
            </a:r>
          </a:p>
        </p:txBody>
      </p:sp>
      <p:sp>
        <p:nvSpPr>
          <p:cNvPr id="4" name="Rectangle 3">
            <a:extLst>
              <a:ext uri="{FF2B5EF4-FFF2-40B4-BE49-F238E27FC236}">
                <a16:creationId xmlns:a16="http://schemas.microsoft.com/office/drawing/2014/main" id="{F5757D35-A101-41AC-892E-46ABE5157924}"/>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Amazon SQS: what to remember</a:t>
            </a:r>
          </a:p>
        </p:txBody>
      </p:sp>
      <p:sp>
        <p:nvSpPr>
          <p:cNvPr id="5" name="Rectangle 4">
            <a:extLst>
              <a:ext uri="{FF2B5EF4-FFF2-40B4-BE49-F238E27FC236}">
                <a16:creationId xmlns:a16="http://schemas.microsoft.com/office/drawing/2014/main" id="{B00A1471-661C-4117-9C43-3FA4FE4FB245}"/>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Close the module with practical rules and common questions.</a:t>
            </a:r>
          </a:p>
        </p:txBody>
      </p:sp>
      <p:sp>
        <p:nvSpPr>
          <p:cNvPr id="6" name="Rectangle 5">
            <a:extLst>
              <a:ext uri="{FF2B5EF4-FFF2-40B4-BE49-F238E27FC236}">
                <a16:creationId xmlns:a16="http://schemas.microsoft.com/office/drawing/2014/main" id="{D1B2E87F-A37E-44D3-955F-FC4E9D117341}"/>
              </a:ext>
            </a:extLst>
          </p:cNvPr>
          <p:cNvSpPr>
            <a:spLocks noGrp="1"/>
          </p:cNvSpPr>
          <p:nvPr/>
        </p:nvSpPr>
        <p:spPr>
          <a:xfrm>
            <a:off x="857251"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Common questions</a:t>
            </a:r>
          </a:p>
        </p:txBody>
      </p:sp>
      <p:sp>
        <p:nvSpPr>
          <p:cNvPr id="7" name="Rectangle 6">
            <a:extLst>
              <a:ext uri="{FF2B5EF4-FFF2-40B4-BE49-F238E27FC236}">
                <a16:creationId xmlns:a16="http://schemas.microsoft.com/office/drawing/2014/main" id="{EE8A4631-D169-4267-B8D4-062668E55B1B}"/>
              </a:ext>
            </a:extLst>
          </p:cNvPr>
          <p:cNvSpPr>
            <a:spLocks noGrp="1"/>
          </p:cNvSpPr>
          <p:nvPr/>
        </p:nvSpPr>
        <p:spPr>
          <a:xfrm>
            <a:off x="952501" y="2571751"/>
            <a:ext cx="4381500" cy="1524000"/>
          </a:xfrm>
          <a:prstGeom prst="rect">
            <a:avLst/>
          </a:prstGeom>
          <a:noFill/>
          <a:ln w="0">
            <a:noFill/>
            <a:prstDash val="solid"/>
          </a:ln>
        </p:spPr>
        <p:txBody>
          <a:bodyPr/>
          <a:lstStyle/>
          <a:p>
            <a:pPr algn="l">
              <a:defRPr sz="1800" b="0">
                <a:solidFill>
                  <a:srgbClr val="334155"/>
                </a:solidFill>
              </a:defRPr>
            </a:pPr>
            <a:r>
              <a:rPr>
                <a:solidFill>
                  <a:srgbClr val="334155"/>
                </a:solidFill>
              </a:rPr>
              <a:t>• Standard vs FIFO queue</a:t>
            </a:r>
          </a:p>
          <a:p>
            <a:pPr algn="l">
              <a:defRPr sz="1800" b="0">
                <a:solidFill>
                  <a:srgbClr val="334155"/>
                </a:solidFill>
              </a:defRPr>
            </a:pPr>
            <a:r>
              <a:rPr>
                <a:solidFill>
                  <a:srgbClr val="334155"/>
                </a:solidFill>
              </a:rPr>
              <a:t>• Visibility timeout</a:t>
            </a:r>
          </a:p>
          <a:p>
            <a:pPr algn="l">
              <a:defRPr sz="1800" b="0">
                <a:solidFill>
                  <a:srgbClr val="334155"/>
                </a:solidFill>
              </a:defRPr>
            </a:pPr>
            <a:r>
              <a:rPr>
                <a:solidFill>
                  <a:srgbClr val="334155"/>
                </a:solidFill>
              </a:rPr>
              <a:t>• Why use SQS with Lambda?</a:t>
            </a:r>
          </a:p>
        </p:txBody>
      </p:sp>
      <p:sp>
        <p:nvSpPr>
          <p:cNvPr id="8" name="Rectangle 7">
            <a:extLst>
              <a:ext uri="{FF2B5EF4-FFF2-40B4-BE49-F238E27FC236}">
                <a16:creationId xmlns:a16="http://schemas.microsoft.com/office/drawing/2014/main" id="{896086B2-1DDB-439C-A28E-0C82C7004B4C}"/>
              </a:ext>
            </a:extLst>
          </p:cNvPr>
          <p:cNvSpPr>
            <a:spLocks noGrp="1"/>
          </p:cNvSpPr>
          <p:nvPr/>
        </p:nvSpPr>
        <p:spPr>
          <a:xfrm>
            <a:off x="6334125"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One-line memory hook</a:t>
            </a:r>
          </a:p>
        </p:txBody>
      </p:sp>
      <p:sp>
        <p:nvSpPr>
          <p:cNvPr id="9" name="Rectangle: Rounded Corners 8">
            <a:extLst>
              <a:ext uri="{FF2B5EF4-FFF2-40B4-BE49-F238E27FC236}">
                <a16:creationId xmlns:a16="http://schemas.microsoft.com/office/drawing/2014/main" id="{B06B5F3C-B6E9-49EF-BD3E-7C84A450AE93}"/>
              </a:ext>
            </a:extLst>
          </p:cNvPr>
          <p:cNvSpPr>
            <a:spLocks noGrp="1"/>
          </p:cNvSpPr>
          <p:nvPr/>
        </p:nvSpPr>
        <p:spPr>
          <a:xfrm>
            <a:off x="6191249" y="2571751"/>
            <a:ext cx="4286251" cy="1524000"/>
          </a:xfrm>
          <a:prstGeom prst="roundRect">
            <a:avLst>
              <a:gd name="adj" fmla="val 3750"/>
            </a:avLst>
          </a:prstGeom>
          <a:solidFill>
            <a:srgbClr val="12233F"/>
          </a:solidFill>
          <a:ln w="9525">
            <a:solidFill>
              <a:srgbClr val="12233F"/>
            </a:solidFill>
            <a:prstDash val="solid"/>
          </a:ln>
        </p:spPr>
        <p:txBody>
          <a:bodyPr/>
          <a:lstStyle/>
          <a:p>
            <a:endParaRPr lang="en-IN"/>
          </a:p>
        </p:txBody>
      </p:sp>
      <p:sp>
        <p:nvSpPr>
          <p:cNvPr id="10" name="Rectangle 9">
            <a:extLst>
              <a:ext uri="{FF2B5EF4-FFF2-40B4-BE49-F238E27FC236}">
                <a16:creationId xmlns:a16="http://schemas.microsoft.com/office/drawing/2014/main" id="{6556C08A-A631-4AD2-A9C6-19F7C0384964}"/>
              </a:ext>
            </a:extLst>
          </p:cNvPr>
          <p:cNvSpPr>
            <a:spLocks noGrp="1"/>
          </p:cNvSpPr>
          <p:nvPr/>
        </p:nvSpPr>
        <p:spPr>
          <a:xfrm>
            <a:off x="6534151" y="2952749"/>
            <a:ext cx="3619500" cy="781051"/>
          </a:xfrm>
          <a:prstGeom prst="rect">
            <a:avLst/>
          </a:prstGeom>
          <a:noFill/>
          <a:ln w="0">
            <a:noFill/>
            <a:prstDash val="solid"/>
          </a:ln>
        </p:spPr>
        <p:txBody>
          <a:bodyPr/>
          <a:lstStyle/>
          <a:p>
            <a:pPr algn="ctr">
              <a:defRPr sz="2100" b="1">
                <a:solidFill>
                  <a:srgbClr val="FFFFFF"/>
                </a:solidFill>
              </a:defRPr>
            </a:pPr>
            <a:r>
              <a:rPr sz="2100" b="1">
                <a:solidFill>
                  <a:srgbClr val="FFFFFF"/>
                </a:solidFill>
              </a:rPr>
              <a:t>SQS lets systems exchange work without waiting on each other.</a:t>
            </a:r>
          </a:p>
        </p:txBody>
      </p:sp>
    </p:spTree>
    <p:extLst>
      <p:ext uri="{BB962C8B-B14F-4D97-AF65-F5344CB8AC3E}">
        <p14:creationId xmlns:p14="http://schemas.microsoft.com/office/powerpoint/2010/main" val="1569648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90B03F4-CC91-4078-860B-C5C872126E96}"/>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995BA8BC-9C8D-40D0-A5B4-17B74110B1AD}"/>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5 · Managed message broker</a:t>
            </a:r>
          </a:p>
        </p:txBody>
      </p:sp>
      <p:sp>
        <p:nvSpPr>
          <p:cNvPr id="3" name="Rectangle 2">
            <a:extLst>
              <a:ext uri="{FF2B5EF4-FFF2-40B4-BE49-F238E27FC236}">
                <a16:creationId xmlns:a16="http://schemas.microsoft.com/office/drawing/2014/main" id="{E5570919-E729-4DFC-94EF-A2C607BA633A}"/>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20</a:t>
            </a:r>
          </a:p>
        </p:txBody>
      </p:sp>
      <p:sp>
        <p:nvSpPr>
          <p:cNvPr id="4" name="Rectangle 3">
            <a:extLst>
              <a:ext uri="{FF2B5EF4-FFF2-40B4-BE49-F238E27FC236}">
                <a16:creationId xmlns:a16="http://schemas.microsoft.com/office/drawing/2014/main" id="{AF11E3D1-A979-4E34-B93E-2D85BAE841CF}"/>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Amazon MQ: what it is</a:t>
            </a:r>
          </a:p>
        </p:txBody>
      </p:sp>
      <p:sp>
        <p:nvSpPr>
          <p:cNvPr id="5" name="Rectangle 4">
            <a:extLst>
              <a:ext uri="{FF2B5EF4-FFF2-40B4-BE49-F238E27FC236}">
                <a16:creationId xmlns:a16="http://schemas.microsoft.com/office/drawing/2014/main" id="{5599B559-CEBE-4D57-83C0-B167B9DF07EF}"/>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A managed broker service for Apache ActiveMQ Classic and RabbitMQ with standard messaging protocols.</a:t>
            </a:r>
          </a:p>
        </p:txBody>
      </p:sp>
      <p:sp>
        <p:nvSpPr>
          <p:cNvPr id="6" name="Oval 5">
            <a:extLst>
              <a:ext uri="{FF2B5EF4-FFF2-40B4-BE49-F238E27FC236}">
                <a16:creationId xmlns:a16="http://schemas.microsoft.com/office/drawing/2014/main" id="{C6DD31D5-F20D-48FA-A1AC-D5CF85F9E2AB}"/>
              </a:ext>
            </a:extLst>
          </p:cNvPr>
          <p:cNvSpPr>
            <a:spLocks noGrp="1"/>
          </p:cNvSpPr>
          <p:nvPr/>
        </p:nvSpPr>
        <p:spPr>
          <a:xfrm>
            <a:off x="9239251" y="876300"/>
            <a:ext cx="1066800" cy="1066800"/>
          </a:xfrm>
          <a:prstGeom prst="ellipse">
            <a:avLst/>
          </a:prstGeom>
          <a:solidFill>
            <a:srgbClr val="12233F"/>
          </a:solidFill>
          <a:ln w="28575">
            <a:solidFill>
              <a:srgbClr val="FF9900"/>
            </a:solidFill>
            <a:prstDash val="solid"/>
          </a:ln>
        </p:spPr>
        <p:txBody>
          <a:bodyPr/>
          <a:lstStyle/>
          <a:p>
            <a:endParaRPr lang="en-IN"/>
          </a:p>
        </p:txBody>
      </p:sp>
      <p:sp>
        <p:nvSpPr>
          <p:cNvPr id="7" name="Rectangle 6">
            <a:extLst>
              <a:ext uri="{FF2B5EF4-FFF2-40B4-BE49-F238E27FC236}">
                <a16:creationId xmlns:a16="http://schemas.microsoft.com/office/drawing/2014/main" id="{A4D4B796-2B3B-4178-8251-3C3F3A6731ED}"/>
              </a:ext>
            </a:extLst>
          </p:cNvPr>
          <p:cNvSpPr>
            <a:spLocks noGrp="1"/>
          </p:cNvSpPr>
          <p:nvPr/>
        </p:nvSpPr>
        <p:spPr>
          <a:xfrm>
            <a:off x="9239251" y="1133475"/>
            <a:ext cx="1066800" cy="400051"/>
          </a:xfrm>
          <a:prstGeom prst="rect">
            <a:avLst/>
          </a:prstGeom>
          <a:noFill/>
          <a:ln w="0">
            <a:noFill/>
            <a:prstDash val="solid"/>
          </a:ln>
        </p:spPr>
        <p:txBody>
          <a:bodyPr/>
          <a:lstStyle/>
          <a:p>
            <a:pPr algn="ctr">
              <a:defRPr sz="1950" b="1">
                <a:solidFill>
                  <a:srgbClr val="FFFFFF"/>
                </a:solidFill>
              </a:defRPr>
            </a:pPr>
            <a:r>
              <a:rPr sz="1951" b="1">
                <a:solidFill>
                  <a:srgbClr val="FFFFFF"/>
                </a:solidFill>
              </a:rPr>
              <a:t>M</a:t>
            </a:r>
          </a:p>
        </p:txBody>
      </p:sp>
      <p:sp>
        <p:nvSpPr>
          <p:cNvPr id="8" name="Rectangle: Rounded Corners 7">
            <a:extLst>
              <a:ext uri="{FF2B5EF4-FFF2-40B4-BE49-F238E27FC236}">
                <a16:creationId xmlns:a16="http://schemas.microsoft.com/office/drawing/2014/main" id="{2A86E98A-8599-4695-B837-AA88DD33CC8B}"/>
              </a:ext>
            </a:extLst>
          </p:cNvPr>
          <p:cNvSpPr>
            <a:spLocks noGrp="1"/>
          </p:cNvSpPr>
          <p:nvPr/>
        </p:nvSpPr>
        <p:spPr>
          <a:xfrm>
            <a:off x="742951" y="2095501"/>
            <a:ext cx="4762500" cy="2476500"/>
          </a:xfrm>
          <a:prstGeom prst="roundRect">
            <a:avLst>
              <a:gd name="adj" fmla="val 2308"/>
            </a:avLst>
          </a:prstGeom>
          <a:solidFill>
            <a:srgbClr val="FFFFFF"/>
          </a:solidFill>
          <a:ln w="9525">
            <a:solidFill>
              <a:srgbClr val="D7E2EE"/>
            </a:solidFill>
            <a:prstDash val="solid"/>
          </a:ln>
        </p:spPr>
        <p:txBody>
          <a:bodyPr/>
          <a:lstStyle/>
          <a:p>
            <a:endParaRPr lang="en-IN"/>
          </a:p>
        </p:txBody>
      </p:sp>
      <p:sp>
        <p:nvSpPr>
          <p:cNvPr id="9" name="Rectangle 8">
            <a:extLst>
              <a:ext uri="{FF2B5EF4-FFF2-40B4-BE49-F238E27FC236}">
                <a16:creationId xmlns:a16="http://schemas.microsoft.com/office/drawing/2014/main" id="{59F2C4F8-D376-48B3-AB6C-55499F0957C4}"/>
              </a:ext>
            </a:extLst>
          </p:cNvPr>
          <p:cNvSpPr>
            <a:spLocks noGrp="1"/>
          </p:cNvSpPr>
          <p:nvPr/>
        </p:nvSpPr>
        <p:spPr>
          <a:xfrm>
            <a:off x="1009651" y="2362200"/>
            <a:ext cx="38100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Use it when you need to</a:t>
            </a:r>
          </a:p>
        </p:txBody>
      </p:sp>
      <p:sp>
        <p:nvSpPr>
          <p:cNvPr id="10" name="Rectangle 9">
            <a:extLst>
              <a:ext uri="{FF2B5EF4-FFF2-40B4-BE49-F238E27FC236}">
                <a16:creationId xmlns:a16="http://schemas.microsoft.com/office/drawing/2014/main" id="{4F4CB03E-28FE-4DB1-8B8B-AC50BB41689F}"/>
              </a:ext>
            </a:extLst>
          </p:cNvPr>
          <p:cNvSpPr>
            <a:spLocks noGrp="1"/>
          </p:cNvSpPr>
          <p:nvPr/>
        </p:nvSpPr>
        <p:spPr>
          <a:xfrm>
            <a:off x="1066801" y="2895600"/>
            <a:ext cx="4000500" cy="1238251"/>
          </a:xfrm>
          <a:prstGeom prst="rect">
            <a:avLst/>
          </a:prstGeom>
          <a:noFill/>
          <a:ln w="0">
            <a:noFill/>
            <a:prstDash val="solid"/>
          </a:ln>
        </p:spPr>
        <p:txBody>
          <a:bodyPr/>
          <a:lstStyle/>
          <a:p>
            <a:pPr algn="l">
              <a:defRPr sz="1650" b="0">
                <a:solidFill>
                  <a:srgbClr val="334155"/>
                </a:solidFill>
              </a:defRPr>
            </a:pPr>
            <a:r>
              <a:rPr sz="1651">
                <a:solidFill>
                  <a:srgbClr val="334155"/>
                </a:solidFill>
              </a:rPr>
              <a:t>• Migrating existing brokers</a:t>
            </a:r>
          </a:p>
          <a:p>
            <a:pPr algn="l">
              <a:defRPr sz="1650" b="0">
                <a:solidFill>
                  <a:srgbClr val="334155"/>
                </a:solidFill>
              </a:defRPr>
            </a:pPr>
            <a:r>
              <a:rPr sz="1651">
                <a:solidFill>
                  <a:srgbClr val="334155"/>
                </a:solidFill>
              </a:rPr>
              <a:t>• JMS / AMQP / MQTT workloads</a:t>
            </a:r>
          </a:p>
          <a:p>
            <a:pPr algn="l">
              <a:defRPr sz="1650" b="0">
                <a:solidFill>
                  <a:srgbClr val="334155"/>
                </a:solidFill>
              </a:defRPr>
            </a:pPr>
            <a:r>
              <a:rPr sz="1651">
                <a:solidFill>
                  <a:srgbClr val="334155"/>
                </a:solidFill>
              </a:rPr>
              <a:t>• Hybrid enterprise messaging</a:t>
            </a:r>
          </a:p>
          <a:p>
            <a:pPr algn="l">
              <a:defRPr sz="1650" b="0">
                <a:solidFill>
                  <a:srgbClr val="334155"/>
                </a:solidFill>
              </a:defRPr>
            </a:pPr>
            <a:r>
              <a:rPr sz="1651">
                <a:solidFill>
                  <a:srgbClr val="334155"/>
                </a:solidFill>
              </a:rPr>
              <a:t>• Topic-based messaging</a:t>
            </a:r>
          </a:p>
        </p:txBody>
      </p:sp>
      <p:sp>
        <p:nvSpPr>
          <p:cNvPr id="11" name="Rectangle: Rounded Corners 10">
            <a:extLst>
              <a:ext uri="{FF2B5EF4-FFF2-40B4-BE49-F238E27FC236}">
                <a16:creationId xmlns:a16="http://schemas.microsoft.com/office/drawing/2014/main" id="{64AD92B5-9727-42F2-8496-384DE75C85A5}"/>
              </a:ext>
            </a:extLst>
          </p:cNvPr>
          <p:cNvSpPr>
            <a:spLocks noGrp="1"/>
          </p:cNvSpPr>
          <p:nvPr/>
        </p:nvSpPr>
        <p:spPr>
          <a:xfrm>
            <a:off x="6096001" y="2095501"/>
            <a:ext cx="4381500" cy="2476500"/>
          </a:xfrm>
          <a:prstGeom prst="roundRect">
            <a:avLst>
              <a:gd name="adj" fmla="val 2308"/>
            </a:avLst>
          </a:prstGeom>
          <a:solidFill>
            <a:srgbClr val="EAF3FC"/>
          </a:solidFill>
          <a:ln w="9525">
            <a:solidFill>
              <a:srgbClr val="B7D4EF"/>
            </a:solidFill>
            <a:prstDash val="solid"/>
          </a:ln>
        </p:spPr>
        <p:txBody>
          <a:bodyPr/>
          <a:lstStyle/>
          <a:p>
            <a:endParaRPr lang="en-IN"/>
          </a:p>
        </p:txBody>
      </p:sp>
      <p:sp>
        <p:nvSpPr>
          <p:cNvPr id="12" name="Rectangle 11">
            <a:extLst>
              <a:ext uri="{FF2B5EF4-FFF2-40B4-BE49-F238E27FC236}">
                <a16:creationId xmlns:a16="http://schemas.microsoft.com/office/drawing/2014/main" id="{E03113BE-41A5-40A5-87A3-99CB52BAB18F}"/>
              </a:ext>
            </a:extLst>
          </p:cNvPr>
          <p:cNvSpPr>
            <a:spLocks noGrp="1"/>
          </p:cNvSpPr>
          <p:nvPr/>
        </p:nvSpPr>
        <p:spPr>
          <a:xfrm>
            <a:off x="6381751" y="2362200"/>
            <a:ext cx="3619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Simple class explanation</a:t>
            </a:r>
          </a:p>
        </p:txBody>
      </p:sp>
      <p:sp>
        <p:nvSpPr>
          <p:cNvPr id="13" name="Rectangle 12">
            <a:extLst>
              <a:ext uri="{FF2B5EF4-FFF2-40B4-BE49-F238E27FC236}">
                <a16:creationId xmlns:a16="http://schemas.microsoft.com/office/drawing/2014/main" id="{281F091D-2677-482F-A28F-55FF5934856F}"/>
              </a:ext>
            </a:extLst>
          </p:cNvPr>
          <p:cNvSpPr>
            <a:spLocks noGrp="1"/>
          </p:cNvSpPr>
          <p:nvPr/>
        </p:nvSpPr>
        <p:spPr>
          <a:xfrm>
            <a:off x="6381751" y="2905125"/>
            <a:ext cx="3619500" cy="1143000"/>
          </a:xfrm>
          <a:prstGeom prst="rect">
            <a:avLst/>
          </a:prstGeom>
          <a:noFill/>
          <a:ln w="0">
            <a:noFill/>
            <a:prstDash val="solid"/>
          </a:ln>
        </p:spPr>
        <p:txBody>
          <a:bodyPr/>
          <a:lstStyle/>
          <a:p>
            <a:pPr algn="l">
              <a:defRPr sz="1800" b="0">
                <a:solidFill>
                  <a:srgbClr val="334155"/>
                </a:solidFill>
              </a:defRPr>
            </a:pPr>
            <a:r>
              <a:rPr>
                <a:solidFill>
                  <a:srgbClr val="334155"/>
                </a:solidFill>
              </a:rPr>
              <a:t>Like a managed enterprise post office for apps that already speak broker protocols.</a:t>
            </a:r>
          </a:p>
        </p:txBody>
      </p:sp>
    </p:spTree>
    <p:extLst>
      <p:ext uri="{BB962C8B-B14F-4D97-AF65-F5344CB8AC3E}">
        <p14:creationId xmlns:p14="http://schemas.microsoft.com/office/powerpoint/2010/main" val="6173965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D399CCC5-C366-4828-B0AB-68B5192FA2F4}"/>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42035BB6-0570-4B82-A9EA-96CAA8D98673}"/>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5 · Architecture</a:t>
            </a:r>
          </a:p>
        </p:txBody>
      </p:sp>
      <p:sp>
        <p:nvSpPr>
          <p:cNvPr id="3" name="Rectangle 2">
            <a:extLst>
              <a:ext uri="{FF2B5EF4-FFF2-40B4-BE49-F238E27FC236}">
                <a16:creationId xmlns:a16="http://schemas.microsoft.com/office/drawing/2014/main" id="{67A5F271-468E-4AD5-A830-C0B92FE17C91}"/>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21</a:t>
            </a:r>
          </a:p>
        </p:txBody>
      </p:sp>
      <p:sp>
        <p:nvSpPr>
          <p:cNvPr id="4" name="Rectangle 3">
            <a:extLst>
              <a:ext uri="{FF2B5EF4-FFF2-40B4-BE49-F238E27FC236}">
                <a16:creationId xmlns:a16="http://schemas.microsoft.com/office/drawing/2014/main" id="{62AD00DF-A95C-49B8-A39A-2F8084967423}"/>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Amazon MQ architecture</a:t>
            </a:r>
          </a:p>
        </p:txBody>
      </p:sp>
      <p:sp>
        <p:nvSpPr>
          <p:cNvPr id="5" name="Rectangle 4">
            <a:extLst>
              <a:ext uri="{FF2B5EF4-FFF2-40B4-BE49-F238E27FC236}">
                <a16:creationId xmlns:a16="http://schemas.microsoft.com/office/drawing/2014/main" id="{7D4ABC18-418B-4E6F-84A3-0CAC3FC52A16}"/>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Follow the request or data path from left to right.</a:t>
            </a:r>
          </a:p>
        </p:txBody>
      </p:sp>
      <p:sp>
        <p:nvSpPr>
          <p:cNvPr id="6" name="Rectangle: Rounded Corners 5">
            <a:extLst>
              <a:ext uri="{FF2B5EF4-FFF2-40B4-BE49-F238E27FC236}">
                <a16:creationId xmlns:a16="http://schemas.microsoft.com/office/drawing/2014/main" id="{35B4D48D-17F3-443E-A5DD-5A16EF778743}"/>
              </a:ext>
            </a:extLst>
          </p:cNvPr>
          <p:cNvSpPr>
            <a:spLocks noGrp="1"/>
          </p:cNvSpPr>
          <p:nvPr/>
        </p:nvSpPr>
        <p:spPr>
          <a:xfrm>
            <a:off x="857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F74F54AA-6457-4460-A15E-8E1EB57C9BAE}"/>
              </a:ext>
            </a:extLst>
          </p:cNvPr>
          <p:cNvSpPr>
            <a:spLocks noGrp="1"/>
          </p:cNvSpPr>
          <p:nvPr/>
        </p:nvSpPr>
        <p:spPr>
          <a:xfrm>
            <a:off x="952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Legacy app</a:t>
            </a:r>
          </a:p>
        </p:txBody>
      </p:sp>
      <p:sp>
        <p:nvSpPr>
          <p:cNvPr id="8" name="Arrow: Right 7">
            <a:extLst>
              <a:ext uri="{FF2B5EF4-FFF2-40B4-BE49-F238E27FC236}">
                <a16:creationId xmlns:a16="http://schemas.microsoft.com/office/drawing/2014/main" id="{A5D65195-20B7-4F65-B839-7DD7762F9431}"/>
              </a:ext>
            </a:extLst>
          </p:cNvPr>
          <p:cNvSpPr>
            <a:spLocks noGrp="1"/>
          </p:cNvSpPr>
          <p:nvPr/>
        </p:nvSpPr>
        <p:spPr>
          <a:xfrm>
            <a:off x="2724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6ABB8D70-D625-4302-81F2-AE700A33E746}"/>
              </a:ext>
            </a:extLst>
          </p:cNvPr>
          <p:cNvSpPr>
            <a:spLocks noGrp="1"/>
          </p:cNvSpPr>
          <p:nvPr/>
        </p:nvSpPr>
        <p:spPr>
          <a:xfrm>
            <a:off x="2952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5DE7315F-38EA-4506-A04C-6A5959B87A18}"/>
              </a:ext>
            </a:extLst>
          </p:cNvPr>
          <p:cNvSpPr>
            <a:spLocks noGrp="1"/>
          </p:cNvSpPr>
          <p:nvPr/>
        </p:nvSpPr>
        <p:spPr>
          <a:xfrm>
            <a:off x="3048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Amazon MQ broker</a:t>
            </a:r>
          </a:p>
        </p:txBody>
      </p:sp>
      <p:sp>
        <p:nvSpPr>
          <p:cNvPr id="11" name="Arrow: Right 10">
            <a:extLst>
              <a:ext uri="{FF2B5EF4-FFF2-40B4-BE49-F238E27FC236}">
                <a16:creationId xmlns:a16="http://schemas.microsoft.com/office/drawing/2014/main" id="{9FD59A0C-0675-493D-99AE-4549F205834B}"/>
              </a:ext>
            </a:extLst>
          </p:cNvPr>
          <p:cNvSpPr>
            <a:spLocks noGrp="1"/>
          </p:cNvSpPr>
          <p:nvPr/>
        </p:nvSpPr>
        <p:spPr>
          <a:xfrm>
            <a:off x="4819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2EC8C0BA-C4D1-4B08-8D72-7433F91AE95A}"/>
              </a:ext>
            </a:extLst>
          </p:cNvPr>
          <p:cNvSpPr>
            <a:spLocks noGrp="1"/>
          </p:cNvSpPr>
          <p:nvPr/>
        </p:nvSpPr>
        <p:spPr>
          <a:xfrm>
            <a:off x="5048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FA8B8529-9E49-48B6-961D-4D51B2201654}"/>
              </a:ext>
            </a:extLst>
          </p:cNvPr>
          <p:cNvSpPr>
            <a:spLocks noGrp="1"/>
          </p:cNvSpPr>
          <p:nvPr/>
        </p:nvSpPr>
        <p:spPr>
          <a:xfrm>
            <a:off x="5143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Queues / topics</a:t>
            </a:r>
          </a:p>
        </p:txBody>
      </p:sp>
      <p:sp>
        <p:nvSpPr>
          <p:cNvPr id="14" name="Arrow: Right 13">
            <a:extLst>
              <a:ext uri="{FF2B5EF4-FFF2-40B4-BE49-F238E27FC236}">
                <a16:creationId xmlns:a16="http://schemas.microsoft.com/office/drawing/2014/main" id="{79A07A81-0BC7-4739-9649-C57480896B21}"/>
              </a:ext>
            </a:extLst>
          </p:cNvPr>
          <p:cNvSpPr>
            <a:spLocks noGrp="1"/>
          </p:cNvSpPr>
          <p:nvPr/>
        </p:nvSpPr>
        <p:spPr>
          <a:xfrm>
            <a:off x="6915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FD9D7906-B4C5-4C88-A2BD-F5A539889553}"/>
              </a:ext>
            </a:extLst>
          </p:cNvPr>
          <p:cNvSpPr>
            <a:spLocks noGrp="1"/>
          </p:cNvSpPr>
          <p:nvPr/>
        </p:nvSpPr>
        <p:spPr>
          <a:xfrm>
            <a:off x="7143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7F0D8954-809E-4662-9257-7814382D8BA5}"/>
              </a:ext>
            </a:extLst>
          </p:cNvPr>
          <p:cNvSpPr>
            <a:spLocks noGrp="1"/>
          </p:cNvSpPr>
          <p:nvPr/>
        </p:nvSpPr>
        <p:spPr>
          <a:xfrm>
            <a:off x="7239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Consumer apps</a:t>
            </a:r>
          </a:p>
        </p:txBody>
      </p:sp>
      <p:sp>
        <p:nvSpPr>
          <p:cNvPr id="17" name="Arrow: Right 16">
            <a:extLst>
              <a:ext uri="{FF2B5EF4-FFF2-40B4-BE49-F238E27FC236}">
                <a16:creationId xmlns:a16="http://schemas.microsoft.com/office/drawing/2014/main" id="{341182F4-027F-4425-9F49-4705C72E3E83}"/>
              </a:ext>
            </a:extLst>
          </p:cNvPr>
          <p:cNvSpPr>
            <a:spLocks noGrp="1"/>
          </p:cNvSpPr>
          <p:nvPr/>
        </p:nvSpPr>
        <p:spPr>
          <a:xfrm>
            <a:off x="9010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17E234D1-62EC-4DF1-986E-B19E286E291B}"/>
              </a:ext>
            </a:extLst>
          </p:cNvPr>
          <p:cNvSpPr>
            <a:spLocks noGrp="1"/>
          </p:cNvSpPr>
          <p:nvPr/>
        </p:nvSpPr>
        <p:spPr>
          <a:xfrm>
            <a:off x="9239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C4D20469-9CB4-4EA1-A8D8-D31E2DDBE270}"/>
              </a:ext>
            </a:extLst>
          </p:cNvPr>
          <p:cNvSpPr>
            <a:spLocks noGrp="1"/>
          </p:cNvSpPr>
          <p:nvPr/>
        </p:nvSpPr>
        <p:spPr>
          <a:xfrm>
            <a:off x="9334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CloudWatch</a:t>
            </a:r>
          </a:p>
        </p:txBody>
      </p:sp>
      <p:sp>
        <p:nvSpPr>
          <p:cNvPr id="20" name="Rectangle 19">
            <a:extLst>
              <a:ext uri="{FF2B5EF4-FFF2-40B4-BE49-F238E27FC236}">
                <a16:creationId xmlns:a16="http://schemas.microsoft.com/office/drawing/2014/main" id="{2971304B-2A51-49C4-8833-00A46F3B4542}"/>
              </a:ext>
            </a:extLst>
          </p:cNvPr>
          <p:cNvSpPr>
            <a:spLocks noGrp="1"/>
          </p:cNvSpPr>
          <p:nvPr/>
        </p:nvSpPr>
        <p:spPr>
          <a:xfrm>
            <a:off x="952500" y="4191000"/>
            <a:ext cx="3429000" cy="323851"/>
          </a:xfrm>
          <a:prstGeom prst="rect">
            <a:avLst/>
          </a:prstGeom>
          <a:noFill/>
          <a:ln w="0">
            <a:noFill/>
            <a:prstDash val="solid"/>
          </a:ln>
        </p:spPr>
        <p:txBody>
          <a:bodyPr/>
          <a:lstStyle/>
          <a:p>
            <a:pPr algn="l">
              <a:defRPr sz="1950" b="1">
                <a:solidFill>
                  <a:srgbClr val="12233F"/>
                </a:solidFill>
              </a:defRPr>
            </a:pPr>
            <a:r>
              <a:rPr sz="1951" b="1">
                <a:solidFill>
                  <a:srgbClr val="12233F"/>
                </a:solidFill>
              </a:rPr>
              <a:t>Architecture explanation</a:t>
            </a:r>
          </a:p>
        </p:txBody>
      </p:sp>
      <p:sp>
        <p:nvSpPr>
          <p:cNvPr id="21" name="Rectangle 20">
            <a:extLst>
              <a:ext uri="{FF2B5EF4-FFF2-40B4-BE49-F238E27FC236}">
                <a16:creationId xmlns:a16="http://schemas.microsoft.com/office/drawing/2014/main" id="{7A25F295-C699-48DF-B613-C2274EA193D4}"/>
              </a:ext>
            </a:extLst>
          </p:cNvPr>
          <p:cNvSpPr>
            <a:spLocks noGrp="1"/>
          </p:cNvSpPr>
          <p:nvPr/>
        </p:nvSpPr>
        <p:spPr>
          <a:xfrm>
            <a:off x="952500" y="4667251"/>
            <a:ext cx="9144000" cy="1066800"/>
          </a:xfrm>
          <a:prstGeom prst="rect">
            <a:avLst/>
          </a:prstGeom>
          <a:noFill/>
          <a:ln w="0">
            <a:noFill/>
            <a:prstDash val="solid"/>
          </a:ln>
        </p:spPr>
        <p:txBody>
          <a:bodyPr/>
          <a:lstStyle/>
          <a:p>
            <a:pPr algn="l">
              <a:defRPr sz="1650" b="0">
                <a:solidFill>
                  <a:srgbClr val="334155"/>
                </a:solidFill>
              </a:defRPr>
            </a:pPr>
            <a:r>
              <a:rPr sz="1651">
                <a:solidFill>
                  <a:srgbClr val="334155"/>
                </a:solidFill>
              </a:rPr>
              <a:t>• Amazon MQ owns the middle responsibility in this flow.</a:t>
            </a:r>
          </a:p>
          <a:p>
            <a:pPr algn="l">
              <a:defRPr sz="1650" b="0">
                <a:solidFill>
                  <a:srgbClr val="334155"/>
                </a:solidFill>
              </a:defRPr>
            </a:pPr>
            <a:r>
              <a:rPr sz="1651">
                <a:solidFill>
                  <a:srgbClr val="334155"/>
                </a:solidFill>
              </a:rPr>
              <a:t>• IAM controls who can call or use the service.</a:t>
            </a:r>
          </a:p>
          <a:p>
            <a:pPr algn="l">
              <a:defRPr sz="1650" b="0">
                <a:solidFill>
                  <a:srgbClr val="334155"/>
                </a:solidFill>
              </a:defRPr>
            </a:pPr>
            <a:r>
              <a:rPr sz="1651">
                <a:solidFill>
                  <a:srgbClr val="334155"/>
                </a:solidFill>
              </a:rPr>
              <a:t>• CloudWatch and CloudTrail help with monitoring and audit trails.</a:t>
            </a:r>
          </a:p>
        </p:txBody>
      </p:sp>
    </p:spTree>
    <p:extLst>
      <p:ext uri="{BB962C8B-B14F-4D97-AF65-F5344CB8AC3E}">
        <p14:creationId xmlns:p14="http://schemas.microsoft.com/office/powerpoint/2010/main" val="3365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9FFCFC8-FF28-490F-B944-E86AF9EA2181}"/>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CE25580E-4542-47E5-8AFA-8F9B2709A6BB}"/>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5 · Process</a:t>
            </a:r>
          </a:p>
        </p:txBody>
      </p:sp>
      <p:sp>
        <p:nvSpPr>
          <p:cNvPr id="3" name="Rectangle 2">
            <a:extLst>
              <a:ext uri="{FF2B5EF4-FFF2-40B4-BE49-F238E27FC236}">
                <a16:creationId xmlns:a16="http://schemas.microsoft.com/office/drawing/2014/main" id="{A67FDA5E-3A03-418A-9744-F1A66D8C5129}"/>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22</a:t>
            </a:r>
          </a:p>
        </p:txBody>
      </p:sp>
      <p:sp>
        <p:nvSpPr>
          <p:cNvPr id="4" name="Rectangle 3">
            <a:extLst>
              <a:ext uri="{FF2B5EF4-FFF2-40B4-BE49-F238E27FC236}">
                <a16:creationId xmlns:a16="http://schemas.microsoft.com/office/drawing/2014/main" id="{AC48133C-0D24-4C69-A43E-B9F15AB994D3}"/>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How Amazon MQ works in practice</a:t>
            </a:r>
          </a:p>
        </p:txBody>
      </p:sp>
      <p:sp>
        <p:nvSpPr>
          <p:cNvPr id="5" name="Rectangle 4">
            <a:extLst>
              <a:ext uri="{FF2B5EF4-FFF2-40B4-BE49-F238E27FC236}">
                <a16:creationId xmlns:a16="http://schemas.microsoft.com/office/drawing/2014/main" id="{5F91151D-7E6D-478F-9CD5-5CD576627C56}"/>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Use this as the step-by-step explanation during the meeting.</a:t>
            </a:r>
          </a:p>
        </p:txBody>
      </p:sp>
      <p:sp>
        <p:nvSpPr>
          <p:cNvPr id="6" name="Rectangle: Rounded Corners 5">
            <a:extLst>
              <a:ext uri="{FF2B5EF4-FFF2-40B4-BE49-F238E27FC236}">
                <a16:creationId xmlns:a16="http://schemas.microsoft.com/office/drawing/2014/main" id="{A7A22A87-74C9-4A47-96AC-0A16EF1A40D6}"/>
              </a:ext>
            </a:extLst>
          </p:cNvPr>
          <p:cNvSpPr>
            <a:spLocks noGrp="1"/>
          </p:cNvSpPr>
          <p:nvPr/>
        </p:nvSpPr>
        <p:spPr>
          <a:xfrm>
            <a:off x="876301" y="19526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E718B6D4-86D9-4F19-B59B-F2A15960DEE6}"/>
              </a:ext>
            </a:extLst>
          </p:cNvPr>
          <p:cNvSpPr>
            <a:spLocks noGrp="1"/>
          </p:cNvSpPr>
          <p:nvPr/>
        </p:nvSpPr>
        <p:spPr>
          <a:xfrm>
            <a:off x="971549" y="20669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Create broker</a:t>
            </a:r>
          </a:p>
        </p:txBody>
      </p:sp>
      <p:sp>
        <p:nvSpPr>
          <p:cNvPr id="8" name="Arrow: Down 7">
            <a:extLst>
              <a:ext uri="{FF2B5EF4-FFF2-40B4-BE49-F238E27FC236}">
                <a16:creationId xmlns:a16="http://schemas.microsoft.com/office/drawing/2014/main" id="{29D863B9-B108-4ADC-ABC0-304551D284C8}"/>
              </a:ext>
            </a:extLst>
          </p:cNvPr>
          <p:cNvSpPr>
            <a:spLocks noGrp="1"/>
          </p:cNvSpPr>
          <p:nvPr/>
        </p:nvSpPr>
        <p:spPr>
          <a:xfrm>
            <a:off x="3019426" y="2457449"/>
            <a:ext cx="190500" cy="95251"/>
          </a:xfrm>
          <a:prstGeom prst="down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BD177DDD-B0BE-4766-A8D4-F6A73C648834}"/>
              </a:ext>
            </a:extLst>
          </p:cNvPr>
          <p:cNvSpPr>
            <a:spLocks noGrp="1"/>
          </p:cNvSpPr>
          <p:nvPr/>
        </p:nvSpPr>
        <p:spPr>
          <a:xfrm>
            <a:off x="876301" y="26003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D0FFF025-F4BC-4465-B837-97BF6817901B}"/>
              </a:ext>
            </a:extLst>
          </p:cNvPr>
          <p:cNvSpPr>
            <a:spLocks noGrp="1"/>
          </p:cNvSpPr>
          <p:nvPr/>
        </p:nvSpPr>
        <p:spPr>
          <a:xfrm>
            <a:off x="971549" y="27146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Select engine</a:t>
            </a:r>
          </a:p>
        </p:txBody>
      </p:sp>
      <p:sp>
        <p:nvSpPr>
          <p:cNvPr id="11" name="Arrow: Down 10">
            <a:extLst>
              <a:ext uri="{FF2B5EF4-FFF2-40B4-BE49-F238E27FC236}">
                <a16:creationId xmlns:a16="http://schemas.microsoft.com/office/drawing/2014/main" id="{793AFFD8-E84F-49FE-ABC5-9A21F3A238B2}"/>
              </a:ext>
            </a:extLst>
          </p:cNvPr>
          <p:cNvSpPr>
            <a:spLocks noGrp="1"/>
          </p:cNvSpPr>
          <p:nvPr/>
        </p:nvSpPr>
        <p:spPr>
          <a:xfrm>
            <a:off x="3019426" y="3105149"/>
            <a:ext cx="190500" cy="95251"/>
          </a:xfrm>
          <a:prstGeom prst="down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6DB17FFC-37AD-4197-833E-533F5C2A2FE4}"/>
              </a:ext>
            </a:extLst>
          </p:cNvPr>
          <p:cNvSpPr>
            <a:spLocks noGrp="1"/>
          </p:cNvSpPr>
          <p:nvPr/>
        </p:nvSpPr>
        <p:spPr>
          <a:xfrm>
            <a:off x="876301" y="32480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4D728339-2EF6-430F-84AC-B48D454294CC}"/>
              </a:ext>
            </a:extLst>
          </p:cNvPr>
          <p:cNvSpPr>
            <a:spLocks noGrp="1"/>
          </p:cNvSpPr>
          <p:nvPr/>
        </p:nvSpPr>
        <p:spPr>
          <a:xfrm>
            <a:off x="971549" y="33623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Configure users and network</a:t>
            </a:r>
          </a:p>
        </p:txBody>
      </p:sp>
      <p:sp>
        <p:nvSpPr>
          <p:cNvPr id="14" name="Arrow: Down 13">
            <a:extLst>
              <a:ext uri="{FF2B5EF4-FFF2-40B4-BE49-F238E27FC236}">
                <a16:creationId xmlns:a16="http://schemas.microsoft.com/office/drawing/2014/main" id="{A9C4DC5E-1C51-41C2-8EFC-8F5897DE3A4F}"/>
              </a:ext>
            </a:extLst>
          </p:cNvPr>
          <p:cNvSpPr>
            <a:spLocks noGrp="1"/>
          </p:cNvSpPr>
          <p:nvPr/>
        </p:nvSpPr>
        <p:spPr>
          <a:xfrm>
            <a:off x="3019426" y="3752849"/>
            <a:ext cx="190500" cy="95251"/>
          </a:xfrm>
          <a:prstGeom prst="down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BB8F657B-C34B-474B-B0F2-A42B8D1ECCB4}"/>
              </a:ext>
            </a:extLst>
          </p:cNvPr>
          <p:cNvSpPr>
            <a:spLocks noGrp="1"/>
          </p:cNvSpPr>
          <p:nvPr/>
        </p:nvSpPr>
        <p:spPr>
          <a:xfrm>
            <a:off x="876301" y="38957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C6C45CA6-0C40-4DC4-ABA3-BE038F964BF9}"/>
              </a:ext>
            </a:extLst>
          </p:cNvPr>
          <p:cNvSpPr>
            <a:spLocks noGrp="1"/>
          </p:cNvSpPr>
          <p:nvPr/>
        </p:nvSpPr>
        <p:spPr>
          <a:xfrm>
            <a:off x="971549" y="40100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Connect apps using protocols</a:t>
            </a:r>
          </a:p>
        </p:txBody>
      </p:sp>
      <p:sp>
        <p:nvSpPr>
          <p:cNvPr id="17" name="Arrow: Down 16">
            <a:extLst>
              <a:ext uri="{FF2B5EF4-FFF2-40B4-BE49-F238E27FC236}">
                <a16:creationId xmlns:a16="http://schemas.microsoft.com/office/drawing/2014/main" id="{5E97EA78-661C-4243-8DBB-70E9183DAA84}"/>
              </a:ext>
            </a:extLst>
          </p:cNvPr>
          <p:cNvSpPr>
            <a:spLocks noGrp="1"/>
          </p:cNvSpPr>
          <p:nvPr/>
        </p:nvSpPr>
        <p:spPr>
          <a:xfrm>
            <a:off x="3019426" y="4400549"/>
            <a:ext cx="190500" cy="95251"/>
          </a:xfrm>
          <a:prstGeom prst="down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F491A0A2-75CD-4FBE-B796-EBA45CCB9BF7}"/>
              </a:ext>
            </a:extLst>
          </p:cNvPr>
          <p:cNvSpPr>
            <a:spLocks noGrp="1"/>
          </p:cNvSpPr>
          <p:nvPr/>
        </p:nvSpPr>
        <p:spPr>
          <a:xfrm>
            <a:off x="876301" y="45434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C50014E3-CC54-4B3E-9AE8-2C40E171BC11}"/>
              </a:ext>
            </a:extLst>
          </p:cNvPr>
          <p:cNvSpPr>
            <a:spLocks noGrp="1"/>
          </p:cNvSpPr>
          <p:nvPr/>
        </p:nvSpPr>
        <p:spPr>
          <a:xfrm>
            <a:off x="971549" y="46577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Monitor broker</a:t>
            </a:r>
          </a:p>
        </p:txBody>
      </p:sp>
      <p:sp>
        <p:nvSpPr>
          <p:cNvPr id="20" name="Rectangle: Rounded Corners 19">
            <a:extLst>
              <a:ext uri="{FF2B5EF4-FFF2-40B4-BE49-F238E27FC236}">
                <a16:creationId xmlns:a16="http://schemas.microsoft.com/office/drawing/2014/main" id="{89441E49-55F2-4E02-90E4-B51C0F15AF3D}"/>
              </a:ext>
            </a:extLst>
          </p:cNvPr>
          <p:cNvSpPr>
            <a:spLocks noGrp="1"/>
          </p:cNvSpPr>
          <p:nvPr/>
        </p:nvSpPr>
        <p:spPr>
          <a:xfrm>
            <a:off x="6191250" y="2000251"/>
            <a:ext cx="4095751" cy="2286000"/>
          </a:xfrm>
          <a:prstGeom prst="roundRect">
            <a:avLst>
              <a:gd name="adj" fmla="val 2500"/>
            </a:avLst>
          </a:prstGeom>
          <a:solidFill>
            <a:srgbClr val="FFFFFF"/>
          </a:solidFill>
          <a:ln w="9525">
            <a:solidFill>
              <a:srgbClr val="D7E2EE"/>
            </a:solidFill>
            <a:prstDash val="solid"/>
          </a:ln>
        </p:spPr>
        <p:txBody>
          <a:bodyPr/>
          <a:lstStyle/>
          <a:p>
            <a:endParaRPr lang="en-IN"/>
          </a:p>
        </p:txBody>
      </p:sp>
      <p:sp>
        <p:nvSpPr>
          <p:cNvPr id="21" name="Rectangle 20">
            <a:extLst>
              <a:ext uri="{FF2B5EF4-FFF2-40B4-BE49-F238E27FC236}">
                <a16:creationId xmlns:a16="http://schemas.microsoft.com/office/drawing/2014/main" id="{BBA859C8-22D0-48E4-89F3-683CE310AA5D}"/>
              </a:ext>
            </a:extLst>
          </p:cNvPr>
          <p:cNvSpPr>
            <a:spLocks noGrp="1"/>
          </p:cNvSpPr>
          <p:nvPr/>
        </p:nvSpPr>
        <p:spPr>
          <a:xfrm>
            <a:off x="6477001" y="2266951"/>
            <a:ext cx="2857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Best practices</a:t>
            </a:r>
          </a:p>
        </p:txBody>
      </p:sp>
      <p:sp>
        <p:nvSpPr>
          <p:cNvPr id="22" name="Rectangle 21">
            <a:extLst>
              <a:ext uri="{FF2B5EF4-FFF2-40B4-BE49-F238E27FC236}">
                <a16:creationId xmlns:a16="http://schemas.microsoft.com/office/drawing/2014/main" id="{E9093395-BB47-4352-A5DF-92DA53152262}"/>
              </a:ext>
            </a:extLst>
          </p:cNvPr>
          <p:cNvSpPr>
            <a:spLocks noGrp="1"/>
          </p:cNvSpPr>
          <p:nvPr/>
        </p:nvSpPr>
        <p:spPr>
          <a:xfrm>
            <a:off x="6477001" y="2819401"/>
            <a:ext cx="3333751" cy="1104900"/>
          </a:xfrm>
          <a:prstGeom prst="rect">
            <a:avLst/>
          </a:prstGeom>
          <a:noFill/>
          <a:ln w="0">
            <a:noFill/>
            <a:prstDash val="solid"/>
          </a:ln>
        </p:spPr>
        <p:txBody>
          <a:bodyPr/>
          <a:lstStyle/>
          <a:p>
            <a:pPr algn="l">
              <a:defRPr sz="1500" b="0">
                <a:solidFill>
                  <a:srgbClr val="334155"/>
                </a:solidFill>
              </a:defRPr>
            </a:pPr>
            <a:r>
              <a:rPr sz="1500">
                <a:solidFill>
                  <a:srgbClr val="334155"/>
                </a:solidFill>
              </a:rPr>
              <a:t>• Use Amazon MQ when protocol compatibility matters</a:t>
            </a:r>
          </a:p>
          <a:p>
            <a:pPr algn="l">
              <a:defRPr sz="1500" b="0">
                <a:solidFill>
                  <a:srgbClr val="334155"/>
                </a:solidFill>
              </a:defRPr>
            </a:pPr>
            <a:r>
              <a:rPr sz="1500">
                <a:solidFill>
                  <a:srgbClr val="334155"/>
                </a:solidFill>
              </a:rPr>
              <a:t>• Keep brokers private when possible</a:t>
            </a:r>
          </a:p>
          <a:p>
            <a:pPr algn="l">
              <a:defRPr sz="1500" b="0">
                <a:solidFill>
                  <a:srgbClr val="334155"/>
                </a:solidFill>
              </a:defRPr>
            </a:pPr>
            <a:r>
              <a:rPr sz="1500">
                <a:solidFill>
                  <a:srgbClr val="334155"/>
                </a:solidFill>
              </a:rPr>
              <a:t>• Monitor queue depth</a:t>
            </a:r>
          </a:p>
          <a:p>
            <a:pPr algn="l">
              <a:defRPr sz="1500" b="0">
                <a:solidFill>
                  <a:srgbClr val="334155"/>
                </a:solidFill>
              </a:defRPr>
            </a:pPr>
            <a:r>
              <a:rPr sz="1500">
                <a:solidFill>
                  <a:srgbClr val="334155"/>
                </a:solidFill>
              </a:rPr>
              <a:t>• Plan maintenance windows</a:t>
            </a:r>
          </a:p>
        </p:txBody>
      </p:sp>
      <p:sp>
        <p:nvSpPr>
          <p:cNvPr id="23" name="Rectangle: Rounded Corners 22">
            <a:extLst>
              <a:ext uri="{FF2B5EF4-FFF2-40B4-BE49-F238E27FC236}">
                <a16:creationId xmlns:a16="http://schemas.microsoft.com/office/drawing/2014/main" id="{75B861DD-F8B8-439E-A8CB-E463EBB81273}"/>
              </a:ext>
            </a:extLst>
          </p:cNvPr>
          <p:cNvSpPr>
            <a:spLocks noGrp="1"/>
          </p:cNvSpPr>
          <p:nvPr/>
        </p:nvSpPr>
        <p:spPr>
          <a:xfrm>
            <a:off x="6191250" y="4619625"/>
            <a:ext cx="4095751" cy="914400"/>
          </a:xfrm>
          <a:prstGeom prst="roundRect">
            <a:avLst>
              <a:gd name="adj" fmla="val 6250"/>
            </a:avLst>
          </a:prstGeom>
          <a:solidFill>
            <a:srgbClr val="EAF3FC"/>
          </a:solidFill>
          <a:ln w="9525">
            <a:solidFill>
              <a:srgbClr val="B7D4EF"/>
            </a:solidFill>
            <a:prstDash val="solid"/>
          </a:ln>
        </p:spPr>
        <p:txBody>
          <a:bodyPr/>
          <a:lstStyle/>
          <a:p>
            <a:endParaRPr lang="en-IN"/>
          </a:p>
        </p:txBody>
      </p:sp>
      <p:sp>
        <p:nvSpPr>
          <p:cNvPr id="24" name="Rectangle 23">
            <a:extLst>
              <a:ext uri="{FF2B5EF4-FFF2-40B4-BE49-F238E27FC236}">
                <a16:creationId xmlns:a16="http://schemas.microsoft.com/office/drawing/2014/main" id="{D41CD4EE-AC59-4E7B-8780-C6563B2B2752}"/>
              </a:ext>
            </a:extLst>
          </p:cNvPr>
          <p:cNvSpPr>
            <a:spLocks noGrp="1"/>
          </p:cNvSpPr>
          <p:nvPr/>
        </p:nvSpPr>
        <p:spPr>
          <a:xfrm>
            <a:off x="6477000" y="4876801"/>
            <a:ext cx="3429000" cy="361951"/>
          </a:xfrm>
          <a:prstGeom prst="rect">
            <a:avLst/>
          </a:prstGeom>
          <a:noFill/>
          <a:ln w="0">
            <a:noFill/>
            <a:prstDash val="solid"/>
          </a:ln>
        </p:spPr>
        <p:txBody>
          <a:bodyPr/>
          <a:lstStyle/>
          <a:p>
            <a:pPr algn="l">
              <a:defRPr sz="1650" b="1">
                <a:solidFill>
                  <a:srgbClr val="1F5D99"/>
                </a:solidFill>
              </a:defRPr>
            </a:pPr>
            <a:r>
              <a:rPr sz="1651" b="1">
                <a:solidFill>
                  <a:srgbClr val="1F5D99"/>
                </a:solidFill>
              </a:rPr>
              <a:t>Interview cue: SQS vs Amazon MQ</a:t>
            </a:r>
          </a:p>
        </p:txBody>
      </p:sp>
    </p:spTree>
    <p:extLst>
      <p:ext uri="{BB962C8B-B14F-4D97-AF65-F5344CB8AC3E}">
        <p14:creationId xmlns:p14="http://schemas.microsoft.com/office/powerpoint/2010/main" val="17114755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2FA79B0-C33F-4BC2-97A4-62E01D3B6BA0}"/>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6AE4A4F4-81CC-44C9-A45B-40DEF05F8E96}"/>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5 · Recap</a:t>
            </a:r>
          </a:p>
        </p:txBody>
      </p:sp>
      <p:sp>
        <p:nvSpPr>
          <p:cNvPr id="3" name="Rectangle 2">
            <a:extLst>
              <a:ext uri="{FF2B5EF4-FFF2-40B4-BE49-F238E27FC236}">
                <a16:creationId xmlns:a16="http://schemas.microsoft.com/office/drawing/2014/main" id="{C252873A-5BF3-4CB3-B2C0-EE4D6CFFB418}"/>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23</a:t>
            </a:r>
          </a:p>
        </p:txBody>
      </p:sp>
      <p:sp>
        <p:nvSpPr>
          <p:cNvPr id="4" name="Rectangle 3">
            <a:extLst>
              <a:ext uri="{FF2B5EF4-FFF2-40B4-BE49-F238E27FC236}">
                <a16:creationId xmlns:a16="http://schemas.microsoft.com/office/drawing/2014/main" id="{C9535632-49CF-4A07-8714-D176DB504506}"/>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Amazon MQ: what to remember</a:t>
            </a:r>
          </a:p>
        </p:txBody>
      </p:sp>
      <p:sp>
        <p:nvSpPr>
          <p:cNvPr id="5" name="Rectangle 4">
            <a:extLst>
              <a:ext uri="{FF2B5EF4-FFF2-40B4-BE49-F238E27FC236}">
                <a16:creationId xmlns:a16="http://schemas.microsoft.com/office/drawing/2014/main" id="{99104DF6-C4F3-4E34-A8DB-AA29412376B4}"/>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Close the module with practical rules and common questions.</a:t>
            </a:r>
          </a:p>
        </p:txBody>
      </p:sp>
      <p:sp>
        <p:nvSpPr>
          <p:cNvPr id="6" name="Rectangle 5">
            <a:extLst>
              <a:ext uri="{FF2B5EF4-FFF2-40B4-BE49-F238E27FC236}">
                <a16:creationId xmlns:a16="http://schemas.microsoft.com/office/drawing/2014/main" id="{34C7B172-C28F-4723-A5AD-53322E2A27C9}"/>
              </a:ext>
            </a:extLst>
          </p:cNvPr>
          <p:cNvSpPr>
            <a:spLocks noGrp="1"/>
          </p:cNvSpPr>
          <p:nvPr/>
        </p:nvSpPr>
        <p:spPr>
          <a:xfrm>
            <a:off x="857251"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Common questions</a:t>
            </a:r>
          </a:p>
        </p:txBody>
      </p:sp>
      <p:sp>
        <p:nvSpPr>
          <p:cNvPr id="7" name="Rectangle 6">
            <a:extLst>
              <a:ext uri="{FF2B5EF4-FFF2-40B4-BE49-F238E27FC236}">
                <a16:creationId xmlns:a16="http://schemas.microsoft.com/office/drawing/2014/main" id="{46BE4434-4C4E-49FC-8209-6D2633E1823F}"/>
              </a:ext>
            </a:extLst>
          </p:cNvPr>
          <p:cNvSpPr>
            <a:spLocks noGrp="1"/>
          </p:cNvSpPr>
          <p:nvPr/>
        </p:nvSpPr>
        <p:spPr>
          <a:xfrm>
            <a:off x="952501" y="2571751"/>
            <a:ext cx="4381500" cy="1524000"/>
          </a:xfrm>
          <a:prstGeom prst="rect">
            <a:avLst/>
          </a:prstGeom>
          <a:noFill/>
          <a:ln w="0">
            <a:noFill/>
            <a:prstDash val="solid"/>
          </a:ln>
        </p:spPr>
        <p:txBody>
          <a:bodyPr/>
          <a:lstStyle/>
          <a:p>
            <a:pPr algn="l">
              <a:defRPr sz="1800" b="0">
                <a:solidFill>
                  <a:srgbClr val="334155"/>
                </a:solidFill>
              </a:defRPr>
            </a:pPr>
            <a:r>
              <a:rPr>
                <a:solidFill>
                  <a:srgbClr val="334155"/>
                </a:solidFill>
              </a:rPr>
              <a:t>• SQS vs Amazon MQ</a:t>
            </a:r>
          </a:p>
          <a:p>
            <a:pPr algn="l">
              <a:defRPr sz="1800" b="0">
                <a:solidFill>
                  <a:srgbClr val="334155"/>
                </a:solidFill>
              </a:defRPr>
            </a:pPr>
            <a:r>
              <a:rPr>
                <a:solidFill>
                  <a:srgbClr val="334155"/>
                </a:solidFill>
              </a:rPr>
              <a:t>• Queue vs topic</a:t>
            </a:r>
          </a:p>
          <a:p>
            <a:pPr algn="l">
              <a:defRPr sz="1800" b="0">
                <a:solidFill>
                  <a:srgbClr val="334155"/>
                </a:solidFill>
              </a:defRPr>
            </a:pPr>
            <a:r>
              <a:rPr>
                <a:solidFill>
                  <a:srgbClr val="334155"/>
                </a:solidFill>
              </a:rPr>
              <a:t>• When migrate instead of redesign?</a:t>
            </a:r>
          </a:p>
        </p:txBody>
      </p:sp>
      <p:sp>
        <p:nvSpPr>
          <p:cNvPr id="8" name="Rectangle 7">
            <a:extLst>
              <a:ext uri="{FF2B5EF4-FFF2-40B4-BE49-F238E27FC236}">
                <a16:creationId xmlns:a16="http://schemas.microsoft.com/office/drawing/2014/main" id="{F7F7C200-90CA-4957-92D9-63E8D5912EA2}"/>
              </a:ext>
            </a:extLst>
          </p:cNvPr>
          <p:cNvSpPr>
            <a:spLocks noGrp="1"/>
          </p:cNvSpPr>
          <p:nvPr/>
        </p:nvSpPr>
        <p:spPr>
          <a:xfrm>
            <a:off x="6334125"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One-line memory hook</a:t>
            </a:r>
          </a:p>
        </p:txBody>
      </p:sp>
      <p:sp>
        <p:nvSpPr>
          <p:cNvPr id="9" name="Rectangle: Rounded Corners 8">
            <a:extLst>
              <a:ext uri="{FF2B5EF4-FFF2-40B4-BE49-F238E27FC236}">
                <a16:creationId xmlns:a16="http://schemas.microsoft.com/office/drawing/2014/main" id="{A331969F-7427-45A6-9FDB-212BB3F3FC82}"/>
              </a:ext>
            </a:extLst>
          </p:cNvPr>
          <p:cNvSpPr>
            <a:spLocks noGrp="1"/>
          </p:cNvSpPr>
          <p:nvPr/>
        </p:nvSpPr>
        <p:spPr>
          <a:xfrm>
            <a:off x="6191249" y="2571751"/>
            <a:ext cx="4286251" cy="1524000"/>
          </a:xfrm>
          <a:prstGeom prst="roundRect">
            <a:avLst>
              <a:gd name="adj" fmla="val 3750"/>
            </a:avLst>
          </a:prstGeom>
          <a:solidFill>
            <a:srgbClr val="12233F"/>
          </a:solidFill>
          <a:ln w="9525">
            <a:solidFill>
              <a:srgbClr val="12233F"/>
            </a:solidFill>
            <a:prstDash val="solid"/>
          </a:ln>
        </p:spPr>
        <p:txBody>
          <a:bodyPr/>
          <a:lstStyle/>
          <a:p>
            <a:endParaRPr lang="en-IN"/>
          </a:p>
        </p:txBody>
      </p:sp>
      <p:sp>
        <p:nvSpPr>
          <p:cNvPr id="10" name="Rectangle 9">
            <a:extLst>
              <a:ext uri="{FF2B5EF4-FFF2-40B4-BE49-F238E27FC236}">
                <a16:creationId xmlns:a16="http://schemas.microsoft.com/office/drawing/2014/main" id="{4CD6EFF7-2657-4BA0-BE4E-59B83157D586}"/>
              </a:ext>
            </a:extLst>
          </p:cNvPr>
          <p:cNvSpPr>
            <a:spLocks noGrp="1"/>
          </p:cNvSpPr>
          <p:nvPr/>
        </p:nvSpPr>
        <p:spPr>
          <a:xfrm>
            <a:off x="6534151" y="2952749"/>
            <a:ext cx="3619500" cy="781051"/>
          </a:xfrm>
          <a:prstGeom prst="rect">
            <a:avLst/>
          </a:prstGeom>
          <a:noFill/>
          <a:ln w="0">
            <a:noFill/>
            <a:prstDash val="solid"/>
          </a:ln>
        </p:spPr>
        <p:txBody>
          <a:bodyPr/>
          <a:lstStyle/>
          <a:p>
            <a:pPr algn="ctr">
              <a:defRPr sz="2100" b="1">
                <a:solidFill>
                  <a:srgbClr val="FFFFFF"/>
                </a:solidFill>
              </a:defRPr>
            </a:pPr>
            <a:r>
              <a:rPr sz="2100" b="1">
                <a:solidFill>
                  <a:srgbClr val="FFFFFF"/>
                </a:solidFill>
              </a:rPr>
              <a:t>Amazon MQ keeps broker-based apps compatible in AWS.</a:t>
            </a:r>
          </a:p>
        </p:txBody>
      </p:sp>
    </p:spTree>
    <p:extLst>
      <p:ext uri="{BB962C8B-B14F-4D97-AF65-F5344CB8AC3E}">
        <p14:creationId xmlns:p14="http://schemas.microsoft.com/office/powerpoint/2010/main" val="118986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87F6894-5AD4-4730-8830-C20AB8D9F771}"/>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37BAC335-499E-4787-A5A8-8DB98C3E716D}"/>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6 · Credential protection</a:t>
            </a:r>
          </a:p>
        </p:txBody>
      </p:sp>
      <p:sp>
        <p:nvSpPr>
          <p:cNvPr id="3" name="Rectangle 2">
            <a:extLst>
              <a:ext uri="{FF2B5EF4-FFF2-40B4-BE49-F238E27FC236}">
                <a16:creationId xmlns:a16="http://schemas.microsoft.com/office/drawing/2014/main" id="{DA3CC37F-9517-4669-A26F-38A021EAB0A9}"/>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24</a:t>
            </a:r>
          </a:p>
        </p:txBody>
      </p:sp>
      <p:sp>
        <p:nvSpPr>
          <p:cNvPr id="4" name="Rectangle 3">
            <a:extLst>
              <a:ext uri="{FF2B5EF4-FFF2-40B4-BE49-F238E27FC236}">
                <a16:creationId xmlns:a16="http://schemas.microsoft.com/office/drawing/2014/main" id="{D4F4593B-1AE0-4BAE-9B9D-BFAAECEBBDFA}"/>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AWS Secrets Manager: what it is</a:t>
            </a:r>
          </a:p>
        </p:txBody>
      </p:sp>
      <p:sp>
        <p:nvSpPr>
          <p:cNvPr id="5" name="Rectangle 4">
            <a:extLst>
              <a:ext uri="{FF2B5EF4-FFF2-40B4-BE49-F238E27FC236}">
                <a16:creationId xmlns:a16="http://schemas.microsoft.com/office/drawing/2014/main" id="{1DB3DCF8-D55F-4B3B-987E-2F0C9A67F9EE}"/>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Securely stores, retrieves, and rotates credentials such as passwords, API keys, tokens, and database secrets.</a:t>
            </a:r>
          </a:p>
        </p:txBody>
      </p:sp>
      <p:sp>
        <p:nvSpPr>
          <p:cNvPr id="6" name="Oval 5">
            <a:extLst>
              <a:ext uri="{FF2B5EF4-FFF2-40B4-BE49-F238E27FC236}">
                <a16:creationId xmlns:a16="http://schemas.microsoft.com/office/drawing/2014/main" id="{64F6EF58-299F-455D-B162-44B9368919FA}"/>
              </a:ext>
            </a:extLst>
          </p:cNvPr>
          <p:cNvSpPr>
            <a:spLocks noGrp="1"/>
          </p:cNvSpPr>
          <p:nvPr/>
        </p:nvSpPr>
        <p:spPr>
          <a:xfrm>
            <a:off x="9239251" y="876300"/>
            <a:ext cx="1066800" cy="1066800"/>
          </a:xfrm>
          <a:prstGeom prst="ellipse">
            <a:avLst/>
          </a:prstGeom>
          <a:solidFill>
            <a:srgbClr val="12233F"/>
          </a:solidFill>
          <a:ln w="28575">
            <a:solidFill>
              <a:srgbClr val="FF9900"/>
            </a:solidFill>
            <a:prstDash val="solid"/>
          </a:ln>
        </p:spPr>
        <p:txBody>
          <a:bodyPr/>
          <a:lstStyle/>
          <a:p>
            <a:endParaRPr lang="en-IN"/>
          </a:p>
        </p:txBody>
      </p:sp>
      <p:sp>
        <p:nvSpPr>
          <p:cNvPr id="7" name="Rectangle 6">
            <a:extLst>
              <a:ext uri="{FF2B5EF4-FFF2-40B4-BE49-F238E27FC236}">
                <a16:creationId xmlns:a16="http://schemas.microsoft.com/office/drawing/2014/main" id="{92ADF9BE-F362-4EDE-8241-BFD6597A7297}"/>
              </a:ext>
            </a:extLst>
          </p:cNvPr>
          <p:cNvSpPr>
            <a:spLocks noGrp="1"/>
          </p:cNvSpPr>
          <p:nvPr/>
        </p:nvSpPr>
        <p:spPr>
          <a:xfrm>
            <a:off x="9239251" y="1133475"/>
            <a:ext cx="1066800" cy="400051"/>
          </a:xfrm>
          <a:prstGeom prst="rect">
            <a:avLst/>
          </a:prstGeom>
          <a:noFill/>
          <a:ln w="0">
            <a:noFill/>
            <a:prstDash val="solid"/>
          </a:ln>
        </p:spPr>
        <p:txBody>
          <a:bodyPr/>
          <a:lstStyle/>
          <a:p>
            <a:pPr algn="ctr">
              <a:defRPr sz="1950" b="1">
                <a:solidFill>
                  <a:srgbClr val="FFFFFF"/>
                </a:solidFill>
              </a:defRPr>
            </a:pPr>
            <a:r>
              <a:rPr sz="1951" b="1">
                <a:solidFill>
                  <a:srgbClr val="FFFFFF"/>
                </a:solidFill>
              </a:rPr>
              <a:t>SM</a:t>
            </a:r>
          </a:p>
        </p:txBody>
      </p:sp>
      <p:sp>
        <p:nvSpPr>
          <p:cNvPr id="8" name="Rectangle: Rounded Corners 7">
            <a:extLst>
              <a:ext uri="{FF2B5EF4-FFF2-40B4-BE49-F238E27FC236}">
                <a16:creationId xmlns:a16="http://schemas.microsoft.com/office/drawing/2014/main" id="{856CD512-B740-4235-AD8C-08387FD1AB0A}"/>
              </a:ext>
            </a:extLst>
          </p:cNvPr>
          <p:cNvSpPr>
            <a:spLocks noGrp="1"/>
          </p:cNvSpPr>
          <p:nvPr/>
        </p:nvSpPr>
        <p:spPr>
          <a:xfrm>
            <a:off x="742951" y="2095501"/>
            <a:ext cx="4762500" cy="2476500"/>
          </a:xfrm>
          <a:prstGeom prst="roundRect">
            <a:avLst>
              <a:gd name="adj" fmla="val 2308"/>
            </a:avLst>
          </a:prstGeom>
          <a:solidFill>
            <a:srgbClr val="FFFFFF"/>
          </a:solidFill>
          <a:ln w="9525">
            <a:solidFill>
              <a:srgbClr val="D7E2EE"/>
            </a:solidFill>
            <a:prstDash val="solid"/>
          </a:ln>
        </p:spPr>
        <p:txBody>
          <a:bodyPr/>
          <a:lstStyle/>
          <a:p>
            <a:endParaRPr lang="en-IN"/>
          </a:p>
        </p:txBody>
      </p:sp>
      <p:sp>
        <p:nvSpPr>
          <p:cNvPr id="9" name="Rectangle 8">
            <a:extLst>
              <a:ext uri="{FF2B5EF4-FFF2-40B4-BE49-F238E27FC236}">
                <a16:creationId xmlns:a16="http://schemas.microsoft.com/office/drawing/2014/main" id="{8CCD8172-B640-4910-8CA8-C02C116CF84F}"/>
              </a:ext>
            </a:extLst>
          </p:cNvPr>
          <p:cNvSpPr>
            <a:spLocks noGrp="1"/>
          </p:cNvSpPr>
          <p:nvPr/>
        </p:nvSpPr>
        <p:spPr>
          <a:xfrm>
            <a:off x="1009651" y="2362200"/>
            <a:ext cx="38100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Use it when you need to</a:t>
            </a:r>
          </a:p>
        </p:txBody>
      </p:sp>
      <p:sp>
        <p:nvSpPr>
          <p:cNvPr id="10" name="Rectangle 9">
            <a:extLst>
              <a:ext uri="{FF2B5EF4-FFF2-40B4-BE49-F238E27FC236}">
                <a16:creationId xmlns:a16="http://schemas.microsoft.com/office/drawing/2014/main" id="{12A201D4-62A8-459C-8A4C-A342F09E4A98}"/>
              </a:ext>
            </a:extLst>
          </p:cNvPr>
          <p:cNvSpPr>
            <a:spLocks noGrp="1"/>
          </p:cNvSpPr>
          <p:nvPr/>
        </p:nvSpPr>
        <p:spPr>
          <a:xfrm>
            <a:off x="1066801" y="2895600"/>
            <a:ext cx="4000500" cy="1238251"/>
          </a:xfrm>
          <a:prstGeom prst="rect">
            <a:avLst/>
          </a:prstGeom>
          <a:noFill/>
          <a:ln w="0">
            <a:noFill/>
            <a:prstDash val="solid"/>
          </a:ln>
        </p:spPr>
        <p:txBody>
          <a:bodyPr/>
          <a:lstStyle/>
          <a:p>
            <a:pPr algn="l">
              <a:defRPr sz="1650" b="0">
                <a:solidFill>
                  <a:srgbClr val="334155"/>
                </a:solidFill>
              </a:defRPr>
            </a:pPr>
            <a:r>
              <a:rPr sz="1651">
                <a:solidFill>
                  <a:srgbClr val="334155"/>
                </a:solidFill>
              </a:rPr>
              <a:t>• Database passwords</a:t>
            </a:r>
          </a:p>
          <a:p>
            <a:pPr algn="l">
              <a:defRPr sz="1650" b="0">
                <a:solidFill>
                  <a:srgbClr val="334155"/>
                </a:solidFill>
              </a:defRPr>
            </a:pPr>
            <a:r>
              <a:rPr sz="1651">
                <a:solidFill>
                  <a:srgbClr val="334155"/>
                </a:solidFill>
              </a:rPr>
              <a:t>• API keys</a:t>
            </a:r>
          </a:p>
          <a:p>
            <a:pPr algn="l">
              <a:defRPr sz="1650" b="0">
                <a:solidFill>
                  <a:srgbClr val="334155"/>
                </a:solidFill>
              </a:defRPr>
            </a:pPr>
            <a:r>
              <a:rPr sz="1651">
                <a:solidFill>
                  <a:srgbClr val="334155"/>
                </a:solidFill>
              </a:rPr>
              <a:t>• OAuth tokens</a:t>
            </a:r>
          </a:p>
          <a:p>
            <a:pPr algn="l">
              <a:defRPr sz="1650" b="0">
                <a:solidFill>
                  <a:srgbClr val="334155"/>
                </a:solidFill>
              </a:defRPr>
            </a:pPr>
            <a:r>
              <a:rPr sz="1651">
                <a:solidFill>
                  <a:srgbClr val="334155"/>
                </a:solidFill>
              </a:rPr>
              <a:t>• Application credentials</a:t>
            </a:r>
          </a:p>
        </p:txBody>
      </p:sp>
      <p:sp>
        <p:nvSpPr>
          <p:cNvPr id="11" name="Rectangle: Rounded Corners 10">
            <a:extLst>
              <a:ext uri="{FF2B5EF4-FFF2-40B4-BE49-F238E27FC236}">
                <a16:creationId xmlns:a16="http://schemas.microsoft.com/office/drawing/2014/main" id="{1F006004-6CC5-4B2B-B780-D11ADB7B7059}"/>
              </a:ext>
            </a:extLst>
          </p:cNvPr>
          <p:cNvSpPr>
            <a:spLocks noGrp="1"/>
          </p:cNvSpPr>
          <p:nvPr/>
        </p:nvSpPr>
        <p:spPr>
          <a:xfrm>
            <a:off x="6096001" y="2095501"/>
            <a:ext cx="4381500" cy="2476500"/>
          </a:xfrm>
          <a:prstGeom prst="roundRect">
            <a:avLst>
              <a:gd name="adj" fmla="val 2308"/>
            </a:avLst>
          </a:prstGeom>
          <a:solidFill>
            <a:srgbClr val="EAF3FC"/>
          </a:solidFill>
          <a:ln w="9525">
            <a:solidFill>
              <a:srgbClr val="B7D4EF"/>
            </a:solidFill>
            <a:prstDash val="solid"/>
          </a:ln>
        </p:spPr>
        <p:txBody>
          <a:bodyPr/>
          <a:lstStyle/>
          <a:p>
            <a:endParaRPr lang="en-IN"/>
          </a:p>
        </p:txBody>
      </p:sp>
      <p:sp>
        <p:nvSpPr>
          <p:cNvPr id="12" name="Rectangle 11">
            <a:extLst>
              <a:ext uri="{FF2B5EF4-FFF2-40B4-BE49-F238E27FC236}">
                <a16:creationId xmlns:a16="http://schemas.microsoft.com/office/drawing/2014/main" id="{C9DCD4E4-B6A4-44D5-A08D-4CD2945D5517}"/>
              </a:ext>
            </a:extLst>
          </p:cNvPr>
          <p:cNvSpPr>
            <a:spLocks noGrp="1"/>
          </p:cNvSpPr>
          <p:nvPr/>
        </p:nvSpPr>
        <p:spPr>
          <a:xfrm>
            <a:off x="6381751" y="2362200"/>
            <a:ext cx="3619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Simple class explanation</a:t>
            </a:r>
          </a:p>
        </p:txBody>
      </p:sp>
      <p:sp>
        <p:nvSpPr>
          <p:cNvPr id="13" name="Rectangle 12">
            <a:extLst>
              <a:ext uri="{FF2B5EF4-FFF2-40B4-BE49-F238E27FC236}">
                <a16:creationId xmlns:a16="http://schemas.microsoft.com/office/drawing/2014/main" id="{60830149-09D1-43DB-8F77-229C2264B5C9}"/>
              </a:ext>
            </a:extLst>
          </p:cNvPr>
          <p:cNvSpPr>
            <a:spLocks noGrp="1"/>
          </p:cNvSpPr>
          <p:nvPr/>
        </p:nvSpPr>
        <p:spPr>
          <a:xfrm>
            <a:off x="6381751" y="2905125"/>
            <a:ext cx="3619500" cy="1143000"/>
          </a:xfrm>
          <a:prstGeom prst="rect">
            <a:avLst/>
          </a:prstGeom>
          <a:noFill/>
          <a:ln w="0">
            <a:noFill/>
            <a:prstDash val="solid"/>
          </a:ln>
        </p:spPr>
        <p:txBody>
          <a:bodyPr/>
          <a:lstStyle/>
          <a:p>
            <a:pPr algn="l">
              <a:defRPr sz="1800" b="0">
                <a:solidFill>
                  <a:srgbClr val="334155"/>
                </a:solidFill>
              </a:defRPr>
            </a:pPr>
            <a:r>
              <a:rPr>
                <a:solidFill>
                  <a:srgbClr val="334155"/>
                </a:solidFill>
              </a:rPr>
              <a:t>Like a secure locker for passwords and API keys.</a:t>
            </a:r>
          </a:p>
        </p:txBody>
      </p:sp>
    </p:spTree>
    <p:extLst>
      <p:ext uri="{BB962C8B-B14F-4D97-AF65-F5344CB8AC3E}">
        <p14:creationId xmlns:p14="http://schemas.microsoft.com/office/powerpoint/2010/main" val="135824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5AC1EE0-DBAB-4473-89D9-7B8C7401B6C2}"/>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F9FE455D-F62F-43E9-B97D-D25B6B6067DF}"/>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6 · Architecture</a:t>
            </a:r>
          </a:p>
        </p:txBody>
      </p:sp>
      <p:sp>
        <p:nvSpPr>
          <p:cNvPr id="3" name="Rectangle 2">
            <a:extLst>
              <a:ext uri="{FF2B5EF4-FFF2-40B4-BE49-F238E27FC236}">
                <a16:creationId xmlns:a16="http://schemas.microsoft.com/office/drawing/2014/main" id="{0AE25914-E174-48C9-9ACC-F42AF37940A6}"/>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25</a:t>
            </a:r>
          </a:p>
        </p:txBody>
      </p:sp>
      <p:sp>
        <p:nvSpPr>
          <p:cNvPr id="4" name="Rectangle 3">
            <a:extLst>
              <a:ext uri="{FF2B5EF4-FFF2-40B4-BE49-F238E27FC236}">
                <a16:creationId xmlns:a16="http://schemas.microsoft.com/office/drawing/2014/main" id="{82D44FD5-A28B-4964-B453-3C53FD09EB47}"/>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AWS Secrets Manager architecture</a:t>
            </a:r>
          </a:p>
        </p:txBody>
      </p:sp>
      <p:sp>
        <p:nvSpPr>
          <p:cNvPr id="5" name="Rectangle 4">
            <a:extLst>
              <a:ext uri="{FF2B5EF4-FFF2-40B4-BE49-F238E27FC236}">
                <a16:creationId xmlns:a16="http://schemas.microsoft.com/office/drawing/2014/main" id="{4A8E578F-E7AD-438E-A18F-CB996D2FFC12}"/>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Follow the request or data path from left to right.</a:t>
            </a:r>
          </a:p>
        </p:txBody>
      </p:sp>
      <p:sp>
        <p:nvSpPr>
          <p:cNvPr id="6" name="Rectangle: Rounded Corners 5">
            <a:extLst>
              <a:ext uri="{FF2B5EF4-FFF2-40B4-BE49-F238E27FC236}">
                <a16:creationId xmlns:a16="http://schemas.microsoft.com/office/drawing/2014/main" id="{A90A4BDF-CC0E-4621-9440-0366DBEA6955}"/>
              </a:ext>
            </a:extLst>
          </p:cNvPr>
          <p:cNvSpPr>
            <a:spLocks noGrp="1"/>
          </p:cNvSpPr>
          <p:nvPr/>
        </p:nvSpPr>
        <p:spPr>
          <a:xfrm>
            <a:off x="857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1BD1F88A-27A5-4CFF-B3A2-C24616A5489C}"/>
              </a:ext>
            </a:extLst>
          </p:cNvPr>
          <p:cNvSpPr>
            <a:spLocks noGrp="1"/>
          </p:cNvSpPr>
          <p:nvPr/>
        </p:nvSpPr>
        <p:spPr>
          <a:xfrm>
            <a:off x="952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Application</a:t>
            </a:r>
          </a:p>
        </p:txBody>
      </p:sp>
      <p:sp>
        <p:nvSpPr>
          <p:cNvPr id="8" name="Arrow: Right 7">
            <a:extLst>
              <a:ext uri="{FF2B5EF4-FFF2-40B4-BE49-F238E27FC236}">
                <a16:creationId xmlns:a16="http://schemas.microsoft.com/office/drawing/2014/main" id="{76EAAC03-21B7-431F-95BC-B78DB7092D34}"/>
              </a:ext>
            </a:extLst>
          </p:cNvPr>
          <p:cNvSpPr>
            <a:spLocks noGrp="1"/>
          </p:cNvSpPr>
          <p:nvPr/>
        </p:nvSpPr>
        <p:spPr>
          <a:xfrm>
            <a:off x="2724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FBE4AF9F-9328-4DA0-811B-C3314D82419B}"/>
              </a:ext>
            </a:extLst>
          </p:cNvPr>
          <p:cNvSpPr>
            <a:spLocks noGrp="1"/>
          </p:cNvSpPr>
          <p:nvPr/>
        </p:nvSpPr>
        <p:spPr>
          <a:xfrm>
            <a:off x="2952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010A303A-8501-41DD-A1AE-A2B117F92EE9}"/>
              </a:ext>
            </a:extLst>
          </p:cNvPr>
          <p:cNvSpPr>
            <a:spLocks noGrp="1"/>
          </p:cNvSpPr>
          <p:nvPr/>
        </p:nvSpPr>
        <p:spPr>
          <a:xfrm>
            <a:off x="3048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IAM role</a:t>
            </a:r>
          </a:p>
        </p:txBody>
      </p:sp>
      <p:sp>
        <p:nvSpPr>
          <p:cNvPr id="11" name="Arrow: Right 10">
            <a:extLst>
              <a:ext uri="{FF2B5EF4-FFF2-40B4-BE49-F238E27FC236}">
                <a16:creationId xmlns:a16="http://schemas.microsoft.com/office/drawing/2014/main" id="{9B898182-47A8-4994-8F69-84F60B403412}"/>
              </a:ext>
            </a:extLst>
          </p:cNvPr>
          <p:cNvSpPr>
            <a:spLocks noGrp="1"/>
          </p:cNvSpPr>
          <p:nvPr/>
        </p:nvSpPr>
        <p:spPr>
          <a:xfrm>
            <a:off x="4819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A03E6830-21BD-4178-9DEB-88B1D8821E09}"/>
              </a:ext>
            </a:extLst>
          </p:cNvPr>
          <p:cNvSpPr>
            <a:spLocks noGrp="1"/>
          </p:cNvSpPr>
          <p:nvPr/>
        </p:nvSpPr>
        <p:spPr>
          <a:xfrm>
            <a:off x="5048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62E6C20A-9498-4EAC-B889-5A818B95319A}"/>
              </a:ext>
            </a:extLst>
          </p:cNvPr>
          <p:cNvSpPr>
            <a:spLocks noGrp="1"/>
          </p:cNvSpPr>
          <p:nvPr/>
        </p:nvSpPr>
        <p:spPr>
          <a:xfrm>
            <a:off x="5143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Secrets Manager</a:t>
            </a:r>
          </a:p>
        </p:txBody>
      </p:sp>
      <p:sp>
        <p:nvSpPr>
          <p:cNvPr id="14" name="Arrow: Right 13">
            <a:extLst>
              <a:ext uri="{FF2B5EF4-FFF2-40B4-BE49-F238E27FC236}">
                <a16:creationId xmlns:a16="http://schemas.microsoft.com/office/drawing/2014/main" id="{23E4BF57-6C12-4AEE-9F51-716621138E4C}"/>
              </a:ext>
            </a:extLst>
          </p:cNvPr>
          <p:cNvSpPr>
            <a:spLocks noGrp="1"/>
          </p:cNvSpPr>
          <p:nvPr/>
        </p:nvSpPr>
        <p:spPr>
          <a:xfrm>
            <a:off x="6915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E6CFED94-D3EE-4B78-84AC-CAA2E74F48A6}"/>
              </a:ext>
            </a:extLst>
          </p:cNvPr>
          <p:cNvSpPr>
            <a:spLocks noGrp="1"/>
          </p:cNvSpPr>
          <p:nvPr/>
        </p:nvSpPr>
        <p:spPr>
          <a:xfrm>
            <a:off x="7143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1BF0694D-1B8E-44DF-A379-9C1C513CD849}"/>
              </a:ext>
            </a:extLst>
          </p:cNvPr>
          <p:cNvSpPr>
            <a:spLocks noGrp="1"/>
          </p:cNvSpPr>
          <p:nvPr/>
        </p:nvSpPr>
        <p:spPr>
          <a:xfrm>
            <a:off x="7239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AWS KMS</a:t>
            </a:r>
          </a:p>
        </p:txBody>
      </p:sp>
      <p:sp>
        <p:nvSpPr>
          <p:cNvPr id="17" name="Arrow: Right 16">
            <a:extLst>
              <a:ext uri="{FF2B5EF4-FFF2-40B4-BE49-F238E27FC236}">
                <a16:creationId xmlns:a16="http://schemas.microsoft.com/office/drawing/2014/main" id="{839A33DD-F2F8-4C4F-9F03-8DE0C755BCC5}"/>
              </a:ext>
            </a:extLst>
          </p:cNvPr>
          <p:cNvSpPr>
            <a:spLocks noGrp="1"/>
          </p:cNvSpPr>
          <p:nvPr/>
        </p:nvSpPr>
        <p:spPr>
          <a:xfrm>
            <a:off x="9010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AB83A3DF-2F89-4C09-8440-5749215B7C65}"/>
              </a:ext>
            </a:extLst>
          </p:cNvPr>
          <p:cNvSpPr>
            <a:spLocks noGrp="1"/>
          </p:cNvSpPr>
          <p:nvPr/>
        </p:nvSpPr>
        <p:spPr>
          <a:xfrm>
            <a:off x="9239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181FE60E-6E26-4AE5-AB07-0224A8A7E3C9}"/>
              </a:ext>
            </a:extLst>
          </p:cNvPr>
          <p:cNvSpPr>
            <a:spLocks noGrp="1"/>
          </p:cNvSpPr>
          <p:nvPr/>
        </p:nvSpPr>
        <p:spPr>
          <a:xfrm>
            <a:off x="9334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Database or API</a:t>
            </a:r>
          </a:p>
        </p:txBody>
      </p:sp>
      <p:sp>
        <p:nvSpPr>
          <p:cNvPr id="20" name="Rectangle 19">
            <a:extLst>
              <a:ext uri="{FF2B5EF4-FFF2-40B4-BE49-F238E27FC236}">
                <a16:creationId xmlns:a16="http://schemas.microsoft.com/office/drawing/2014/main" id="{A8E913EB-000A-4ECC-9616-21E8C6A2C2FE}"/>
              </a:ext>
            </a:extLst>
          </p:cNvPr>
          <p:cNvSpPr>
            <a:spLocks noGrp="1"/>
          </p:cNvSpPr>
          <p:nvPr/>
        </p:nvSpPr>
        <p:spPr>
          <a:xfrm>
            <a:off x="952500" y="4191000"/>
            <a:ext cx="3429000" cy="323851"/>
          </a:xfrm>
          <a:prstGeom prst="rect">
            <a:avLst/>
          </a:prstGeom>
          <a:noFill/>
          <a:ln w="0">
            <a:noFill/>
            <a:prstDash val="solid"/>
          </a:ln>
        </p:spPr>
        <p:txBody>
          <a:bodyPr/>
          <a:lstStyle/>
          <a:p>
            <a:pPr algn="l">
              <a:defRPr sz="1950" b="1">
                <a:solidFill>
                  <a:srgbClr val="12233F"/>
                </a:solidFill>
              </a:defRPr>
            </a:pPr>
            <a:r>
              <a:rPr sz="1951" b="1">
                <a:solidFill>
                  <a:srgbClr val="12233F"/>
                </a:solidFill>
              </a:rPr>
              <a:t>Architecture explanation</a:t>
            </a:r>
          </a:p>
        </p:txBody>
      </p:sp>
      <p:sp>
        <p:nvSpPr>
          <p:cNvPr id="21" name="Rectangle 20">
            <a:extLst>
              <a:ext uri="{FF2B5EF4-FFF2-40B4-BE49-F238E27FC236}">
                <a16:creationId xmlns:a16="http://schemas.microsoft.com/office/drawing/2014/main" id="{142F1E4D-C551-42FF-B2DD-820CCF86EC67}"/>
              </a:ext>
            </a:extLst>
          </p:cNvPr>
          <p:cNvSpPr>
            <a:spLocks noGrp="1"/>
          </p:cNvSpPr>
          <p:nvPr/>
        </p:nvSpPr>
        <p:spPr>
          <a:xfrm>
            <a:off x="952500" y="4667251"/>
            <a:ext cx="9144000" cy="1066800"/>
          </a:xfrm>
          <a:prstGeom prst="rect">
            <a:avLst/>
          </a:prstGeom>
          <a:noFill/>
          <a:ln w="0">
            <a:noFill/>
            <a:prstDash val="solid"/>
          </a:ln>
        </p:spPr>
        <p:txBody>
          <a:bodyPr/>
          <a:lstStyle/>
          <a:p>
            <a:pPr algn="l">
              <a:defRPr sz="1650" b="0">
                <a:solidFill>
                  <a:srgbClr val="334155"/>
                </a:solidFill>
              </a:defRPr>
            </a:pPr>
            <a:r>
              <a:rPr sz="1651">
                <a:solidFill>
                  <a:srgbClr val="334155"/>
                </a:solidFill>
              </a:rPr>
              <a:t>• AWS Secrets Manager owns the middle responsibility in this flow.</a:t>
            </a:r>
          </a:p>
          <a:p>
            <a:pPr algn="l">
              <a:defRPr sz="1650" b="0">
                <a:solidFill>
                  <a:srgbClr val="334155"/>
                </a:solidFill>
              </a:defRPr>
            </a:pPr>
            <a:r>
              <a:rPr sz="1651">
                <a:solidFill>
                  <a:srgbClr val="334155"/>
                </a:solidFill>
              </a:rPr>
              <a:t>• IAM controls who can call or use the service.</a:t>
            </a:r>
          </a:p>
          <a:p>
            <a:pPr algn="l">
              <a:defRPr sz="1650" b="0">
                <a:solidFill>
                  <a:srgbClr val="334155"/>
                </a:solidFill>
              </a:defRPr>
            </a:pPr>
            <a:r>
              <a:rPr sz="1651">
                <a:solidFill>
                  <a:srgbClr val="334155"/>
                </a:solidFill>
              </a:rPr>
              <a:t>• CloudWatch and CloudTrail help with monitoring and audit trails.</a:t>
            </a:r>
          </a:p>
        </p:txBody>
      </p:sp>
    </p:spTree>
    <p:extLst>
      <p:ext uri="{BB962C8B-B14F-4D97-AF65-F5344CB8AC3E}">
        <p14:creationId xmlns:p14="http://schemas.microsoft.com/office/powerpoint/2010/main" val="111509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A37812D0-E0C5-47D0-85C9-0C5C017D89CE}"/>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E93C904A-8D8E-4A9E-A290-F3C4FDD55DDC}"/>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6 · Process</a:t>
            </a:r>
          </a:p>
        </p:txBody>
      </p:sp>
      <p:sp>
        <p:nvSpPr>
          <p:cNvPr id="3" name="Rectangle 2">
            <a:extLst>
              <a:ext uri="{FF2B5EF4-FFF2-40B4-BE49-F238E27FC236}">
                <a16:creationId xmlns:a16="http://schemas.microsoft.com/office/drawing/2014/main" id="{BAAEA73A-AC3C-4ADD-8989-D426AFA9C9ED}"/>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26</a:t>
            </a:r>
          </a:p>
        </p:txBody>
      </p:sp>
      <p:sp>
        <p:nvSpPr>
          <p:cNvPr id="4" name="Rectangle 3">
            <a:extLst>
              <a:ext uri="{FF2B5EF4-FFF2-40B4-BE49-F238E27FC236}">
                <a16:creationId xmlns:a16="http://schemas.microsoft.com/office/drawing/2014/main" id="{C2A0E573-84D0-4D25-9A21-0343C7B321BE}"/>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How AWS Secrets Manager works in practice</a:t>
            </a:r>
          </a:p>
        </p:txBody>
      </p:sp>
      <p:sp>
        <p:nvSpPr>
          <p:cNvPr id="5" name="Rectangle 4">
            <a:extLst>
              <a:ext uri="{FF2B5EF4-FFF2-40B4-BE49-F238E27FC236}">
                <a16:creationId xmlns:a16="http://schemas.microsoft.com/office/drawing/2014/main" id="{5D330746-388F-44F6-B08C-4B37079EAB6F}"/>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Use this as the step-by-step explanation during the meeting.</a:t>
            </a:r>
          </a:p>
        </p:txBody>
      </p:sp>
      <p:sp>
        <p:nvSpPr>
          <p:cNvPr id="6" name="Rectangle: Rounded Corners 5">
            <a:extLst>
              <a:ext uri="{FF2B5EF4-FFF2-40B4-BE49-F238E27FC236}">
                <a16:creationId xmlns:a16="http://schemas.microsoft.com/office/drawing/2014/main" id="{928FC45A-E1EE-4DC4-B80A-31C0F4AC0D89}"/>
              </a:ext>
            </a:extLst>
          </p:cNvPr>
          <p:cNvSpPr>
            <a:spLocks noGrp="1"/>
          </p:cNvSpPr>
          <p:nvPr/>
        </p:nvSpPr>
        <p:spPr>
          <a:xfrm>
            <a:off x="876301" y="19526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F1AFEB1D-BEB5-4EC5-ACFF-6C6A1751F8E8}"/>
              </a:ext>
            </a:extLst>
          </p:cNvPr>
          <p:cNvSpPr>
            <a:spLocks noGrp="1"/>
          </p:cNvSpPr>
          <p:nvPr/>
        </p:nvSpPr>
        <p:spPr>
          <a:xfrm>
            <a:off x="971549" y="20669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Create secret</a:t>
            </a:r>
          </a:p>
        </p:txBody>
      </p:sp>
      <p:sp>
        <p:nvSpPr>
          <p:cNvPr id="8" name="Arrow: Down 7">
            <a:extLst>
              <a:ext uri="{FF2B5EF4-FFF2-40B4-BE49-F238E27FC236}">
                <a16:creationId xmlns:a16="http://schemas.microsoft.com/office/drawing/2014/main" id="{E62C02F3-8BFA-4195-BAB8-A8398288B856}"/>
              </a:ext>
            </a:extLst>
          </p:cNvPr>
          <p:cNvSpPr>
            <a:spLocks noGrp="1"/>
          </p:cNvSpPr>
          <p:nvPr/>
        </p:nvSpPr>
        <p:spPr>
          <a:xfrm>
            <a:off x="3019426" y="2457449"/>
            <a:ext cx="190500" cy="95251"/>
          </a:xfrm>
          <a:prstGeom prst="down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45E2FDBE-3F3B-4FB0-8535-CC6442E65D96}"/>
              </a:ext>
            </a:extLst>
          </p:cNvPr>
          <p:cNvSpPr>
            <a:spLocks noGrp="1"/>
          </p:cNvSpPr>
          <p:nvPr/>
        </p:nvSpPr>
        <p:spPr>
          <a:xfrm>
            <a:off x="876301" y="26003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11373A8B-828D-4525-99D1-F75749E6D230}"/>
              </a:ext>
            </a:extLst>
          </p:cNvPr>
          <p:cNvSpPr>
            <a:spLocks noGrp="1"/>
          </p:cNvSpPr>
          <p:nvPr/>
        </p:nvSpPr>
        <p:spPr>
          <a:xfrm>
            <a:off x="971549" y="27146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Choose KMS key</a:t>
            </a:r>
          </a:p>
        </p:txBody>
      </p:sp>
      <p:sp>
        <p:nvSpPr>
          <p:cNvPr id="11" name="Arrow: Down 10">
            <a:extLst>
              <a:ext uri="{FF2B5EF4-FFF2-40B4-BE49-F238E27FC236}">
                <a16:creationId xmlns:a16="http://schemas.microsoft.com/office/drawing/2014/main" id="{14C66962-9275-454D-983E-43B96C3023C8}"/>
              </a:ext>
            </a:extLst>
          </p:cNvPr>
          <p:cNvSpPr>
            <a:spLocks noGrp="1"/>
          </p:cNvSpPr>
          <p:nvPr/>
        </p:nvSpPr>
        <p:spPr>
          <a:xfrm>
            <a:off x="3019426" y="3105149"/>
            <a:ext cx="190500" cy="95251"/>
          </a:xfrm>
          <a:prstGeom prst="down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07368400-A13E-4D42-8D52-E707F528240E}"/>
              </a:ext>
            </a:extLst>
          </p:cNvPr>
          <p:cNvSpPr>
            <a:spLocks noGrp="1"/>
          </p:cNvSpPr>
          <p:nvPr/>
        </p:nvSpPr>
        <p:spPr>
          <a:xfrm>
            <a:off x="876301" y="32480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BE13DD60-9B23-4F96-B8CE-AA9C0B23D979}"/>
              </a:ext>
            </a:extLst>
          </p:cNvPr>
          <p:cNvSpPr>
            <a:spLocks noGrp="1"/>
          </p:cNvSpPr>
          <p:nvPr/>
        </p:nvSpPr>
        <p:spPr>
          <a:xfrm>
            <a:off x="971549" y="33623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Grant IAM access</a:t>
            </a:r>
          </a:p>
        </p:txBody>
      </p:sp>
      <p:sp>
        <p:nvSpPr>
          <p:cNvPr id="14" name="Arrow: Down 13">
            <a:extLst>
              <a:ext uri="{FF2B5EF4-FFF2-40B4-BE49-F238E27FC236}">
                <a16:creationId xmlns:a16="http://schemas.microsoft.com/office/drawing/2014/main" id="{1881C69B-62BB-4855-98E9-5739C1B01A7B}"/>
              </a:ext>
            </a:extLst>
          </p:cNvPr>
          <p:cNvSpPr>
            <a:spLocks noGrp="1"/>
          </p:cNvSpPr>
          <p:nvPr/>
        </p:nvSpPr>
        <p:spPr>
          <a:xfrm>
            <a:off x="3019426" y="3752849"/>
            <a:ext cx="190500" cy="95251"/>
          </a:xfrm>
          <a:prstGeom prst="down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DC57AE94-57A9-4C0F-ABF3-2DC77C6BB89D}"/>
              </a:ext>
            </a:extLst>
          </p:cNvPr>
          <p:cNvSpPr>
            <a:spLocks noGrp="1"/>
          </p:cNvSpPr>
          <p:nvPr/>
        </p:nvSpPr>
        <p:spPr>
          <a:xfrm>
            <a:off x="876301" y="38957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4F8CBD5A-C327-4AAB-AF15-857968541FC1}"/>
              </a:ext>
            </a:extLst>
          </p:cNvPr>
          <p:cNvSpPr>
            <a:spLocks noGrp="1"/>
          </p:cNvSpPr>
          <p:nvPr/>
        </p:nvSpPr>
        <p:spPr>
          <a:xfrm>
            <a:off x="971549" y="40100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Retrieve at runtime</a:t>
            </a:r>
          </a:p>
        </p:txBody>
      </p:sp>
      <p:sp>
        <p:nvSpPr>
          <p:cNvPr id="17" name="Arrow: Down 16">
            <a:extLst>
              <a:ext uri="{FF2B5EF4-FFF2-40B4-BE49-F238E27FC236}">
                <a16:creationId xmlns:a16="http://schemas.microsoft.com/office/drawing/2014/main" id="{2C491402-7FA8-4538-96BC-FE18D3573913}"/>
              </a:ext>
            </a:extLst>
          </p:cNvPr>
          <p:cNvSpPr>
            <a:spLocks noGrp="1"/>
          </p:cNvSpPr>
          <p:nvPr/>
        </p:nvSpPr>
        <p:spPr>
          <a:xfrm>
            <a:off x="3019426" y="4400549"/>
            <a:ext cx="190500" cy="95251"/>
          </a:xfrm>
          <a:prstGeom prst="down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4A84191E-B1B8-4FB9-AA31-FE1AAAE0747F}"/>
              </a:ext>
            </a:extLst>
          </p:cNvPr>
          <p:cNvSpPr>
            <a:spLocks noGrp="1"/>
          </p:cNvSpPr>
          <p:nvPr/>
        </p:nvSpPr>
        <p:spPr>
          <a:xfrm>
            <a:off x="876301" y="45434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EC22C485-637B-47FF-83FC-BC104522C797}"/>
              </a:ext>
            </a:extLst>
          </p:cNvPr>
          <p:cNvSpPr>
            <a:spLocks noGrp="1"/>
          </p:cNvSpPr>
          <p:nvPr/>
        </p:nvSpPr>
        <p:spPr>
          <a:xfrm>
            <a:off x="971549" y="46577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Rotate when needed</a:t>
            </a:r>
          </a:p>
        </p:txBody>
      </p:sp>
      <p:sp>
        <p:nvSpPr>
          <p:cNvPr id="20" name="Rectangle: Rounded Corners 19">
            <a:extLst>
              <a:ext uri="{FF2B5EF4-FFF2-40B4-BE49-F238E27FC236}">
                <a16:creationId xmlns:a16="http://schemas.microsoft.com/office/drawing/2014/main" id="{92CBA0B8-72EE-4BB5-AA54-10E08AB6439A}"/>
              </a:ext>
            </a:extLst>
          </p:cNvPr>
          <p:cNvSpPr>
            <a:spLocks noGrp="1"/>
          </p:cNvSpPr>
          <p:nvPr/>
        </p:nvSpPr>
        <p:spPr>
          <a:xfrm>
            <a:off x="6191250" y="2000251"/>
            <a:ext cx="4095751" cy="2286000"/>
          </a:xfrm>
          <a:prstGeom prst="roundRect">
            <a:avLst>
              <a:gd name="adj" fmla="val 2500"/>
            </a:avLst>
          </a:prstGeom>
          <a:solidFill>
            <a:srgbClr val="FFFFFF"/>
          </a:solidFill>
          <a:ln w="9525">
            <a:solidFill>
              <a:srgbClr val="D7E2EE"/>
            </a:solidFill>
            <a:prstDash val="solid"/>
          </a:ln>
        </p:spPr>
        <p:txBody>
          <a:bodyPr/>
          <a:lstStyle/>
          <a:p>
            <a:endParaRPr lang="en-IN"/>
          </a:p>
        </p:txBody>
      </p:sp>
      <p:sp>
        <p:nvSpPr>
          <p:cNvPr id="21" name="Rectangle 20">
            <a:extLst>
              <a:ext uri="{FF2B5EF4-FFF2-40B4-BE49-F238E27FC236}">
                <a16:creationId xmlns:a16="http://schemas.microsoft.com/office/drawing/2014/main" id="{1F3F1610-E577-4C88-8B9D-C3829E512FBD}"/>
              </a:ext>
            </a:extLst>
          </p:cNvPr>
          <p:cNvSpPr>
            <a:spLocks noGrp="1"/>
          </p:cNvSpPr>
          <p:nvPr/>
        </p:nvSpPr>
        <p:spPr>
          <a:xfrm>
            <a:off x="6477001" y="2266951"/>
            <a:ext cx="2857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Best practices</a:t>
            </a:r>
          </a:p>
        </p:txBody>
      </p:sp>
      <p:sp>
        <p:nvSpPr>
          <p:cNvPr id="22" name="Rectangle 21">
            <a:extLst>
              <a:ext uri="{FF2B5EF4-FFF2-40B4-BE49-F238E27FC236}">
                <a16:creationId xmlns:a16="http://schemas.microsoft.com/office/drawing/2014/main" id="{01C4E563-9039-49CE-8B58-E4D7C4F65382}"/>
              </a:ext>
            </a:extLst>
          </p:cNvPr>
          <p:cNvSpPr>
            <a:spLocks noGrp="1"/>
          </p:cNvSpPr>
          <p:nvPr/>
        </p:nvSpPr>
        <p:spPr>
          <a:xfrm>
            <a:off x="6477001" y="2819401"/>
            <a:ext cx="3333751" cy="1104900"/>
          </a:xfrm>
          <a:prstGeom prst="rect">
            <a:avLst/>
          </a:prstGeom>
          <a:noFill/>
          <a:ln w="0">
            <a:noFill/>
            <a:prstDash val="solid"/>
          </a:ln>
        </p:spPr>
        <p:txBody>
          <a:bodyPr/>
          <a:lstStyle/>
          <a:p>
            <a:pPr algn="l">
              <a:defRPr sz="1500" b="0">
                <a:solidFill>
                  <a:srgbClr val="334155"/>
                </a:solidFill>
              </a:defRPr>
            </a:pPr>
            <a:r>
              <a:rPr sz="1500">
                <a:solidFill>
                  <a:srgbClr val="334155"/>
                </a:solidFill>
              </a:rPr>
              <a:t>• Never hardcode passwords</a:t>
            </a:r>
          </a:p>
          <a:p>
            <a:pPr algn="l">
              <a:defRPr sz="1500" b="0">
                <a:solidFill>
                  <a:srgbClr val="334155"/>
                </a:solidFill>
              </a:defRPr>
            </a:pPr>
            <a:r>
              <a:rPr sz="1500">
                <a:solidFill>
                  <a:srgbClr val="334155"/>
                </a:solidFill>
              </a:rPr>
              <a:t>• Enable rotation where possible</a:t>
            </a:r>
          </a:p>
          <a:p>
            <a:pPr algn="l">
              <a:defRPr sz="1500" b="0">
                <a:solidFill>
                  <a:srgbClr val="334155"/>
                </a:solidFill>
              </a:defRPr>
            </a:pPr>
            <a:r>
              <a:rPr sz="1500">
                <a:solidFill>
                  <a:srgbClr val="334155"/>
                </a:solidFill>
              </a:rPr>
              <a:t>• Separate environments</a:t>
            </a:r>
          </a:p>
          <a:p>
            <a:pPr algn="l">
              <a:defRPr sz="1500" b="0">
                <a:solidFill>
                  <a:srgbClr val="334155"/>
                </a:solidFill>
              </a:defRPr>
            </a:pPr>
            <a:r>
              <a:rPr sz="1500">
                <a:solidFill>
                  <a:srgbClr val="334155"/>
                </a:solidFill>
              </a:rPr>
              <a:t>• Audit access</a:t>
            </a:r>
          </a:p>
        </p:txBody>
      </p:sp>
      <p:sp>
        <p:nvSpPr>
          <p:cNvPr id="23" name="Rectangle: Rounded Corners 22">
            <a:extLst>
              <a:ext uri="{FF2B5EF4-FFF2-40B4-BE49-F238E27FC236}">
                <a16:creationId xmlns:a16="http://schemas.microsoft.com/office/drawing/2014/main" id="{F4117873-D4D1-4CD0-8759-CB7034DA3461}"/>
              </a:ext>
            </a:extLst>
          </p:cNvPr>
          <p:cNvSpPr>
            <a:spLocks noGrp="1"/>
          </p:cNvSpPr>
          <p:nvPr/>
        </p:nvSpPr>
        <p:spPr>
          <a:xfrm>
            <a:off x="6191250" y="4619625"/>
            <a:ext cx="4095751" cy="914400"/>
          </a:xfrm>
          <a:prstGeom prst="roundRect">
            <a:avLst>
              <a:gd name="adj" fmla="val 6250"/>
            </a:avLst>
          </a:prstGeom>
          <a:solidFill>
            <a:srgbClr val="EAF3FC"/>
          </a:solidFill>
          <a:ln w="9525">
            <a:solidFill>
              <a:srgbClr val="B7D4EF"/>
            </a:solidFill>
            <a:prstDash val="solid"/>
          </a:ln>
        </p:spPr>
        <p:txBody>
          <a:bodyPr/>
          <a:lstStyle/>
          <a:p>
            <a:endParaRPr lang="en-IN"/>
          </a:p>
        </p:txBody>
      </p:sp>
      <p:sp>
        <p:nvSpPr>
          <p:cNvPr id="24" name="Rectangle 23">
            <a:extLst>
              <a:ext uri="{FF2B5EF4-FFF2-40B4-BE49-F238E27FC236}">
                <a16:creationId xmlns:a16="http://schemas.microsoft.com/office/drawing/2014/main" id="{498C536F-2B7C-474B-AC93-1D7DEC913367}"/>
              </a:ext>
            </a:extLst>
          </p:cNvPr>
          <p:cNvSpPr>
            <a:spLocks noGrp="1"/>
          </p:cNvSpPr>
          <p:nvPr/>
        </p:nvSpPr>
        <p:spPr>
          <a:xfrm>
            <a:off x="6477000" y="4876801"/>
            <a:ext cx="3429000" cy="361951"/>
          </a:xfrm>
          <a:prstGeom prst="rect">
            <a:avLst/>
          </a:prstGeom>
          <a:noFill/>
          <a:ln w="0">
            <a:noFill/>
            <a:prstDash val="solid"/>
          </a:ln>
        </p:spPr>
        <p:txBody>
          <a:bodyPr/>
          <a:lstStyle/>
          <a:p>
            <a:pPr algn="l">
              <a:defRPr sz="1650" b="1">
                <a:solidFill>
                  <a:srgbClr val="1F5D99"/>
                </a:solidFill>
              </a:defRPr>
            </a:pPr>
            <a:r>
              <a:rPr sz="1651" b="1">
                <a:solidFill>
                  <a:srgbClr val="1F5D99"/>
                </a:solidFill>
              </a:rPr>
              <a:t>Interview cue: Secrets Manager vs Parameter Store</a:t>
            </a:r>
          </a:p>
        </p:txBody>
      </p:sp>
    </p:spTree>
    <p:extLst>
      <p:ext uri="{BB962C8B-B14F-4D97-AF65-F5344CB8AC3E}">
        <p14:creationId xmlns:p14="http://schemas.microsoft.com/office/powerpoint/2010/main" val="8031399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33FAF6F-B3FA-4888-BC2F-E42EED0386EC}"/>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886F4E7D-24A6-4BBC-87FD-DAE0628BF9BE}"/>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6 · Recap</a:t>
            </a:r>
          </a:p>
        </p:txBody>
      </p:sp>
      <p:sp>
        <p:nvSpPr>
          <p:cNvPr id="3" name="Rectangle 2">
            <a:extLst>
              <a:ext uri="{FF2B5EF4-FFF2-40B4-BE49-F238E27FC236}">
                <a16:creationId xmlns:a16="http://schemas.microsoft.com/office/drawing/2014/main" id="{FA78F0AD-405A-4126-BC66-F878E3A73BBE}"/>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27</a:t>
            </a:r>
          </a:p>
        </p:txBody>
      </p:sp>
      <p:sp>
        <p:nvSpPr>
          <p:cNvPr id="4" name="Rectangle 3">
            <a:extLst>
              <a:ext uri="{FF2B5EF4-FFF2-40B4-BE49-F238E27FC236}">
                <a16:creationId xmlns:a16="http://schemas.microsoft.com/office/drawing/2014/main" id="{360534C9-C671-4FE8-8AAB-947636DCA1F9}"/>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AWS Secrets Manager: what to remember</a:t>
            </a:r>
          </a:p>
        </p:txBody>
      </p:sp>
      <p:sp>
        <p:nvSpPr>
          <p:cNvPr id="5" name="Rectangle 4">
            <a:extLst>
              <a:ext uri="{FF2B5EF4-FFF2-40B4-BE49-F238E27FC236}">
                <a16:creationId xmlns:a16="http://schemas.microsoft.com/office/drawing/2014/main" id="{349CCD8D-9895-4D35-ACB3-EFCE54478EF2}"/>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Close the module with practical rules and common questions.</a:t>
            </a:r>
          </a:p>
        </p:txBody>
      </p:sp>
      <p:sp>
        <p:nvSpPr>
          <p:cNvPr id="6" name="Rectangle 5">
            <a:extLst>
              <a:ext uri="{FF2B5EF4-FFF2-40B4-BE49-F238E27FC236}">
                <a16:creationId xmlns:a16="http://schemas.microsoft.com/office/drawing/2014/main" id="{A06BB2E4-1CB0-4B0B-8F65-25078E235107}"/>
              </a:ext>
            </a:extLst>
          </p:cNvPr>
          <p:cNvSpPr>
            <a:spLocks noGrp="1"/>
          </p:cNvSpPr>
          <p:nvPr/>
        </p:nvSpPr>
        <p:spPr>
          <a:xfrm>
            <a:off x="857251"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Common questions</a:t>
            </a:r>
          </a:p>
        </p:txBody>
      </p:sp>
      <p:sp>
        <p:nvSpPr>
          <p:cNvPr id="7" name="Rectangle 6">
            <a:extLst>
              <a:ext uri="{FF2B5EF4-FFF2-40B4-BE49-F238E27FC236}">
                <a16:creationId xmlns:a16="http://schemas.microsoft.com/office/drawing/2014/main" id="{EF7B715C-62A2-4E03-9B07-50EBB71F78E1}"/>
              </a:ext>
            </a:extLst>
          </p:cNvPr>
          <p:cNvSpPr>
            <a:spLocks noGrp="1"/>
          </p:cNvSpPr>
          <p:nvPr/>
        </p:nvSpPr>
        <p:spPr>
          <a:xfrm>
            <a:off x="952501" y="2571751"/>
            <a:ext cx="4381500" cy="1524000"/>
          </a:xfrm>
          <a:prstGeom prst="rect">
            <a:avLst/>
          </a:prstGeom>
          <a:noFill/>
          <a:ln w="0">
            <a:noFill/>
            <a:prstDash val="solid"/>
          </a:ln>
        </p:spPr>
        <p:txBody>
          <a:bodyPr/>
          <a:lstStyle/>
          <a:p>
            <a:pPr algn="l">
              <a:defRPr sz="1800" b="0">
                <a:solidFill>
                  <a:srgbClr val="334155"/>
                </a:solidFill>
              </a:defRPr>
            </a:pPr>
            <a:r>
              <a:rPr>
                <a:solidFill>
                  <a:srgbClr val="334155"/>
                </a:solidFill>
              </a:rPr>
              <a:t>• Secrets Manager vs Parameter Store</a:t>
            </a:r>
          </a:p>
          <a:p>
            <a:pPr algn="l">
              <a:defRPr sz="1800" b="0">
                <a:solidFill>
                  <a:srgbClr val="334155"/>
                </a:solidFill>
              </a:defRPr>
            </a:pPr>
            <a:r>
              <a:rPr>
                <a:solidFill>
                  <a:srgbClr val="334155"/>
                </a:solidFill>
              </a:rPr>
              <a:t>• What is rotation?</a:t>
            </a:r>
          </a:p>
          <a:p>
            <a:pPr algn="l">
              <a:defRPr sz="1800" b="0">
                <a:solidFill>
                  <a:srgbClr val="334155"/>
                </a:solidFill>
              </a:defRPr>
            </a:pPr>
            <a:r>
              <a:rPr>
                <a:solidFill>
                  <a:srgbClr val="334155"/>
                </a:solidFill>
              </a:rPr>
              <a:t>• How does Lambda retrieve a secret?</a:t>
            </a:r>
          </a:p>
        </p:txBody>
      </p:sp>
      <p:sp>
        <p:nvSpPr>
          <p:cNvPr id="8" name="Rectangle 7">
            <a:extLst>
              <a:ext uri="{FF2B5EF4-FFF2-40B4-BE49-F238E27FC236}">
                <a16:creationId xmlns:a16="http://schemas.microsoft.com/office/drawing/2014/main" id="{546BA688-79E3-45E2-BC66-70A036C42EF1}"/>
              </a:ext>
            </a:extLst>
          </p:cNvPr>
          <p:cNvSpPr>
            <a:spLocks noGrp="1"/>
          </p:cNvSpPr>
          <p:nvPr/>
        </p:nvSpPr>
        <p:spPr>
          <a:xfrm>
            <a:off x="6334125"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One-line memory hook</a:t>
            </a:r>
          </a:p>
        </p:txBody>
      </p:sp>
      <p:sp>
        <p:nvSpPr>
          <p:cNvPr id="9" name="Rectangle: Rounded Corners 8">
            <a:extLst>
              <a:ext uri="{FF2B5EF4-FFF2-40B4-BE49-F238E27FC236}">
                <a16:creationId xmlns:a16="http://schemas.microsoft.com/office/drawing/2014/main" id="{07587609-DF4E-43DF-ACD1-53C275D22A09}"/>
              </a:ext>
            </a:extLst>
          </p:cNvPr>
          <p:cNvSpPr>
            <a:spLocks noGrp="1"/>
          </p:cNvSpPr>
          <p:nvPr/>
        </p:nvSpPr>
        <p:spPr>
          <a:xfrm>
            <a:off x="6191249" y="2571751"/>
            <a:ext cx="4286251" cy="1524000"/>
          </a:xfrm>
          <a:prstGeom prst="roundRect">
            <a:avLst>
              <a:gd name="adj" fmla="val 3750"/>
            </a:avLst>
          </a:prstGeom>
          <a:solidFill>
            <a:srgbClr val="12233F"/>
          </a:solidFill>
          <a:ln w="9525">
            <a:solidFill>
              <a:srgbClr val="12233F"/>
            </a:solidFill>
            <a:prstDash val="solid"/>
          </a:ln>
        </p:spPr>
        <p:txBody>
          <a:bodyPr/>
          <a:lstStyle/>
          <a:p>
            <a:endParaRPr lang="en-IN"/>
          </a:p>
        </p:txBody>
      </p:sp>
      <p:sp>
        <p:nvSpPr>
          <p:cNvPr id="10" name="Rectangle 9">
            <a:extLst>
              <a:ext uri="{FF2B5EF4-FFF2-40B4-BE49-F238E27FC236}">
                <a16:creationId xmlns:a16="http://schemas.microsoft.com/office/drawing/2014/main" id="{38135472-1D3F-4D74-887D-974F021EC4FD}"/>
              </a:ext>
            </a:extLst>
          </p:cNvPr>
          <p:cNvSpPr>
            <a:spLocks noGrp="1"/>
          </p:cNvSpPr>
          <p:nvPr/>
        </p:nvSpPr>
        <p:spPr>
          <a:xfrm>
            <a:off x="6534151" y="2952749"/>
            <a:ext cx="3619500" cy="781051"/>
          </a:xfrm>
          <a:prstGeom prst="rect">
            <a:avLst/>
          </a:prstGeom>
          <a:noFill/>
          <a:ln w="0">
            <a:noFill/>
            <a:prstDash val="solid"/>
          </a:ln>
        </p:spPr>
        <p:txBody>
          <a:bodyPr/>
          <a:lstStyle/>
          <a:p>
            <a:pPr algn="ctr">
              <a:defRPr sz="2100" b="1">
                <a:solidFill>
                  <a:srgbClr val="FFFFFF"/>
                </a:solidFill>
              </a:defRPr>
            </a:pPr>
            <a:r>
              <a:rPr sz="2100" b="1">
                <a:solidFill>
                  <a:srgbClr val="FFFFFF"/>
                </a:solidFill>
              </a:rPr>
              <a:t>Secrets Manager keeps credentials out of code.</a:t>
            </a:r>
          </a:p>
        </p:txBody>
      </p:sp>
    </p:spTree>
    <p:extLst>
      <p:ext uri="{BB962C8B-B14F-4D97-AF65-F5344CB8AC3E}">
        <p14:creationId xmlns:p14="http://schemas.microsoft.com/office/powerpoint/2010/main" val="3813446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048DBA0-E65D-41AA-B629-49D96DB4228E}"/>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A4D09971-3E86-49DA-BC6B-AEF0AC132EC1}"/>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7 · Web application firewall</a:t>
            </a:r>
          </a:p>
        </p:txBody>
      </p:sp>
      <p:sp>
        <p:nvSpPr>
          <p:cNvPr id="3" name="Rectangle 2">
            <a:extLst>
              <a:ext uri="{FF2B5EF4-FFF2-40B4-BE49-F238E27FC236}">
                <a16:creationId xmlns:a16="http://schemas.microsoft.com/office/drawing/2014/main" id="{78A7B776-6A1C-4DFA-8A42-CC9FB7F27DC3}"/>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28</a:t>
            </a:r>
          </a:p>
        </p:txBody>
      </p:sp>
      <p:sp>
        <p:nvSpPr>
          <p:cNvPr id="4" name="Rectangle 3">
            <a:extLst>
              <a:ext uri="{FF2B5EF4-FFF2-40B4-BE49-F238E27FC236}">
                <a16:creationId xmlns:a16="http://schemas.microsoft.com/office/drawing/2014/main" id="{AFFA4F4A-18E0-4A43-B94D-B5AF70397A4B}"/>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AWS WAF: what it is</a:t>
            </a:r>
          </a:p>
        </p:txBody>
      </p:sp>
      <p:sp>
        <p:nvSpPr>
          <p:cNvPr id="5" name="Rectangle 4">
            <a:extLst>
              <a:ext uri="{FF2B5EF4-FFF2-40B4-BE49-F238E27FC236}">
                <a16:creationId xmlns:a16="http://schemas.microsoft.com/office/drawing/2014/main" id="{EA18F72F-DD84-4351-85A2-EA6C0BA62A2F}"/>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Protects web applications and APIs by inspecting HTTP/S requests and applying security rules.</a:t>
            </a:r>
          </a:p>
        </p:txBody>
      </p:sp>
      <p:sp>
        <p:nvSpPr>
          <p:cNvPr id="6" name="Oval 5">
            <a:extLst>
              <a:ext uri="{FF2B5EF4-FFF2-40B4-BE49-F238E27FC236}">
                <a16:creationId xmlns:a16="http://schemas.microsoft.com/office/drawing/2014/main" id="{DF6E41A5-A981-4399-A8F1-B6C0F28348A7}"/>
              </a:ext>
            </a:extLst>
          </p:cNvPr>
          <p:cNvSpPr>
            <a:spLocks noGrp="1"/>
          </p:cNvSpPr>
          <p:nvPr/>
        </p:nvSpPr>
        <p:spPr>
          <a:xfrm>
            <a:off x="9239251" y="876300"/>
            <a:ext cx="1066800" cy="1066800"/>
          </a:xfrm>
          <a:prstGeom prst="ellipse">
            <a:avLst/>
          </a:prstGeom>
          <a:solidFill>
            <a:srgbClr val="12233F"/>
          </a:solidFill>
          <a:ln w="28575">
            <a:solidFill>
              <a:srgbClr val="FF9900"/>
            </a:solidFill>
            <a:prstDash val="solid"/>
          </a:ln>
        </p:spPr>
        <p:txBody>
          <a:bodyPr/>
          <a:lstStyle/>
          <a:p>
            <a:endParaRPr lang="en-IN"/>
          </a:p>
        </p:txBody>
      </p:sp>
      <p:sp>
        <p:nvSpPr>
          <p:cNvPr id="7" name="Rectangle 6">
            <a:extLst>
              <a:ext uri="{FF2B5EF4-FFF2-40B4-BE49-F238E27FC236}">
                <a16:creationId xmlns:a16="http://schemas.microsoft.com/office/drawing/2014/main" id="{19803870-C3EE-48BB-AB70-E997874E6D76}"/>
              </a:ext>
            </a:extLst>
          </p:cNvPr>
          <p:cNvSpPr>
            <a:spLocks noGrp="1"/>
          </p:cNvSpPr>
          <p:nvPr/>
        </p:nvSpPr>
        <p:spPr>
          <a:xfrm>
            <a:off x="9239251" y="1133475"/>
            <a:ext cx="1066800" cy="400051"/>
          </a:xfrm>
          <a:prstGeom prst="rect">
            <a:avLst/>
          </a:prstGeom>
          <a:noFill/>
          <a:ln w="0">
            <a:noFill/>
            <a:prstDash val="solid"/>
          </a:ln>
        </p:spPr>
        <p:txBody>
          <a:bodyPr/>
          <a:lstStyle/>
          <a:p>
            <a:pPr algn="ctr">
              <a:defRPr sz="1950" b="1">
                <a:solidFill>
                  <a:srgbClr val="FFFFFF"/>
                </a:solidFill>
              </a:defRPr>
            </a:pPr>
            <a:r>
              <a:rPr sz="1951" b="1">
                <a:solidFill>
                  <a:srgbClr val="FFFFFF"/>
                </a:solidFill>
              </a:rPr>
              <a:t>W</a:t>
            </a:r>
          </a:p>
        </p:txBody>
      </p:sp>
      <p:sp>
        <p:nvSpPr>
          <p:cNvPr id="8" name="Rectangle: Rounded Corners 7">
            <a:extLst>
              <a:ext uri="{FF2B5EF4-FFF2-40B4-BE49-F238E27FC236}">
                <a16:creationId xmlns:a16="http://schemas.microsoft.com/office/drawing/2014/main" id="{9E8B56F7-BA70-4BFE-9EF3-73E2C8343D45}"/>
              </a:ext>
            </a:extLst>
          </p:cNvPr>
          <p:cNvSpPr>
            <a:spLocks noGrp="1"/>
          </p:cNvSpPr>
          <p:nvPr/>
        </p:nvSpPr>
        <p:spPr>
          <a:xfrm>
            <a:off x="742951" y="2095501"/>
            <a:ext cx="4762500" cy="2476500"/>
          </a:xfrm>
          <a:prstGeom prst="roundRect">
            <a:avLst>
              <a:gd name="adj" fmla="val 2308"/>
            </a:avLst>
          </a:prstGeom>
          <a:solidFill>
            <a:srgbClr val="FFFFFF"/>
          </a:solidFill>
          <a:ln w="9525">
            <a:solidFill>
              <a:srgbClr val="D7E2EE"/>
            </a:solidFill>
            <a:prstDash val="solid"/>
          </a:ln>
        </p:spPr>
        <p:txBody>
          <a:bodyPr/>
          <a:lstStyle/>
          <a:p>
            <a:endParaRPr lang="en-IN"/>
          </a:p>
        </p:txBody>
      </p:sp>
      <p:sp>
        <p:nvSpPr>
          <p:cNvPr id="9" name="Rectangle 8">
            <a:extLst>
              <a:ext uri="{FF2B5EF4-FFF2-40B4-BE49-F238E27FC236}">
                <a16:creationId xmlns:a16="http://schemas.microsoft.com/office/drawing/2014/main" id="{CD576676-1357-4AC7-BF36-59BED4F3AA09}"/>
              </a:ext>
            </a:extLst>
          </p:cNvPr>
          <p:cNvSpPr>
            <a:spLocks noGrp="1"/>
          </p:cNvSpPr>
          <p:nvPr/>
        </p:nvSpPr>
        <p:spPr>
          <a:xfrm>
            <a:off x="1009651" y="2362200"/>
            <a:ext cx="38100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Use it when you need to</a:t>
            </a:r>
          </a:p>
        </p:txBody>
      </p:sp>
      <p:sp>
        <p:nvSpPr>
          <p:cNvPr id="10" name="Rectangle 9">
            <a:extLst>
              <a:ext uri="{FF2B5EF4-FFF2-40B4-BE49-F238E27FC236}">
                <a16:creationId xmlns:a16="http://schemas.microsoft.com/office/drawing/2014/main" id="{E86144BC-8DC3-48F9-AC74-4F2F24387956}"/>
              </a:ext>
            </a:extLst>
          </p:cNvPr>
          <p:cNvSpPr>
            <a:spLocks noGrp="1"/>
          </p:cNvSpPr>
          <p:nvPr/>
        </p:nvSpPr>
        <p:spPr>
          <a:xfrm>
            <a:off x="1066801" y="2895600"/>
            <a:ext cx="4000500" cy="1238251"/>
          </a:xfrm>
          <a:prstGeom prst="rect">
            <a:avLst/>
          </a:prstGeom>
          <a:noFill/>
          <a:ln w="0">
            <a:noFill/>
            <a:prstDash val="solid"/>
          </a:ln>
        </p:spPr>
        <p:txBody>
          <a:bodyPr/>
          <a:lstStyle/>
          <a:p>
            <a:pPr algn="l">
              <a:defRPr sz="1650" b="0">
                <a:solidFill>
                  <a:srgbClr val="334155"/>
                </a:solidFill>
              </a:defRPr>
            </a:pPr>
            <a:r>
              <a:rPr sz="1651">
                <a:solidFill>
                  <a:srgbClr val="334155"/>
                </a:solidFill>
              </a:rPr>
              <a:t>• Block SQL injection</a:t>
            </a:r>
          </a:p>
          <a:p>
            <a:pPr algn="l">
              <a:defRPr sz="1650" b="0">
                <a:solidFill>
                  <a:srgbClr val="334155"/>
                </a:solidFill>
              </a:defRPr>
            </a:pPr>
            <a:r>
              <a:rPr sz="1651">
                <a:solidFill>
                  <a:srgbClr val="334155"/>
                </a:solidFill>
              </a:rPr>
              <a:t>• Block XSS</a:t>
            </a:r>
          </a:p>
          <a:p>
            <a:pPr algn="l">
              <a:defRPr sz="1650" b="0">
                <a:solidFill>
                  <a:srgbClr val="334155"/>
                </a:solidFill>
              </a:defRPr>
            </a:pPr>
            <a:r>
              <a:rPr sz="1651">
                <a:solidFill>
                  <a:srgbClr val="334155"/>
                </a:solidFill>
              </a:rPr>
              <a:t>• Rate-limit bots</a:t>
            </a:r>
          </a:p>
          <a:p>
            <a:pPr algn="l">
              <a:defRPr sz="1650" b="0">
                <a:solidFill>
                  <a:srgbClr val="334155"/>
                </a:solidFill>
              </a:defRPr>
            </a:pPr>
            <a:r>
              <a:rPr sz="1651">
                <a:solidFill>
                  <a:srgbClr val="334155"/>
                </a:solidFill>
              </a:rPr>
              <a:t>• Filter traffic by IP or headers</a:t>
            </a:r>
          </a:p>
        </p:txBody>
      </p:sp>
      <p:sp>
        <p:nvSpPr>
          <p:cNvPr id="11" name="Rectangle: Rounded Corners 10">
            <a:extLst>
              <a:ext uri="{FF2B5EF4-FFF2-40B4-BE49-F238E27FC236}">
                <a16:creationId xmlns:a16="http://schemas.microsoft.com/office/drawing/2014/main" id="{9B5ACE9D-A687-4F02-A1DA-EE38114065B4}"/>
              </a:ext>
            </a:extLst>
          </p:cNvPr>
          <p:cNvSpPr>
            <a:spLocks noGrp="1"/>
          </p:cNvSpPr>
          <p:nvPr/>
        </p:nvSpPr>
        <p:spPr>
          <a:xfrm>
            <a:off x="6096001" y="2095501"/>
            <a:ext cx="4381500" cy="2476500"/>
          </a:xfrm>
          <a:prstGeom prst="roundRect">
            <a:avLst>
              <a:gd name="adj" fmla="val 2308"/>
            </a:avLst>
          </a:prstGeom>
          <a:solidFill>
            <a:srgbClr val="EAF3FC"/>
          </a:solidFill>
          <a:ln w="9525">
            <a:solidFill>
              <a:srgbClr val="B7D4EF"/>
            </a:solidFill>
            <a:prstDash val="solid"/>
          </a:ln>
        </p:spPr>
        <p:txBody>
          <a:bodyPr/>
          <a:lstStyle/>
          <a:p>
            <a:endParaRPr lang="en-IN"/>
          </a:p>
        </p:txBody>
      </p:sp>
      <p:sp>
        <p:nvSpPr>
          <p:cNvPr id="12" name="Rectangle 11">
            <a:extLst>
              <a:ext uri="{FF2B5EF4-FFF2-40B4-BE49-F238E27FC236}">
                <a16:creationId xmlns:a16="http://schemas.microsoft.com/office/drawing/2014/main" id="{64C13087-4D52-429A-868A-8138837947B9}"/>
              </a:ext>
            </a:extLst>
          </p:cNvPr>
          <p:cNvSpPr>
            <a:spLocks noGrp="1"/>
          </p:cNvSpPr>
          <p:nvPr/>
        </p:nvSpPr>
        <p:spPr>
          <a:xfrm>
            <a:off x="6381751" y="2362200"/>
            <a:ext cx="3619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Simple class explanation</a:t>
            </a:r>
          </a:p>
        </p:txBody>
      </p:sp>
      <p:sp>
        <p:nvSpPr>
          <p:cNvPr id="13" name="Rectangle 12">
            <a:extLst>
              <a:ext uri="{FF2B5EF4-FFF2-40B4-BE49-F238E27FC236}">
                <a16:creationId xmlns:a16="http://schemas.microsoft.com/office/drawing/2014/main" id="{045D1EA5-F27A-461E-BAA9-1AD7183729BF}"/>
              </a:ext>
            </a:extLst>
          </p:cNvPr>
          <p:cNvSpPr>
            <a:spLocks noGrp="1"/>
          </p:cNvSpPr>
          <p:nvPr/>
        </p:nvSpPr>
        <p:spPr>
          <a:xfrm>
            <a:off x="6381751" y="2905125"/>
            <a:ext cx="3619500" cy="1143000"/>
          </a:xfrm>
          <a:prstGeom prst="rect">
            <a:avLst/>
          </a:prstGeom>
          <a:noFill/>
          <a:ln w="0">
            <a:noFill/>
            <a:prstDash val="solid"/>
          </a:ln>
        </p:spPr>
        <p:txBody>
          <a:bodyPr/>
          <a:lstStyle/>
          <a:p>
            <a:pPr algn="l">
              <a:defRPr sz="1800" b="0">
                <a:solidFill>
                  <a:srgbClr val="334155"/>
                </a:solidFill>
              </a:defRPr>
            </a:pPr>
            <a:r>
              <a:rPr>
                <a:solidFill>
                  <a:srgbClr val="334155"/>
                </a:solidFill>
              </a:rPr>
              <a:t>Like a security checkpoint for web requests before they reach your app.</a:t>
            </a:r>
          </a:p>
        </p:txBody>
      </p:sp>
    </p:spTree>
    <p:extLst>
      <p:ext uri="{BB962C8B-B14F-4D97-AF65-F5344CB8AC3E}">
        <p14:creationId xmlns:p14="http://schemas.microsoft.com/office/powerpoint/2010/main" val="9344299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423A834-5E5A-4895-8355-73A6339B21DF}"/>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67B0D222-0216-46C5-91B0-B44554066463}"/>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7 · Architecture</a:t>
            </a:r>
          </a:p>
        </p:txBody>
      </p:sp>
      <p:sp>
        <p:nvSpPr>
          <p:cNvPr id="3" name="Rectangle 2">
            <a:extLst>
              <a:ext uri="{FF2B5EF4-FFF2-40B4-BE49-F238E27FC236}">
                <a16:creationId xmlns:a16="http://schemas.microsoft.com/office/drawing/2014/main" id="{6351510F-8CA0-41E3-947B-59DE1EC3D4A3}"/>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29</a:t>
            </a:r>
          </a:p>
        </p:txBody>
      </p:sp>
      <p:sp>
        <p:nvSpPr>
          <p:cNvPr id="4" name="Rectangle 3">
            <a:extLst>
              <a:ext uri="{FF2B5EF4-FFF2-40B4-BE49-F238E27FC236}">
                <a16:creationId xmlns:a16="http://schemas.microsoft.com/office/drawing/2014/main" id="{C75B8A36-57EE-48CE-965A-16DC98BDD90C}"/>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AWS WAF architecture</a:t>
            </a:r>
          </a:p>
        </p:txBody>
      </p:sp>
      <p:sp>
        <p:nvSpPr>
          <p:cNvPr id="5" name="Rectangle 4">
            <a:extLst>
              <a:ext uri="{FF2B5EF4-FFF2-40B4-BE49-F238E27FC236}">
                <a16:creationId xmlns:a16="http://schemas.microsoft.com/office/drawing/2014/main" id="{216BA5D1-2D23-4728-BBD2-77B5B1CBD371}"/>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Follow the request or data path from left to right.</a:t>
            </a:r>
          </a:p>
        </p:txBody>
      </p:sp>
      <p:sp>
        <p:nvSpPr>
          <p:cNvPr id="6" name="Rectangle: Rounded Corners 5">
            <a:extLst>
              <a:ext uri="{FF2B5EF4-FFF2-40B4-BE49-F238E27FC236}">
                <a16:creationId xmlns:a16="http://schemas.microsoft.com/office/drawing/2014/main" id="{6B46EC90-A9B1-4064-80F7-8E5FB9AB9868}"/>
              </a:ext>
            </a:extLst>
          </p:cNvPr>
          <p:cNvSpPr>
            <a:spLocks noGrp="1"/>
          </p:cNvSpPr>
          <p:nvPr/>
        </p:nvSpPr>
        <p:spPr>
          <a:xfrm>
            <a:off x="857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75F5AE1F-2983-448A-BD03-906A9F600326}"/>
              </a:ext>
            </a:extLst>
          </p:cNvPr>
          <p:cNvSpPr>
            <a:spLocks noGrp="1"/>
          </p:cNvSpPr>
          <p:nvPr/>
        </p:nvSpPr>
        <p:spPr>
          <a:xfrm>
            <a:off x="952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Internet users</a:t>
            </a:r>
          </a:p>
        </p:txBody>
      </p:sp>
      <p:sp>
        <p:nvSpPr>
          <p:cNvPr id="8" name="Arrow: Right 7">
            <a:extLst>
              <a:ext uri="{FF2B5EF4-FFF2-40B4-BE49-F238E27FC236}">
                <a16:creationId xmlns:a16="http://schemas.microsoft.com/office/drawing/2014/main" id="{EB9E60E4-4781-4F8D-9FB2-BD9A753E8517}"/>
              </a:ext>
            </a:extLst>
          </p:cNvPr>
          <p:cNvSpPr>
            <a:spLocks noGrp="1"/>
          </p:cNvSpPr>
          <p:nvPr/>
        </p:nvSpPr>
        <p:spPr>
          <a:xfrm>
            <a:off x="2724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457DCDD0-1309-4B75-A589-48923BEA50BF}"/>
              </a:ext>
            </a:extLst>
          </p:cNvPr>
          <p:cNvSpPr>
            <a:spLocks noGrp="1"/>
          </p:cNvSpPr>
          <p:nvPr/>
        </p:nvSpPr>
        <p:spPr>
          <a:xfrm>
            <a:off x="2952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5FAA8365-848D-4A78-A6D1-D46DA4240CBE}"/>
              </a:ext>
            </a:extLst>
          </p:cNvPr>
          <p:cNvSpPr>
            <a:spLocks noGrp="1"/>
          </p:cNvSpPr>
          <p:nvPr/>
        </p:nvSpPr>
        <p:spPr>
          <a:xfrm>
            <a:off x="3048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CloudFront / ALB / API Gateway</a:t>
            </a:r>
          </a:p>
        </p:txBody>
      </p:sp>
      <p:sp>
        <p:nvSpPr>
          <p:cNvPr id="11" name="Arrow: Right 10">
            <a:extLst>
              <a:ext uri="{FF2B5EF4-FFF2-40B4-BE49-F238E27FC236}">
                <a16:creationId xmlns:a16="http://schemas.microsoft.com/office/drawing/2014/main" id="{BD2A6D9C-8681-46DA-9DCA-B742E338911B}"/>
              </a:ext>
            </a:extLst>
          </p:cNvPr>
          <p:cNvSpPr>
            <a:spLocks noGrp="1"/>
          </p:cNvSpPr>
          <p:nvPr/>
        </p:nvSpPr>
        <p:spPr>
          <a:xfrm>
            <a:off x="4819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A3E2D3F1-0AF6-48C4-A4C8-1E0F63969207}"/>
              </a:ext>
            </a:extLst>
          </p:cNvPr>
          <p:cNvSpPr>
            <a:spLocks noGrp="1"/>
          </p:cNvSpPr>
          <p:nvPr/>
        </p:nvSpPr>
        <p:spPr>
          <a:xfrm>
            <a:off x="5048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26FF221B-2161-49F1-81B0-01D76930E1C6}"/>
              </a:ext>
            </a:extLst>
          </p:cNvPr>
          <p:cNvSpPr>
            <a:spLocks noGrp="1"/>
          </p:cNvSpPr>
          <p:nvPr/>
        </p:nvSpPr>
        <p:spPr>
          <a:xfrm>
            <a:off x="5143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AWS WAF web ACL</a:t>
            </a:r>
          </a:p>
        </p:txBody>
      </p:sp>
      <p:sp>
        <p:nvSpPr>
          <p:cNvPr id="14" name="Arrow: Right 13">
            <a:extLst>
              <a:ext uri="{FF2B5EF4-FFF2-40B4-BE49-F238E27FC236}">
                <a16:creationId xmlns:a16="http://schemas.microsoft.com/office/drawing/2014/main" id="{47AD3DAC-10B7-436C-8784-508F5A7EC385}"/>
              </a:ext>
            </a:extLst>
          </p:cNvPr>
          <p:cNvSpPr>
            <a:spLocks noGrp="1"/>
          </p:cNvSpPr>
          <p:nvPr/>
        </p:nvSpPr>
        <p:spPr>
          <a:xfrm>
            <a:off x="6915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3755574A-C864-4DCC-844A-6F0D32CF77A2}"/>
              </a:ext>
            </a:extLst>
          </p:cNvPr>
          <p:cNvSpPr>
            <a:spLocks noGrp="1"/>
          </p:cNvSpPr>
          <p:nvPr/>
        </p:nvSpPr>
        <p:spPr>
          <a:xfrm>
            <a:off x="7143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CB72DB64-6896-4A30-8D35-6C055EF16D8F}"/>
              </a:ext>
            </a:extLst>
          </p:cNvPr>
          <p:cNvSpPr>
            <a:spLocks noGrp="1"/>
          </p:cNvSpPr>
          <p:nvPr/>
        </p:nvSpPr>
        <p:spPr>
          <a:xfrm>
            <a:off x="7239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Rules</a:t>
            </a:r>
          </a:p>
        </p:txBody>
      </p:sp>
      <p:sp>
        <p:nvSpPr>
          <p:cNvPr id="17" name="Arrow: Right 16">
            <a:extLst>
              <a:ext uri="{FF2B5EF4-FFF2-40B4-BE49-F238E27FC236}">
                <a16:creationId xmlns:a16="http://schemas.microsoft.com/office/drawing/2014/main" id="{E8265C79-5D50-45F0-8F17-F32B6A992F1F}"/>
              </a:ext>
            </a:extLst>
          </p:cNvPr>
          <p:cNvSpPr>
            <a:spLocks noGrp="1"/>
          </p:cNvSpPr>
          <p:nvPr/>
        </p:nvSpPr>
        <p:spPr>
          <a:xfrm>
            <a:off x="9010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080EF839-BCD3-4AB8-9DF2-ED01A905A064}"/>
              </a:ext>
            </a:extLst>
          </p:cNvPr>
          <p:cNvSpPr>
            <a:spLocks noGrp="1"/>
          </p:cNvSpPr>
          <p:nvPr/>
        </p:nvSpPr>
        <p:spPr>
          <a:xfrm>
            <a:off x="9239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F9C0C856-ABFB-4D43-8325-B64D1AA384DD}"/>
              </a:ext>
            </a:extLst>
          </p:cNvPr>
          <p:cNvSpPr>
            <a:spLocks noGrp="1"/>
          </p:cNvSpPr>
          <p:nvPr/>
        </p:nvSpPr>
        <p:spPr>
          <a:xfrm>
            <a:off x="9334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Application</a:t>
            </a:r>
          </a:p>
        </p:txBody>
      </p:sp>
      <p:sp>
        <p:nvSpPr>
          <p:cNvPr id="20" name="Rectangle 19">
            <a:extLst>
              <a:ext uri="{FF2B5EF4-FFF2-40B4-BE49-F238E27FC236}">
                <a16:creationId xmlns:a16="http://schemas.microsoft.com/office/drawing/2014/main" id="{C3EECFF9-E670-473D-A82B-243C9DD01378}"/>
              </a:ext>
            </a:extLst>
          </p:cNvPr>
          <p:cNvSpPr>
            <a:spLocks noGrp="1"/>
          </p:cNvSpPr>
          <p:nvPr/>
        </p:nvSpPr>
        <p:spPr>
          <a:xfrm>
            <a:off x="952500" y="4191000"/>
            <a:ext cx="3429000" cy="323851"/>
          </a:xfrm>
          <a:prstGeom prst="rect">
            <a:avLst/>
          </a:prstGeom>
          <a:noFill/>
          <a:ln w="0">
            <a:noFill/>
            <a:prstDash val="solid"/>
          </a:ln>
        </p:spPr>
        <p:txBody>
          <a:bodyPr/>
          <a:lstStyle/>
          <a:p>
            <a:pPr algn="l">
              <a:defRPr sz="1950" b="1">
                <a:solidFill>
                  <a:srgbClr val="12233F"/>
                </a:solidFill>
              </a:defRPr>
            </a:pPr>
            <a:r>
              <a:rPr sz="1951" b="1">
                <a:solidFill>
                  <a:srgbClr val="12233F"/>
                </a:solidFill>
              </a:rPr>
              <a:t>Architecture explanation</a:t>
            </a:r>
          </a:p>
        </p:txBody>
      </p:sp>
      <p:sp>
        <p:nvSpPr>
          <p:cNvPr id="21" name="Rectangle 20">
            <a:extLst>
              <a:ext uri="{FF2B5EF4-FFF2-40B4-BE49-F238E27FC236}">
                <a16:creationId xmlns:a16="http://schemas.microsoft.com/office/drawing/2014/main" id="{3A63D441-BC7A-4742-A616-989805928704}"/>
              </a:ext>
            </a:extLst>
          </p:cNvPr>
          <p:cNvSpPr>
            <a:spLocks noGrp="1"/>
          </p:cNvSpPr>
          <p:nvPr/>
        </p:nvSpPr>
        <p:spPr>
          <a:xfrm>
            <a:off x="952500" y="4667251"/>
            <a:ext cx="9144000" cy="1066800"/>
          </a:xfrm>
          <a:prstGeom prst="rect">
            <a:avLst/>
          </a:prstGeom>
          <a:noFill/>
          <a:ln w="0">
            <a:noFill/>
            <a:prstDash val="solid"/>
          </a:ln>
        </p:spPr>
        <p:txBody>
          <a:bodyPr/>
          <a:lstStyle/>
          <a:p>
            <a:pPr algn="l">
              <a:defRPr sz="1650" b="0">
                <a:solidFill>
                  <a:srgbClr val="334155"/>
                </a:solidFill>
              </a:defRPr>
            </a:pPr>
            <a:r>
              <a:rPr sz="1651">
                <a:solidFill>
                  <a:srgbClr val="334155"/>
                </a:solidFill>
              </a:rPr>
              <a:t>• AWS WAF owns the middle responsibility in this flow.</a:t>
            </a:r>
          </a:p>
          <a:p>
            <a:pPr algn="l">
              <a:defRPr sz="1650" b="0">
                <a:solidFill>
                  <a:srgbClr val="334155"/>
                </a:solidFill>
              </a:defRPr>
            </a:pPr>
            <a:r>
              <a:rPr sz="1651">
                <a:solidFill>
                  <a:srgbClr val="334155"/>
                </a:solidFill>
              </a:rPr>
              <a:t>• IAM controls who can call or use the service.</a:t>
            </a:r>
          </a:p>
          <a:p>
            <a:pPr algn="l">
              <a:defRPr sz="1650" b="0">
                <a:solidFill>
                  <a:srgbClr val="334155"/>
                </a:solidFill>
              </a:defRPr>
            </a:pPr>
            <a:r>
              <a:rPr sz="1651">
                <a:solidFill>
                  <a:srgbClr val="334155"/>
                </a:solidFill>
              </a:rPr>
              <a:t>• CloudWatch and CloudTrail help with monitoring and audit trails.</a:t>
            </a:r>
          </a:p>
        </p:txBody>
      </p:sp>
    </p:spTree>
    <p:extLst>
      <p:ext uri="{BB962C8B-B14F-4D97-AF65-F5344CB8AC3E}">
        <p14:creationId xmlns:p14="http://schemas.microsoft.com/office/powerpoint/2010/main" val="19143761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31330140-1FDF-4C65-A8BC-D8C1FE59BEE0}"/>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68CB1C7B-8AE9-499C-9555-D7ADCFD43182}"/>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7 · Process</a:t>
            </a:r>
          </a:p>
        </p:txBody>
      </p:sp>
      <p:sp>
        <p:nvSpPr>
          <p:cNvPr id="3" name="Rectangle 2">
            <a:extLst>
              <a:ext uri="{FF2B5EF4-FFF2-40B4-BE49-F238E27FC236}">
                <a16:creationId xmlns:a16="http://schemas.microsoft.com/office/drawing/2014/main" id="{F5017CA5-CB3B-43D2-8608-4316AA4AB3BD}"/>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30</a:t>
            </a:r>
          </a:p>
        </p:txBody>
      </p:sp>
      <p:sp>
        <p:nvSpPr>
          <p:cNvPr id="4" name="Rectangle 3">
            <a:extLst>
              <a:ext uri="{FF2B5EF4-FFF2-40B4-BE49-F238E27FC236}">
                <a16:creationId xmlns:a16="http://schemas.microsoft.com/office/drawing/2014/main" id="{902BB8CB-C353-41E7-9D6D-73C6A90EF58F}"/>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How AWS WAF works in practice</a:t>
            </a:r>
          </a:p>
        </p:txBody>
      </p:sp>
      <p:sp>
        <p:nvSpPr>
          <p:cNvPr id="5" name="Rectangle 4">
            <a:extLst>
              <a:ext uri="{FF2B5EF4-FFF2-40B4-BE49-F238E27FC236}">
                <a16:creationId xmlns:a16="http://schemas.microsoft.com/office/drawing/2014/main" id="{25969B55-3925-4546-A274-87AD865DF00F}"/>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Use this as the step-by-step explanation during the meeting.</a:t>
            </a:r>
          </a:p>
        </p:txBody>
      </p:sp>
      <p:sp>
        <p:nvSpPr>
          <p:cNvPr id="6" name="Rectangle: Rounded Corners 5">
            <a:extLst>
              <a:ext uri="{FF2B5EF4-FFF2-40B4-BE49-F238E27FC236}">
                <a16:creationId xmlns:a16="http://schemas.microsoft.com/office/drawing/2014/main" id="{6A2E451E-DAE4-4244-AA1A-25DB8588F77B}"/>
              </a:ext>
            </a:extLst>
          </p:cNvPr>
          <p:cNvSpPr>
            <a:spLocks noGrp="1"/>
          </p:cNvSpPr>
          <p:nvPr/>
        </p:nvSpPr>
        <p:spPr>
          <a:xfrm>
            <a:off x="876301" y="19526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3149E32C-4DBC-4B28-8E1D-8A962A7E1F51}"/>
              </a:ext>
            </a:extLst>
          </p:cNvPr>
          <p:cNvSpPr>
            <a:spLocks noGrp="1"/>
          </p:cNvSpPr>
          <p:nvPr/>
        </p:nvSpPr>
        <p:spPr>
          <a:xfrm>
            <a:off x="971549" y="20669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Create web ACL</a:t>
            </a:r>
          </a:p>
        </p:txBody>
      </p:sp>
      <p:sp>
        <p:nvSpPr>
          <p:cNvPr id="8" name="Arrow: Down 7">
            <a:extLst>
              <a:ext uri="{FF2B5EF4-FFF2-40B4-BE49-F238E27FC236}">
                <a16:creationId xmlns:a16="http://schemas.microsoft.com/office/drawing/2014/main" id="{2E9843C9-33D2-4868-8F41-84A0987B1448}"/>
              </a:ext>
            </a:extLst>
          </p:cNvPr>
          <p:cNvSpPr>
            <a:spLocks noGrp="1"/>
          </p:cNvSpPr>
          <p:nvPr/>
        </p:nvSpPr>
        <p:spPr>
          <a:xfrm>
            <a:off x="3019426" y="2457449"/>
            <a:ext cx="190500" cy="95251"/>
          </a:xfrm>
          <a:prstGeom prst="down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4C72552D-1CA1-45EB-A657-E77AA8F12400}"/>
              </a:ext>
            </a:extLst>
          </p:cNvPr>
          <p:cNvSpPr>
            <a:spLocks noGrp="1"/>
          </p:cNvSpPr>
          <p:nvPr/>
        </p:nvSpPr>
        <p:spPr>
          <a:xfrm>
            <a:off x="876301" y="26003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8B7F3647-9A4C-4E2E-8D4B-6C79263EBC5A}"/>
              </a:ext>
            </a:extLst>
          </p:cNvPr>
          <p:cNvSpPr>
            <a:spLocks noGrp="1"/>
          </p:cNvSpPr>
          <p:nvPr/>
        </p:nvSpPr>
        <p:spPr>
          <a:xfrm>
            <a:off x="971549" y="27146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Add managed or custom rules</a:t>
            </a:r>
          </a:p>
        </p:txBody>
      </p:sp>
      <p:sp>
        <p:nvSpPr>
          <p:cNvPr id="11" name="Arrow: Down 10">
            <a:extLst>
              <a:ext uri="{FF2B5EF4-FFF2-40B4-BE49-F238E27FC236}">
                <a16:creationId xmlns:a16="http://schemas.microsoft.com/office/drawing/2014/main" id="{D2884001-6920-495C-B7C8-581398445A91}"/>
              </a:ext>
            </a:extLst>
          </p:cNvPr>
          <p:cNvSpPr>
            <a:spLocks noGrp="1"/>
          </p:cNvSpPr>
          <p:nvPr/>
        </p:nvSpPr>
        <p:spPr>
          <a:xfrm>
            <a:off x="3019426" y="3105149"/>
            <a:ext cx="190500" cy="95251"/>
          </a:xfrm>
          <a:prstGeom prst="down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4E183671-EDA0-4CCA-AAA9-C5130444D899}"/>
              </a:ext>
            </a:extLst>
          </p:cNvPr>
          <p:cNvSpPr>
            <a:spLocks noGrp="1"/>
          </p:cNvSpPr>
          <p:nvPr/>
        </p:nvSpPr>
        <p:spPr>
          <a:xfrm>
            <a:off x="876301" y="32480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9146410F-0849-44DD-A3CB-43D627D86B6B}"/>
              </a:ext>
            </a:extLst>
          </p:cNvPr>
          <p:cNvSpPr>
            <a:spLocks noGrp="1"/>
          </p:cNvSpPr>
          <p:nvPr/>
        </p:nvSpPr>
        <p:spPr>
          <a:xfrm>
            <a:off x="971549" y="33623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Attach to resource</a:t>
            </a:r>
          </a:p>
        </p:txBody>
      </p:sp>
      <p:sp>
        <p:nvSpPr>
          <p:cNvPr id="14" name="Arrow: Down 13">
            <a:extLst>
              <a:ext uri="{FF2B5EF4-FFF2-40B4-BE49-F238E27FC236}">
                <a16:creationId xmlns:a16="http://schemas.microsoft.com/office/drawing/2014/main" id="{6525D39F-4678-4BE2-A382-A97CAD2D5C20}"/>
              </a:ext>
            </a:extLst>
          </p:cNvPr>
          <p:cNvSpPr>
            <a:spLocks noGrp="1"/>
          </p:cNvSpPr>
          <p:nvPr/>
        </p:nvSpPr>
        <p:spPr>
          <a:xfrm>
            <a:off x="3019426" y="3752849"/>
            <a:ext cx="190500" cy="95251"/>
          </a:xfrm>
          <a:prstGeom prst="down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2DE3E651-816C-4C4C-B495-37C6B66F2AA0}"/>
              </a:ext>
            </a:extLst>
          </p:cNvPr>
          <p:cNvSpPr>
            <a:spLocks noGrp="1"/>
          </p:cNvSpPr>
          <p:nvPr/>
        </p:nvSpPr>
        <p:spPr>
          <a:xfrm>
            <a:off x="876301" y="38957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B7BDD544-6E31-44CA-B12E-79239616787B}"/>
              </a:ext>
            </a:extLst>
          </p:cNvPr>
          <p:cNvSpPr>
            <a:spLocks noGrp="1"/>
          </p:cNvSpPr>
          <p:nvPr/>
        </p:nvSpPr>
        <p:spPr>
          <a:xfrm>
            <a:off x="971549" y="40100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Monitor requests</a:t>
            </a:r>
          </a:p>
        </p:txBody>
      </p:sp>
      <p:sp>
        <p:nvSpPr>
          <p:cNvPr id="17" name="Arrow: Down 16">
            <a:extLst>
              <a:ext uri="{FF2B5EF4-FFF2-40B4-BE49-F238E27FC236}">
                <a16:creationId xmlns:a16="http://schemas.microsoft.com/office/drawing/2014/main" id="{B37522E3-1BD4-4C03-8992-F846125E8C26}"/>
              </a:ext>
            </a:extLst>
          </p:cNvPr>
          <p:cNvSpPr>
            <a:spLocks noGrp="1"/>
          </p:cNvSpPr>
          <p:nvPr/>
        </p:nvSpPr>
        <p:spPr>
          <a:xfrm>
            <a:off x="3019426" y="4400549"/>
            <a:ext cx="190500" cy="95251"/>
          </a:xfrm>
          <a:prstGeom prst="down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7F0F69C8-5A8A-4BE5-80D4-7EB4469139FA}"/>
              </a:ext>
            </a:extLst>
          </p:cNvPr>
          <p:cNvSpPr>
            <a:spLocks noGrp="1"/>
          </p:cNvSpPr>
          <p:nvPr/>
        </p:nvSpPr>
        <p:spPr>
          <a:xfrm>
            <a:off x="876301" y="45434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1D11F718-5682-4D29-AC26-3B495109B07D}"/>
              </a:ext>
            </a:extLst>
          </p:cNvPr>
          <p:cNvSpPr>
            <a:spLocks noGrp="1"/>
          </p:cNvSpPr>
          <p:nvPr/>
        </p:nvSpPr>
        <p:spPr>
          <a:xfrm>
            <a:off x="971549" y="46577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Block or rate-limit attacks</a:t>
            </a:r>
          </a:p>
        </p:txBody>
      </p:sp>
      <p:sp>
        <p:nvSpPr>
          <p:cNvPr id="20" name="Rectangle: Rounded Corners 19">
            <a:extLst>
              <a:ext uri="{FF2B5EF4-FFF2-40B4-BE49-F238E27FC236}">
                <a16:creationId xmlns:a16="http://schemas.microsoft.com/office/drawing/2014/main" id="{260EECAA-DB30-4A8E-9FEA-0AD6DC2133FE}"/>
              </a:ext>
            </a:extLst>
          </p:cNvPr>
          <p:cNvSpPr>
            <a:spLocks noGrp="1"/>
          </p:cNvSpPr>
          <p:nvPr/>
        </p:nvSpPr>
        <p:spPr>
          <a:xfrm>
            <a:off x="6191250" y="2000251"/>
            <a:ext cx="4095751" cy="2286000"/>
          </a:xfrm>
          <a:prstGeom prst="roundRect">
            <a:avLst>
              <a:gd name="adj" fmla="val 2500"/>
            </a:avLst>
          </a:prstGeom>
          <a:solidFill>
            <a:srgbClr val="FFFFFF"/>
          </a:solidFill>
          <a:ln w="9525">
            <a:solidFill>
              <a:srgbClr val="D7E2EE"/>
            </a:solidFill>
            <a:prstDash val="solid"/>
          </a:ln>
        </p:spPr>
        <p:txBody>
          <a:bodyPr/>
          <a:lstStyle/>
          <a:p>
            <a:endParaRPr lang="en-IN"/>
          </a:p>
        </p:txBody>
      </p:sp>
      <p:sp>
        <p:nvSpPr>
          <p:cNvPr id="21" name="Rectangle 20">
            <a:extLst>
              <a:ext uri="{FF2B5EF4-FFF2-40B4-BE49-F238E27FC236}">
                <a16:creationId xmlns:a16="http://schemas.microsoft.com/office/drawing/2014/main" id="{A251D26C-84CA-49EA-B273-BFB50B180171}"/>
              </a:ext>
            </a:extLst>
          </p:cNvPr>
          <p:cNvSpPr>
            <a:spLocks noGrp="1"/>
          </p:cNvSpPr>
          <p:nvPr/>
        </p:nvSpPr>
        <p:spPr>
          <a:xfrm>
            <a:off x="6477001" y="2266951"/>
            <a:ext cx="2857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Best practices</a:t>
            </a:r>
          </a:p>
        </p:txBody>
      </p:sp>
      <p:sp>
        <p:nvSpPr>
          <p:cNvPr id="22" name="Rectangle 21">
            <a:extLst>
              <a:ext uri="{FF2B5EF4-FFF2-40B4-BE49-F238E27FC236}">
                <a16:creationId xmlns:a16="http://schemas.microsoft.com/office/drawing/2014/main" id="{FA3FDBB2-3862-496F-8497-B8EBE99F8610}"/>
              </a:ext>
            </a:extLst>
          </p:cNvPr>
          <p:cNvSpPr>
            <a:spLocks noGrp="1"/>
          </p:cNvSpPr>
          <p:nvPr/>
        </p:nvSpPr>
        <p:spPr>
          <a:xfrm>
            <a:off x="6477001" y="2819401"/>
            <a:ext cx="3333751" cy="1104900"/>
          </a:xfrm>
          <a:prstGeom prst="rect">
            <a:avLst/>
          </a:prstGeom>
          <a:noFill/>
          <a:ln w="0">
            <a:noFill/>
            <a:prstDash val="solid"/>
          </a:ln>
        </p:spPr>
        <p:txBody>
          <a:bodyPr/>
          <a:lstStyle/>
          <a:p>
            <a:pPr algn="l">
              <a:defRPr sz="1500" b="0">
                <a:solidFill>
                  <a:srgbClr val="334155"/>
                </a:solidFill>
              </a:defRPr>
            </a:pPr>
            <a:r>
              <a:rPr sz="1500">
                <a:solidFill>
                  <a:srgbClr val="334155"/>
                </a:solidFill>
              </a:rPr>
              <a:t>• Start in count mode</a:t>
            </a:r>
          </a:p>
          <a:p>
            <a:pPr algn="l">
              <a:defRPr sz="1500" b="0">
                <a:solidFill>
                  <a:srgbClr val="334155"/>
                </a:solidFill>
              </a:defRPr>
            </a:pPr>
            <a:r>
              <a:rPr sz="1500">
                <a:solidFill>
                  <a:srgbClr val="334155"/>
                </a:solidFill>
              </a:rPr>
              <a:t>• Use managed rules</a:t>
            </a:r>
          </a:p>
          <a:p>
            <a:pPr algn="l">
              <a:defRPr sz="1500" b="0">
                <a:solidFill>
                  <a:srgbClr val="334155"/>
                </a:solidFill>
              </a:defRPr>
            </a:pPr>
            <a:r>
              <a:rPr sz="1500">
                <a:solidFill>
                  <a:srgbClr val="334155"/>
                </a:solidFill>
              </a:rPr>
              <a:t>• Tune false positives</a:t>
            </a:r>
          </a:p>
          <a:p>
            <a:pPr algn="l">
              <a:defRPr sz="1500" b="0">
                <a:solidFill>
                  <a:srgbClr val="334155"/>
                </a:solidFill>
              </a:defRPr>
            </a:pPr>
            <a:r>
              <a:rPr sz="1500">
                <a:solidFill>
                  <a:srgbClr val="334155"/>
                </a:solidFill>
              </a:rPr>
              <a:t>• Review sampled requests</a:t>
            </a:r>
          </a:p>
        </p:txBody>
      </p:sp>
      <p:sp>
        <p:nvSpPr>
          <p:cNvPr id="23" name="Rectangle: Rounded Corners 22">
            <a:extLst>
              <a:ext uri="{FF2B5EF4-FFF2-40B4-BE49-F238E27FC236}">
                <a16:creationId xmlns:a16="http://schemas.microsoft.com/office/drawing/2014/main" id="{6D82D01E-45B6-4677-ADC8-D3C572A77CF8}"/>
              </a:ext>
            </a:extLst>
          </p:cNvPr>
          <p:cNvSpPr>
            <a:spLocks noGrp="1"/>
          </p:cNvSpPr>
          <p:nvPr/>
        </p:nvSpPr>
        <p:spPr>
          <a:xfrm>
            <a:off x="6191250" y="4619625"/>
            <a:ext cx="4095751" cy="914400"/>
          </a:xfrm>
          <a:prstGeom prst="roundRect">
            <a:avLst>
              <a:gd name="adj" fmla="val 6250"/>
            </a:avLst>
          </a:prstGeom>
          <a:solidFill>
            <a:srgbClr val="EAF3FC"/>
          </a:solidFill>
          <a:ln w="9525">
            <a:solidFill>
              <a:srgbClr val="B7D4EF"/>
            </a:solidFill>
            <a:prstDash val="solid"/>
          </a:ln>
        </p:spPr>
        <p:txBody>
          <a:bodyPr/>
          <a:lstStyle/>
          <a:p>
            <a:endParaRPr lang="en-IN"/>
          </a:p>
        </p:txBody>
      </p:sp>
      <p:sp>
        <p:nvSpPr>
          <p:cNvPr id="24" name="Rectangle 23">
            <a:extLst>
              <a:ext uri="{FF2B5EF4-FFF2-40B4-BE49-F238E27FC236}">
                <a16:creationId xmlns:a16="http://schemas.microsoft.com/office/drawing/2014/main" id="{0A64B946-06BF-48CB-BF14-5A138443F64B}"/>
              </a:ext>
            </a:extLst>
          </p:cNvPr>
          <p:cNvSpPr>
            <a:spLocks noGrp="1"/>
          </p:cNvSpPr>
          <p:nvPr/>
        </p:nvSpPr>
        <p:spPr>
          <a:xfrm>
            <a:off x="6477000" y="4876801"/>
            <a:ext cx="3429000" cy="361951"/>
          </a:xfrm>
          <a:prstGeom prst="rect">
            <a:avLst/>
          </a:prstGeom>
          <a:noFill/>
          <a:ln w="0">
            <a:noFill/>
            <a:prstDash val="solid"/>
          </a:ln>
        </p:spPr>
        <p:txBody>
          <a:bodyPr/>
          <a:lstStyle/>
          <a:p>
            <a:pPr algn="l">
              <a:defRPr sz="1650" b="1">
                <a:solidFill>
                  <a:srgbClr val="1F5D99"/>
                </a:solidFill>
              </a:defRPr>
            </a:pPr>
            <a:r>
              <a:rPr sz="1651" b="1">
                <a:solidFill>
                  <a:srgbClr val="1F5D99"/>
                </a:solidFill>
              </a:rPr>
              <a:t>Interview cue: WAF vs security group</a:t>
            </a:r>
          </a:p>
        </p:txBody>
      </p:sp>
    </p:spTree>
    <p:extLst>
      <p:ext uri="{BB962C8B-B14F-4D97-AF65-F5344CB8AC3E}">
        <p14:creationId xmlns:p14="http://schemas.microsoft.com/office/powerpoint/2010/main" val="474736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36E2F60-3B90-4626-A3A9-827216B0A36D}"/>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90488451-FA1A-4255-911F-B60582F8DBA3}"/>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7 · Recap</a:t>
            </a:r>
          </a:p>
        </p:txBody>
      </p:sp>
      <p:sp>
        <p:nvSpPr>
          <p:cNvPr id="3" name="Rectangle 2">
            <a:extLst>
              <a:ext uri="{FF2B5EF4-FFF2-40B4-BE49-F238E27FC236}">
                <a16:creationId xmlns:a16="http://schemas.microsoft.com/office/drawing/2014/main" id="{BA639D46-5E3F-44F0-B00B-76D5548925EB}"/>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31</a:t>
            </a:r>
          </a:p>
        </p:txBody>
      </p:sp>
      <p:sp>
        <p:nvSpPr>
          <p:cNvPr id="4" name="Rectangle 3">
            <a:extLst>
              <a:ext uri="{FF2B5EF4-FFF2-40B4-BE49-F238E27FC236}">
                <a16:creationId xmlns:a16="http://schemas.microsoft.com/office/drawing/2014/main" id="{C49D8354-4DD8-44DA-988F-9446344D5DD5}"/>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AWS WAF: what to remember</a:t>
            </a:r>
          </a:p>
        </p:txBody>
      </p:sp>
      <p:sp>
        <p:nvSpPr>
          <p:cNvPr id="5" name="Rectangle 4">
            <a:extLst>
              <a:ext uri="{FF2B5EF4-FFF2-40B4-BE49-F238E27FC236}">
                <a16:creationId xmlns:a16="http://schemas.microsoft.com/office/drawing/2014/main" id="{936D5239-0270-4C8F-9E4B-8C6DF11A8781}"/>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Close the module with practical rules and common questions.</a:t>
            </a:r>
          </a:p>
        </p:txBody>
      </p:sp>
      <p:sp>
        <p:nvSpPr>
          <p:cNvPr id="6" name="Rectangle 5">
            <a:extLst>
              <a:ext uri="{FF2B5EF4-FFF2-40B4-BE49-F238E27FC236}">
                <a16:creationId xmlns:a16="http://schemas.microsoft.com/office/drawing/2014/main" id="{46CC85EC-D548-4A23-8A00-F37033C15341}"/>
              </a:ext>
            </a:extLst>
          </p:cNvPr>
          <p:cNvSpPr>
            <a:spLocks noGrp="1"/>
          </p:cNvSpPr>
          <p:nvPr/>
        </p:nvSpPr>
        <p:spPr>
          <a:xfrm>
            <a:off x="857251"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Common questions</a:t>
            </a:r>
          </a:p>
        </p:txBody>
      </p:sp>
      <p:sp>
        <p:nvSpPr>
          <p:cNvPr id="7" name="Rectangle 6">
            <a:extLst>
              <a:ext uri="{FF2B5EF4-FFF2-40B4-BE49-F238E27FC236}">
                <a16:creationId xmlns:a16="http://schemas.microsoft.com/office/drawing/2014/main" id="{19A7B3C6-D165-46E8-AEED-DD1458C70EBF}"/>
              </a:ext>
            </a:extLst>
          </p:cNvPr>
          <p:cNvSpPr>
            <a:spLocks noGrp="1"/>
          </p:cNvSpPr>
          <p:nvPr/>
        </p:nvSpPr>
        <p:spPr>
          <a:xfrm>
            <a:off x="952501" y="2571751"/>
            <a:ext cx="4381500" cy="1524000"/>
          </a:xfrm>
          <a:prstGeom prst="rect">
            <a:avLst/>
          </a:prstGeom>
          <a:noFill/>
          <a:ln w="0">
            <a:noFill/>
            <a:prstDash val="solid"/>
          </a:ln>
        </p:spPr>
        <p:txBody>
          <a:bodyPr/>
          <a:lstStyle/>
          <a:p>
            <a:pPr algn="l">
              <a:defRPr sz="1800" b="0">
                <a:solidFill>
                  <a:srgbClr val="334155"/>
                </a:solidFill>
              </a:defRPr>
            </a:pPr>
            <a:r>
              <a:rPr>
                <a:solidFill>
                  <a:srgbClr val="334155"/>
                </a:solidFill>
              </a:rPr>
              <a:t>• WAF vs security group</a:t>
            </a:r>
          </a:p>
          <a:p>
            <a:pPr algn="l">
              <a:defRPr sz="1800" b="0">
                <a:solidFill>
                  <a:srgbClr val="334155"/>
                </a:solidFill>
              </a:defRPr>
            </a:pPr>
            <a:r>
              <a:rPr>
                <a:solidFill>
                  <a:srgbClr val="334155"/>
                </a:solidFill>
              </a:rPr>
              <a:t>• What is a web ACL?</a:t>
            </a:r>
          </a:p>
          <a:p>
            <a:pPr algn="l">
              <a:defRPr sz="1800" b="0">
                <a:solidFill>
                  <a:srgbClr val="334155"/>
                </a:solidFill>
              </a:defRPr>
            </a:pPr>
            <a:r>
              <a:rPr>
                <a:solidFill>
                  <a:srgbClr val="334155"/>
                </a:solidFill>
              </a:rPr>
              <a:t>• How does WAF block SQL injection?</a:t>
            </a:r>
          </a:p>
        </p:txBody>
      </p:sp>
      <p:sp>
        <p:nvSpPr>
          <p:cNvPr id="8" name="Rectangle 7">
            <a:extLst>
              <a:ext uri="{FF2B5EF4-FFF2-40B4-BE49-F238E27FC236}">
                <a16:creationId xmlns:a16="http://schemas.microsoft.com/office/drawing/2014/main" id="{ED5A7E44-37BF-484E-AD8C-E825F89C13C5}"/>
              </a:ext>
            </a:extLst>
          </p:cNvPr>
          <p:cNvSpPr>
            <a:spLocks noGrp="1"/>
          </p:cNvSpPr>
          <p:nvPr/>
        </p:nvSpPr>
        <p:spPr>
          <a:xfrm>
            <a:off x="6334125"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One-line memory hook</a:t>
            </a:r>
          </a:p>
        </p:txBody>
      </p:sp>
      <p:sp>
        <p:nvSpPr>
          <p:cNvPr id="9" name="Rectangle: Rounded Corners 8">
            <a:extLst>
              <a:ext uri="{FF2B5EF4-FFF2-40B4-BE49-F238E27FC236}">
                <a16:creationId xmlns:a16="http://schemas.microsoft.com/office/drawing/2014/main" id="{77F4A9B9-2B20-4EEE-88FE-B8D0B69A224C}"/>
              </a:ext>
            </a:extLst>
          </p:cNvPr>
          <p:cNvSpPr>
            <a:spLocks noGrp="1"/>
          </p:cNvSpPr>
          <p:nvPr/>
        </p:nvSpPr>
        <p:spPr>
          <a:xfrm>
            <a:off x="6191249" y="2571751"/>
            <a:ext cx="4286251" cy="1524000"/>
          </a:xfrm>
          <a:prstGeom prst="roundRect">
            <a:avLst>
              <a:gd name="adj" fmla="val 3750"/>
            </a:avLst>
          </a:prstGeom>
          <a:solidFill>
            <a:srgbClr val="12233F"/>
          </a:solidFill>
          <a:ln w="9525">
            <a:solidFill>
              <a:srgbClr val="12233F"/>
            </a:solidFill>
            <a:prstDash val="solid"/>
          </a:ln>
        </p:spPr>
        <p:txBody>
          <a:bodyPr/>
          <a:lstStyle/>
          <a:p>
            <a:endParaRPr lang="en-IN"/>
          </a:p>
        </p:txBody>
      </p:sp>
      <p:sp>
        <p:nvSpPr>
          <p:cNvPr id="10" name="Rectangle 9">
            <a:extLst>
              <a:ext uri="{FF2B5EF4-FFF2-40B4-BE49-F238E27FC236}">
                <a16:creationId xmlns:a16="http://schemas.microsoft.com/office/drawing/2014/main" id="{D7368E33-A9A1-48BA-ACBB-D73C76FE1630}"/>
              </a:ext>
            </a:extLst>
          </p:cNvPr>
          <p:cNvSpPr>
            <a:spLocks noGrp="1"/>
          </p:cNvSpPr>
          <p:nvPr/>
        </p:nvSpPr>
        <p:spPr>
          <a:xfrm>
            <a:off x="6534151" y="2952749"/>
            <a:ext cx="3619500" cy="781051"/>
          </a:xfrm>
          <a:prstGeom prst="rect">
            <a:avLst/>
          </a:prstGeom>
          <a:noFill/>
          <a:ln w="0">
            <a:noFill/>
            <a:prstDash val="solid"/>
          </a:ln>
        </p:spPr>
        <p:txBody>
          <a:bodyPr/>
          <a:lstStyle/>
          <a:p>
            <a:pPr algn="ctr">
              <a:defRPr sz="2100" b="1">
                <a:solidFill>
                  <a:srgbClr val="FFFFFF"/>
                </a:solidFill>
              </a:defRPr>
            </a:pPr>
            <a:r>
              <a:rPr sz="2100" b="1">
                <a:solidFill>
                  <a:srgbClr val="FFFFFF"/>
                </a:solidFill>
              </a:rPr>
              <a:t>WAF blocks harmful web requests before they hit the app.</a:t>
            </a:r>
          </a:p>
        </p:txBody>
      </p:sp>
    </p:spTree>
    <p:extLst>
      <p:ext uri="{BB962C8B-B14F-4D97-AF65-F5344CB8AC3E}">
        <p14:creationId xmlns:p14="http://schemas.microsoft.com/office/powerpoint/2010/main" val="488850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0019150-4C41-4D04-A4CB-8B5E5FD91DA5}"/>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053AEF92-B1D6-4E82-9A64-E7D15280C25C}"/>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8 · Configuration store</a:t>
            </a:r>
          </a:p>
        </p:txBody>
      </p:sp>
      <p:sp>
        <p:nvSpPr>
          <p:cNvPr id="3" name="Rectangle 2">
            <a:extLst>
              <a:ext uri="{FF2B5EF4-FFF2-40B4-BE49-F238E27FC236}">
                <a16:creationId xmlns:a16="http://schemas.microsoft.com/office/drawing/2014/main" id="{EA8DB96C-EA29-4F6A-9CDE-7AE8442A29D4}"/>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32</a:t>
            </a:r>
          </a:p>
        </p:txBody>
      </p:sp>
      <p:sp>
        <p:nvSpPr>
          <p:cNvPr id="4" name="Rectangle 3">
            <a:extLst>
              <a:ext uri="{FF2B5EF4-FFF2-40B4-BE49-F238E27FC236}">
                <a16:creationId xmlns:a16="http://schemas.microsoft.com/office/drawing/2014/main" id="{FB0D6618-8268-4DFA-84BA-625705DB5BBC}"/>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Systems Manager Parameter Store: what it is</a:t>
            </a:r>
          </a:p>
        </p:txBody>
      </p:sp>
      <p:sp>
        <p:nvSpPr>
          <p:cNvPr id="5" name="Rectangle 4">
            <a:extLst>
              <a:ext uri="{FF2B5EF4-FFF2-40B4-BE49-F238E27FC236}">
                <a16:creationId xmlns:a16="http://schemas.microsoft.com/office/drawing/2014/main" id="{45145742-FD79-4015-9A2F-E874502B55C7}"/>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Stores configuration data and parameter values for applications, scripts, and AWS automation.</a:t>
            </a:r>
          </a:p>
        </p:txBody>
      </p:sp>
      <p:sp>
        <p:nvSpPr>
          <p:cNvPr id="6" name="Oval 5">
            <a:extLst>
              <a:ext uri="{FF2B5EF4-FFF2-40B4-BE49-F238E27FC236}">
                <a16:creationId xmlns:a16="http://schemas.microsoft.com/office/drawing/2014/main" id="{1EF4CDD1-5591-4D0B-B111-6090E31A10EC}"/>
              </a:ext>
            </a:extLst>
          </p:cNvPr>
          <p:cNvSpPr>
            <a:spLocks noGrp="1"/>
          </p:cNvSpPr>
          <p:nvPr/>
        </p:nvSpPr>
        <p:spPr>
          <a:xfrm>
            <a:off x="9239251" y="876300"/>
            <a:ext cx="1066800" cy="1066800"/>
          </a:xfrm>
          <a:prstGeom prst="ellipse">
            <a:avLst/>
          </a:prstGeom>
          <a:solidFill>
            <a:srgbClr val="12233F"/>
          </a:solidFill>
          <a:ln w="28575">
            <a:solidFill>
              <a:srgbClr val="FF9900"/>
            </a:solidFill>
            <a:prstDash val="solid"/>
          </a:ln>
        </p:spPr>
        <p:txBody>
          <a:bodyPr/>
          <a:lstStyle/>
          <a:p>
            <a:endParaRPr lang="en-IN"/>
          </a:p>
        </p:txBody>
      </p:sp>
      <p:sp>
        <p:nvSpPr>
          <p:cNvPr id="7" name="Rectangle 6">
            <a:extLst>
              <a:ext uri="{FF2B5EF4-FFF2-40B4-BE49-F238E27FC236}">
                <a16:creationId xmlns:a16="http://schemas.microsoft.com/office/drawing/2014/main" id="{595F5AC7-7DAE-4686-B2F7-54DA068C038E}"/>
              </a:ext>
            </a:extLst>
          </p:cNvPr>
          <p:cNvSpPr>
            <a:spLocks noGrp="1"/>
          </p:cNvSpPr>
          <p:nvPr/>
        </p:nvSpPr>
        <p:spPr>
          <a:xfrm>
            <a:off x="9239251" y="1133475"/>
            <a:ext cx="1066800" cy="400051"/>
          </a:xfrm>
          <a:prstGeom prst="rect">
            <a:avLst/>
          </a:prstGeom>
          <a:noFill/>
          <a:ln w="0">
            <a:noFill/>
            <a:prstDash val="solid"/>
          </a:ln>
        </p:spPr>
        <p:txBody>
          <a:bodyPr/>
          <a:lstStyle/>
          <a:p>
            <a:pPr algn="ctr">
              <a:defRPr sz="1950" b="1">
                <a:solidFill>
                  <a:srgbClr val="FFFFFF"/>
                </a:solidFill>
              </a:defRPr>
            </a:pPr>
            <a:r>
              <a:rPr sz="1951" b="1">
                <a:solidFill>
                  <a:srgbClr val="FFFFFF"/>
                </a:solidFill>
              </a:rPr>
              <a:t>PS</a:t>
            </a:r>
          </a:p>
        </p:txBody>
      </p:sp>
      <p:sp>
        <p:nvSpPr>
          <p:cNvPr id="8" name="Rectangle: Rounded Corners 7">
            <a:extLst>
              <a:ext uri="{FF2B5EF4-FFF2-40B4-BE49-F238E27FC236}">
                <a16:creationId xmlns:a16="http://schemas.microsoft.com/office/drawing/2014/main" id="{3DB68144-5643-4A7E-9DD6-03E2EBEB912B}"/>
              </a:ext>
            </a:extLst>
          </p:cNvPr>
          <p:cNvSpPr>
            <a:spLocks noGrp="1"/>
          </p:cNvSpPr>
          <p:nvPr/>
        </p:nvSpPr>
        <p:spPr>
          <a:xfrm>
            <a:off x="742951" y="2095501"/>
            <a:ext cx="4762500" cy="2476500"/>
          </a:xfrm>
          <a:prstGeom prst="roundRect">
            <a:avLst>
              <a:gd name="adj" fmla="val 2308"/>
            </a:avLst>
          </a:prstGeom>
          <a:solidFill>
            <a:srgbClr val="FFFFFF"/>
          </a:solidFill>
          <a:ln w="9525">
            <a:solidFill>
              <a:srgbClr val="D7E2EE"/>
            </a:solidFill>
            <a:prstDash val="solid"/>
          </a:ln>
        </p:spPr>
        <p:txBody>
          <a:bodyPr/>
          <a:lstStyle/>
          <a:p>
            <a:endParaRPr lang="en-IN"/>
          </a:p>
        </p:txBody>
      </p:sp>
      <p:sp>
        <p:nvSpPr>
          <p:cNvPr id="9" name="Rectangle 8">
            <a:extLst>
              <a:ext uri="{FF2B5EF4-FFF2-40B4-BE49-F238E27FC236}">
                <a16:creationId xmlns:a16="http://schemas.microsoft.com/office/drawing/2014/main" id="{44522E8A-D9D5-46AE-BD12-9811172E8AC7}"/>
              </a:ext>
            </a:extLst>
          </p:cNvPr>
          <p:cNvSpPr>
            <a:spLocks noGrp="1"/>
          </p:cNvSpPr>
          <p:nvPr/>
        </p:nvSpPr>
        <p:spPr>
          <a:xfrm>
            <a:off x="1009651" y="2362200"/>
            <a:ext cx="38100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Use it when you need to</a:t>
            </a:r>
          </a:p>
        </p:txBody>
      </p:sp>
      <p:sp>
        <p:nvSpPr>
          <p:cNvPr id="10" name="Rectangle 9">
            <a:extLst>
              <a:ext uri="{FF2B5EF4-FFF2-40B4-BE49-F238E27FC236}">
                <a16:creationId xmlns:a16="http://schemas.microsoft.com/office/drawing/2014/main" id="{1782E5FF-2B1A-48CB-9754-6A7C3425801A}"/>
              </a:ext>
            </a:extLst>
          </p:cNvPr>
          <p:cNvSpPr>
            <a:spLocks noGrp="1"/>
          </p:cNvSpPr>
          <p:nvPr/>
        </p:nvSpPr>
        <p:spPr>
          <a:xfrm>
            <a:off x="1066801" y="2895600"/>
            <a:ext cx="4000500" cy="1238251"/>
          </a:xfrm>
          <a:prstGeom prst="rect">
            <a:avLst/>
          </a:prstGeom>
          <a:noFill/>
          <a:ln w="0">
            <a:noFill/>
            <a:prstDash val="solid"/>
          </a:ln>
        </p:spPr>
        <p:txBody>
          <a:bodyPr/>
          <a:lstStyle/>
          <a:p>
            <a:pPr algn="l">
              <a:defRPr sz="1650" b="0">
                <a:solidFill>
                  <a:srgbClr val="334155"/>
                </a:solidFill>
              </a:defRPr>
            </a:pPr>
            <a:r>
              <a:rPr sz="1651">
                <a:solidFill>
                  <a:srgbClr val="334155"/>
                </a:solidFill>
              </a:rPr>
              <a:t>• Environment settings</a:t>
            </a:r>
          </a:p>
          <a:p>
            <a:pPr algn="l">
              <a:defRPr sz="1650" b="0">
                <a:solidFill>
                  <a:srgbClr val="334155"/>
                </a:solidFill>
              </a:defRPr>
            </a:pPr>
            <a:r>
              <a:rPr sz="1651">
                <a:solidFill>
                  <a:srgbClr val="334155"/>
                </a:solidFill>
              </a:rPr>
              <a:t>• Feature flags</a:t>
            </a:r>
          </a:p>
          <a:p>
            <a:pPr algn="l">
              <a:defRPr sz="1650" b="0">
                <a:solidFill>
                  <a:srgbClr val="334155"/>
                </a:solidFill>
              </a:defRPr>
            </a:pPr>
            <a:r>
              <a:rPr sz="1651">
                <a:solidFill>
                  <a:srgbClr val="334155"/>
                </a:solidFill>
              </a:rPr>
              <a:t>• AMI IDs</a:t>
            </a:r>
          </a:p>
          <a:p>
            <a:pPr algn="l">
              <a:defRPr sz="1650" b="0">
                <a:solidFill>
                  <a:srgbClr val="334155"/>
                </a:solidFill>
              </a:defRPr>
            </a:pPr>
            <a:r>
              <a:rPr sz="1651">
                <a:solidFill>
                  <a:srgbClr val="334155"/>
                </a:solidFill>
              </a:rPr>
              <a:t>• Lightweight encrypted values</a:t>
            </a:r>
          </a:p>
        </p:txBody>
      </p:sp>
      <p:sp>
        <p:nvSpPr>
          <p:cNvPr id="11" name="Rectangle: Rounded Corners 10">
            <a:extLst>
              <a:ext uri="{FF2B5EF4-FFF2-40B4-BE49-F238E27FC236}">
                <a16:creationId xmlns:a16="http://schemas.microsoft.com/office/drawing/2014/main" id="{3FD4DFF7-9235-4F49-AC64-538F7B986541}"/>
              </a:ext>
            </a:extLst>
          </p:cNvPr>
          <p:cNvSpPr>
            <a:spLocks noGrp="1"/>
          </p:cNvSpPr>
          <p:nvPr/>
        </p:nvSpPr>
        <p:spPr>
          <a:xfrm>
            <a:off x="6096001" y="2095501"/>
            <a:ext cx="4381500" cy="2476500"/>
          </a:xfrm>
          <a:prstGeom prst="roundRect">
            <a:avLst>
              <a:gd name="adj" fmla="val 2308"/>
            </a:avLst>
          </a:prstGeom>
          <a:solidFill>
            <a:srgbClr val="EAF3FC"/>
          </a:solidFill>
          <a:ln w="9525">
            <a:solidFill>
              <a:srgbClr val="B7D4EF"/>
            </a:solidFill>
            <a:prstDash val="solid"/>
          </a:ln>
        </p:spPr>
        <p:txBody>
          <a:bodyPr/>
          <a:lstStyle/>
          <a:p>
            <a:endParaRPr lang="en-IN"/>
          </a:p>
        </p:txBody>
      </p:sp>
      <p:sp>
        <p:nvSpPr>
          <p:cNvPr id="12" name="Rectangle 11">
            <a:extLst>
              <a:ext uri="{FF2B5EF4-FFF2-40B4-BE49-F238E27FC236}">
                <a16:creationId xmlns:a16="http://schemas.microsoft.com/office/drawing/2014/main" id="{439DE1F6-F4D6-4FE2-A871-E5F515A96E65}"/>
              </a:ext>
            </a:extLst>
          </p:cNvPr>
          <p:cNvSpPr>
            <a:spLocks noGrp="1"/>
          </p:cNvSpPr>
          <p:nvPr/>
        </p:nvSpPr>
        <p:spPr>
          <a:xfrm>
            <a:off x="6381751" y="2362200"/>
            <a:ext cx="3619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Simple class explanation</a:t>
            </a:r>
          </a:p>
        </p:txBody>
      </p:sp>
      <p:sp>
        <p:nvSpPr>
          <p:cNvPr id="13" name="Rectangle 12">
            <a:extLst>
              <a:ext uri="{FF2B5EF4-FFF2-40B4-BE49-F238E27FC236}">
                <a16:creationId xmlns:a16="http://schemas.microsoft.com/office/drawing/2014/main" id="{0458DA30-0564-4CF0-84F9-92E2F4B8A385}"/>
              </a:ext>
            </a:extLst>
          </p:cNvPr>
          <p:cNvSpPr>
            <a:spLocks noGrp="1"/>
          </p:cNvSpPr>
          <p:nvPr/>
        </p:nvSpPr>
        <p:spPr>
          <a:xfrm>
            <a:off x="6381751" y="2905125"/>
            <a:ext cx="3619500" cy="1143000"/>
          </a:xfrm>
          <a:prstGeom prst="rect">
            <a:avLst/>
          </a:prstGeom>
          <a:noFill/>
          <a:ln w="0">
            <a:noFill/>
            <a:prstDash val="solid"/>
          </a:ln>
        </p:spPr>
        <p:txBody>
          <a:bodyPr/>
          <a:lstStyle/>
          <a:p>
            <a:pPr algn="l">
              <a:defRPr sz="1800" b="0">
                <a:solidFill>
                  <a:srgbClr val="334155"/>
                </a:solidFill>
              </a:defRPr>
            </a:pPr>
            <a:r>
              <a:rPr>
                <a:solidFill>
                  <a:srgbClr val="334155"/>
                </a:solidFill>
              </a:rPr>
              <a:t>Like a central settings file that applications can read safely at runtime.</a:t>
            </a:r>
          </a:p>
        </p:txBody>
      </p:sp>
    </p:spTree>
    <p:extLst>
      <p:ext uri="{BB962C8B-B14F-4D97-AF65-F5344CB8AC3E}">
        <p14:creationId xmlns:p14="http://schemas.microsoft.com/office/powerpoint/2010/main" val="84411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F00FDCAE-EEBB-4CAA-99F4-8228E3040540}"/>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BABB66F0-30B1-4311-8861-F67787CF61E7}"/>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8 · Architecture</a:t>
            </a:r>
          </a:p>
        </p:txBody>
      </p:sp>
      <p:sp>
        <p:nvSpPr>
          <p:cNvPr id="3" name="Rectangle 2">
            <a:extLst>
              <a:ext uri="{FF2B5EF4-FFF2-40B4-BE49-F238E27FC236}">
                <a16:creationId xmlns:a16="http://schemas.microsoft.com/office/drawing/2014/main" id="{0F875917-94F5-4B00-AA50-F4E8D2354339}"/>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33</a:t>
            </a:r>
          </a:p>
        </p:txBody>
      </p:sp>
      <p:sp>
        <p:nvSpPr>
          <p:cNvPr id="4" name="Rectangle 3">
            <a:extLst>
              <a:ext uri="{FF2B5EF4-FFF2-40B4-BE49-F238E27FC236}">
                <a16:creationId xmlns:a16="http://schemas.microsoft.com/office/drawing/2014/main" id="{05149810-B00A-4495-9B28-23090234B4CF}"/>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Systems Manager Parameter Store architecture</a:t>
            </a:r>
          </a:p>
        </p:txBody>
      </p:sp>
      <p:sp>
        <p:nvSpPr>
          <p:cNvPr id="5" name="Rectangle 4">
            <a:extLst>
              <a:ext uri="{FF2B5EF4-FFF2-40B4-BE49-F238E27FC236}">
                <a16:creationId xmlns:a16="http://schemas.microsoft.com/office/drawing/2014/main" id="{977F97F8-6329-4B2F-BCD5-4C4D00FA0776}"/>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Follow the request or data path from left to right.</a:t>
            </a:r>
          </a:p>
        </p:txBody>
      </p:sp>
      <p:sp>
        <p:nvSpPr>
          <p:cNvPr id="6" name="Rectangle: Rounded Corners 5">
            <a:extLst>
              <a:ext uri="{FF2B5EF4-FFF2-40B4-BE49-F238E27FC236}">
                <a16:creationId xmlns:a16="http://schemas.microsoft.com/office/drawing/2014/main" id="{E4734756-2C1C-41AE-95C4-CE1E6B105E0C}"/>
              </a:ext>
            </a:extLst>
          </p:cNvPr>
          <p:cNvSpPr>
            <a:spLocks noGrp="1"/>
          </p:cNvSpPr>
          <p:nvPr/>
        </p:nvSpPr>
        <p:spPr>
          <a:xfrm>
            <a:off x="857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7F967ACD-E88C-4A26-BE5A-D3A8333C387D}"/>
              </a:ext>
            </a:extLst>
          </p:cNvPr>
          <p:cNvSpPr>
            <a:spLocks noGrp="1"/>
          </p:cNvSpPr>
          <p:nvPr/>
        </p:nvSpPr>
        <p:spPr>
          <a:xfrm>
            <a:off x="952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Application</a:t>
            </a:r>
          </a:p>
        </p:txBody>
      </p:sp>
      <p:sp>
        <p:nvSpPr>
          <p:cNvPr id="8" name="Arrow: Right 7">
            <a:extLst>
              <a:ext uri="{FF2B5EF4-FFF2-40B4-BE49-F238E27FC236}">
                <a16:creationId xmlns:a16="http://schemas.microsoft.com/office/drawing/2014/main" id="{03047ED4-8A15-4651-9422-DAB2AA6B0CFD}"/>
              </a:ext>
            </a:extLst>
          </p:cNvPr>
          <p:cNvSpPr>
            <a:spLocks noGrp="1"/>
          </p:cNvSpPr>
          <p:nvPr/>
        </p:nvSpPr>
        <p:spPr>
          <a:xfrm>
            <a:off x="2724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E8BAF0C6-D14A-451A-A6C1-E6321BE07E43}"/>
              </a:ext>
            </a:extLst>
          </p:cNvPr>
          <p:cNvSpPr>
            <a:spLocks noGrp="1"/>
          </p:cNvSpPr>
          <p:nvPr/>
        </p:nvSpPr>
        <p:spPr>
          <a:xfrm>
            <a:off x="2952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900652D5-F57C-4EDD-9AF2-00518E7CAD7E}"/>
              </a:ext>
            </a:extLst>
          </p:cNvPr>
          <p:cNvSpPr>
            <a:spLocks noGrp="1"/>
          </p:cNvSpPr>
          <p:nvPr/>
        </p:nvSpPr>
        <p:spPr>
          <a:xfrm>
            <a:off x="3048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IAM role</a:t>
            </a:r>
          </a:p>
        </p:txBody>
      </p:sp>
      <p:sp>
        <p:nvSpPr>
          <p:cNvPr id="11" name="Arrow: Right 10">
            <a:extLst>
              <a:ext uri="{FF2B5EF4-FFF2-40B4-BE49-F238E27FC236}">
                <a16:creationId xmlns:a16="http://schemas.microsoft.com/office/drawing/2014/main" id="{D0DED648-A03B-406F-816E-DB086F390E41}"/>
              </a:ext>
            </a:extLst>
          </p:cNvPr>
          <p:cNvSpPr>
            <a:spLocks noGrp="1"/>
          </p:cNvSpPr>
          <p:nvPr/>
        </p:nvSpPr>
        <p:spPr>
          <a:xfrm>
            <a:off x="4819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FFAE5B69-2C44-42F9-A3C9-B6CB5C70A43B}"/>
              </a:ext>
            </a:extLst>
          </p:cNvPr>
          <p:cNvSpPr>
            <a:spLocks noGrp="1"/>
          </p:cNvSpPr>
          <p:nvPr/>
        </p:nvSpPr>
        <p:spPr>
          <a:xfrm>
            <a:off x="5048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38D76EE6-FA26-45CF-91E6-D4C717A25818}"/>
              </a:ext>
            </a:extLst>
          </p:cNvPr>
          <p:cNvSpPr>
            <a:spLocks noGrp="1"/>
          </p:cNvSpPr>
          <p:nvPr/>
        </p:nvSpPr>
        <p:spPr>
          <a:xfrm>
            <a:off x="5143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Parameter Store</a:t>
            </a:r>
          </a:p>
        </p:txBody>
      </p:sp>
      <p:sp>
        <p:nvSpPr>
          <p:cNvPr id="14" name="Arrow: Right 13">
            <a:extLst>
              <a:ext uri="{FF2B5EF4-FFF2-40B4-BE49-F238E27FC236}">
                <a16:creationId xmlns:a16="http://schemas.microsoft.com/office/drawing/2014/main" id="{91DC3E9A-E7CB-4F53-954C-BF61A1967930}"/>
              </a:ext>
            </a:extLst>
          </p:cNvPr>
          <p:cNvSpPr>
            <a:spLocks noGrp="1"/>
          </p:cNvSpPr>
          <p:nvPr/>
        </p:nvSpPr>
        <p:spPr>
          <a:xfrm>
            <a:off x="69151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9AF3BD2A-A1AD-4136-BD42-E366DC26CF48}"/>
              </a:ext>
            </a:extLst>
          </p:cNvPr>
          <p:cNvSpPr>
            <a:spLocks noGrp="1"/>
          </p:cNvSpPr>
          <p:nvPr/>
        </p:nvSpPr>
        <p:spPr>
          <a:xfrm>
            <a:off x="71437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98E729FD-4250-45CF-AA1D-6BA705EA83CD}"/>
              </a:ext>
            </a:extLst>
          </p:cNvPr>
          <p:cNvSpPr>
            <a:spLocks noGrp="1"/>
          </p:cNvSpPr>
          <p:nvPr/>
        </p:nvSpPr>
        <p:spPr>
          <a:xfrm>
            <a:off x="72390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AWS KMS for SecureString</a:t>
            </a:r>
          </a:p>
        </p:txBody>
      </p:sp>
      <p:sp>
        <p:nvSpPr>
          <p:cNvPr id="17" name="Arrow: Right 16">
            <a:extLst>
              <a:ext uri="{FF2B5EF4-FFF2-40B4-BE49-F238E27FC236}">
                <a16:creationId xmlns:a16="http://schemas.microsoft.com/office/drawing/2014/main" id="{F988A042-D870-4606-8173-35DEED165E6E}"/>
              </a:ext>
            </a:extLst>
          </p:cNvPr>
          <p:cNvSpPr>
            <a:spLocks noGrp="1"/>
          </p:cNvSpPr>
          <p:nvPr/>
        </p:nvSpPr>
        <p:spPr>
          <a:xfrm>
            <a:off x="9010651" y="2809875"/>
            <a:ext cx="152400" cy="209551"/>
          </a:xfrm>
          <a:prstGeom prst="right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2A0E80AC-3F7E-4312-B345-4459B2B6D1B5}"/>
              </a:ext>
            </a:extLst>
          </p:cNvPr>
          <p:cNvSpPr>
            <a:spLocks noGrp="1"/>
          </p:cNvSpPr>
          <p:nvPr/>
        </p:nvSpPr>
        <p:spPr>
          <a:xfrm>
            <a:off x="9239251" y="2571751"/>
            <a:ext cx="1790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E2FC5B55-4D69-4053-BFEC-9DEC00E8B9DE}"/>
              </a:ext>
            </a:extLst>
          </p:cNvPr>
          <p:cNvSpPr>
            <a:spLocks noGrp="1"/>
          </p:cNvSpPr>
          <p:nvPr/>
        </p:nvSpPr>
        <p:spPr>
          <a:xfrm>
            <a:off x="9334500" y="2686050"/>
            <a:ext cx="1600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Configuration value</a:t>
            </a:r>
          </a:p>
        </p:txBody>
      </p:sp>
      <p:sp>
        <p:nvSpPr>
          <p:cNvPr id="20" name="Rectangle 19">
            <a:extLst>
              <a:ext uri="{FF2B5EF4-FFF2-40B4-BE49-F238E27FC236}">
                <a16:creationId xmlns:a16="http://schemas.microsoft.com/office/drawing/2014/main" id="{A3E2E65E-56B3-48C5-828D-61AC90EBA339}"/>
              </a:ext>
            </a:extLst>
          </p:cNvPr>
          <p:cNvSpPr>
            <a:spLocks noGrp="1"/>
          </p:cNvSpPr>
          <p:nvPr/>
        </p:nvSpPr>
        <p:spPr>
          <a:xfrm>
            <a:off x="952500" y="4191000"/>
            <a:ext cx="3429000" cy="323851"/>
          </a:xfrm>
          <a:prstGeom prst="rect">
            <a:avLst/>
          </a:prstGeom>
          <a:noFill/>
          <a:ln w="0">
            <a:noFill/>
            <a:prstDash val="solid"/>
          </a:ln>
        </p:spPr>
        <p:txBody>
          <a:bodyPr/>
          <a:lstStyle/>
          <a:p>
            <a:pPr algn="l">
              <a:defRPr sz="1950" b="1">
                <a:solidFill>
                  <a:srgbClr val="12233F"/>
                </a:solidFill>
              </a:defRPr>
            </a:pPr>
            <a:r>
              <a:rPr sz="1951" b="1">
                <a:solidFill>
                  <a:srgbClr val="12233F"/>
                </a:solidFill>
              </a:rPr>
              <a:t>Architecture explanation</a:t>
            </a:r>
          </a:p>
        </p:txBody>
      </p:sp>
      <p:sp>
        <p:nvSpPr>
          <p:cNvPr id="21" name="Rectangle 20">
            <a:extLst>
              <a:ext uri="{FF2B5EF4-FFF2-40B4-BE49-F238E27FC236}">
                <a16:creationId xmlns:a16="http://schemas.microsoft.com/office/drawing/2014/main" id="{DCAFED52-11F1-4504-AB3B-AF266E919FAF}"/>
              </a:ext>
            </a:extLst>
          </p:cNvPr>
          <p:cNvSpPr>
            <a:spLocks noGrp="1"/>
          </p:cNvSpPr>
          <p:nvPr/>
        </p:nvSpPr>
        <p:spPr>
          <a:xfrm>
            <a:off x="952500" y="4667251"/>
            <a:ext cx="9144000" cy="1066800"/>
          </a:xfrm>
          <a:prstGeom prst="rect">
            <a:avLst/>
          </a:prstGeom>
          <a:noFill/>
          <a:ln w="0">
            <a:noFill/>
            <a:prstDash val="solid"/>
          </a:ln>
        </p:spPr>
        <p:txBody>
          <a:bodyPr/>
          <a:lstStyle/>
          <a:p>
            <a:pPr algn="l">
              <a:defRPr sz="1650" b="0">
                <a:solidFill>
                  <a:srgbClr val="334155"/>
                </a:solidFill>
              </a:defRPr>
            </a:pPr>
            <a:r>
              <a:rPr sz="1651">
                <a:solidFill>
                  <a:srgbClr val="334155"/>
                </a:solidFill>
              </a:rPr>
              <a:t>• Systems Manager Parameter Store owns the middle responsibility in this flow.</a:t>
            </a:r>
          </a:p>
          <a:p>
            <a:pPr algn="l">
              <a:defRPr sz="1650" b="0">
                <a:solidFill>
                  <a:srgbClr val="334155"/>
                </a:solidFill>
              </a:defRPr>
            </a:pPr>
            <a:r>
              <a:rPr sz="1651">
                <a:solidFill>
                  <a:srgbClr val="334155"/>
                </a:solidFill>
              </a:rPr>
              <a:t>• IAM controls who can call or use the service.</a:t>
            </a:r>
          </a:p>
          <a:p>
            <a:pPr algn="l">
              <a:defRPr sz="1650" b="0">
                <a:solidFill>
                  <a:srgbClr val="334155"/>
                </a:solidFill>
              </a:defRPr>
            </a:pPr>
            <a:r>
              <a:rPr sz="1651">
                <a:solidFill>
                  <a:srgbClr val="334155"/>
                </a:solidFill>
              </a:rPr>
              <a:t>• CloudWatch and CloudTrail help with monitoring and audit trails.</a:t>
            </a:r>
          </a:p>
        </p:txBody>
      </p:sp>
    </p:spTree>
    <p:extLst>
      <p:ext uri="{BB962C8B-B14F-4D97-AF65-F5344CB8AC3E}">
        <p14:creationId xmlns:p14="http://schemas.microsoft.com/office/powerpoint/2010/main" val="11507982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B9E277EA-5486-4C57-AFB2-ECB27407A754}"/>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FB4963A8-70E7-4B96-AEC9-764CCE204AC9}"/>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8 · Process</a:t>
            </a:r>
          </a:p>
        </p:txBody>
      </p:sp>
      <p:sp>
        <p:nvSpPr>
          <p:cNvPr id="3" name="Rectangle 2">
            <a:extLst>
              <a:ext uri="{FF2B5EF4-FFF2-40B4-BE49-F238E27FC236}">
                <a16:creationId xmlns:a16="http://schemas.microsoft.com/office/drawing/2014/main" id="{52A43D50-275E-4D22-8093-E04BE9C74A2C}"/>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34</a:t>
            </a:r>
          </a:p>
        </p:txBody>
      </p:sp>
      <p:sp>
        <p:nvSpPr>
          <p:cNvPr id="4" name="Rectangle 3">
            <a:extLst>
              <a:ext uri="{FF2B5EF4-FFF2-40B4-BE49-F238E27FC236}">
                <a16:creationId xmlns:a16="http://schemas.microsoft.com/office/drawing/2014/main" id="{6207928F-B83D-43F4-9647-B3B64279727F}"/>
              </a:ext>
            </a:extLst>
          </p:cNvPr>
          <p:cNvSpPr>
            <a:spLocks noGrp="1"/>
          </p:cNvSpPr>
          <p:nvPr/>
        </p:nvSpPr>
        <p:spPr>
          <a:xfrm>
            <a:off x="685800" y="685800"/>
            <a:ext cx="9220199" cy="552451"/>
          </a:xfrm>
          <a:prstGeom prst="rect">
            <a:avLst/>
          </a:prstGeom>
          <a:noFill/>
          <a:ln w="0">
            <a:noFill/>
            <a:prstDash val="solid"/>
          </a:ln>
        </p:spPr>
        <p:txBody>
          <a:bodyPr/>
          <a:lstStyle/>
          <a:p>
            <a:pPr algn="l">
              <a:defRPr sz="3000" b="1">
                <a:solidFill>
                  <a:srgbClr val="12233F"/>
                </a:solidFill>
              </a:defRPr>
            </a:pPr>
            <a:r>
              <a:rPr sz="3000" b="1" dirty="0">
                <a:solidFill>
                  <a:srgbClr val="12233F"/>
                </a:solidFill>
              </a:rPr>
              <a:t>How Systems Manager Parameter Store works in practice</a:t>
            </a:r>
          </a:p>
        </p:txBody>
      </p:sp>
      <p:sp>
        <p:nvSpPr>
          <p:cNvPr id="5" name="Rectangle 4">
            <a:extLst>
              <a:ext uri="{FF2B5EF4-FFF2-40B4-BE49-F238E27FC236}">
                <a16:creationId xmlns:a16="http://schemas.microsoft.com/office/drawing/2014/main" id="{FE81877C-3814-482D-A91E-51FAEA48D876}"/>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Use this as the step-by-step explanation during the meeting.</a:t>
            </a:r>
          </a:p>
        </p:txBody>
      </p:sp>
      <p:sp>
        <p:nvSpPr>
          <p:cNvPr id="6" name="Rectangle: Rounded Corners 5">
            <a:extLst>
              <a:ext uri="{FF2B5EF4-FFF2-40B4-BE49-F238E27FC236}">
                <a16:creationId xmlns:a16="http://schemas.microsoft.com/office/drawing/2014/main" id="{A4C52C17-7806-42CC-9948-8EB5A34121B7}"/>
              </a:ext>
            </a:extLst>
          </p:cNvPr>
          <p:cNvSpPr>
            <a:spLocks noGrp="1"/>
          </p:cNvSpPr>
          <p:nvPr/>
        </p:nvSpPr>
        <p:spPr>
          <a:xfrm>
            <a:off x="876301" y="19526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E3A20814-6DBB-4BE2-AC07-0B85F76330C6}"/>
              </a:ext>
            </a:extLst>
          </p:cNvPr>
          <p:cNvSpPr>
            <a:spLocks noGrp="1"/>
          </p:cNvSpPr>
          <p:nvPr/>
        </p:nvSpPr>
        <p:spPr>
          <a:xfrm>
            <a:off x="971549" y="20669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Create parameter</a:t>
            </a:r>
          </a:p>
        </p:txBody>
      </p:sp>
      <p:sp>
        <p:nvSpPr>
          <p:cNvPr id="8" name="Arrow: Down 7">
            <a:extLst>
              <a:ext uri="{FF2B5EF4-FFF2-40B4-BE49-F238E27FC236}">
                <a16:creationId xmlns:a16="http://schemas.microsoft.com/office/drawing/2014/main" id="{02EABE8A-4C02-4322-9F08-F57BD6D3E6C2}"/>
              </a:ext>
            </a:extLst>
          </p:cNvPr>
          <p:cNvSpPr>
            <a:spLocks noGrp="1"/>
          </p:cNvSpPr>
          <p:nvPr/>
        </p:nvSpPr>
        <p:spPr>
          <a:xfrm>
            <a:off x="3019426" y="2457449"/>
            <a:ext cx="190500" cy="95251"/>
          </a:xfrm>
          <a:prstGeom prst="down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48F4338F-FCB1-4FEB-9DF2-7B184F256C72}"/>
              </a:ext>
            </a:extLst>
          </p:cNvPr>
          <p:cNvSpPr>
            <a:spLocks noGrp="1"/>
          </p:cNvSpPr>
          <p:nvPr/>
        </p:nvSpPr>
        <p:spPr>
          <a:xfrm>
            <a:off x="876301" y="26003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8765BB1C-96B3-4123-89C1-74FD2181D7D4}"/>
              </a:ext>
            </a:extLst>
          </p:cNvPr>
          <p:cNvSpPr>
            <a:spLocks noGrp="1"/>
          </p:cNvSpPr>
          <p:nvPr/>
        </p:nvSpPr>
        <p:spPr>
          <a:xfrm>
            <a:off x="971549" y="27146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Choose String, StringList, or SecureString</a:t>
            </a:r>
          </a:p>
        </p:txBody>
      </p:sp>
      <p:sp>
        <p:nvSpPr>
          <p:cNvPr id="11" name="Arrow: Down 10">
            <a:extLst>
              <a:ext uri="{FF2B5EF4-FFF2-40B4-BE49-F238E27FC236}">
                <a16:creationId xmlns:a16="http://schemas.microsoft.com/office/drawing/2014/main" id="{E5A08514-7F29-4CF7-B65E-6B0C677981C8}"/>
              </a:ext>
            </a:extLst>
          </p:cNvPr>
          <p:cNvSpPr>
            <a:spLocks noGrp="1"/>
          </p:cNvSpPr>
          <p:nvPr/>
        </p:nvSpPr>
        <p:spPr>
          <a:xfrm>
            <a:off x="3019426" y="3105149"/>
            <a:ext cx="190500" cy="95251"/>
          </a:xfrm>
          <a:prstGeom prst="down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2C1B3A9C-10A3-46E0-9B13-0DCC73C4FCFB}"/>
              </a:ext>
            </a:extLst>
          </p:cNvPr>
          <p:cNvSpPr>
            <a:spLocks noGrp="1"/>
          </p:cNvSpPr>
          <p:nvPr/>
        </p:nvSpPr>
        <p:spPr>
          <a:xfrm>
            <a:off x="876301" y="32480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0598D162-AAD1-471B-81B3-E2DEEC0593E5}"/>
              </a:ext>
            </a:extLst>
          </p:cNvPr>
          <p:cNvSpPr>
            <a:spLocks noGrp="1"/>
          </p:cNvSpPr>
          <p:nvPr/>
        </p:nvSpPr>
        <p:spPr>
          <a:xfrm>
            <a:off x="971549" y="33623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Name hierarchically</a:t>
            </a:r>
          </a:p>
        </p:txBody>
      </p:sp>
      <p:sp>
        <p:nvSpPr>
          <p:cNvPr id="14" name="Arrow: Down 13">
            <a:extLst>
              <a:ext uri="{FF2B5EF4-FFF2-40B4-BE49-F238E27FC236}">
                <a16:creationId xmlns:a16="http://schemas.microsoft.com/office/drawing/2014/main" id="{6A2C7A67-2E93-4175-9721-17757E7B5C44}"/>
              </a:ext>
            </a:extLst>
          </p:cNvPr>
          <p:cNvSpPr>
            <a:spLocks noGrp="1"/>
          </p:cNvSpPr>
          <p:nvPr/>
        </p:nvSpPr>
        <p:spPr>
          <a:xfrm>
            <a:off x="3019426" y="3752849"/>
            <a:ext cx="190500" cy="95251"/>
          </a:xfrm>
          <a:prstGeom prst="down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AEFE5A87-6AD0-4023-A963-3FFB45564313}"/>
              </a:ext>
            </a:extLst>
          </p:cNvPr>
          <p:cNvSpPr>
            <a:spLocks noGrp="1"/>
          </p:cNvSpPr>
          <p:nvPr/>
        </p:nvSpPr>
        <p:spPr>
          <a:xfrm>
            <a:off x="876301" y="38957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D06BD54A-E41E-4A14-BAB5-B9341A2C0453}"/>
              </a:ext>
            </a:extLst>
          </p:cNvPr>
          <p:cNvSpPr>
            <a:spLocks noGrp="1"/>
          </p:cNvSpPr>
          <p:nvPr/>
        </p:nvSpPr>
        <p:spPr>
          <a:xfrm>
            <a:off x="971549" y="40100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Grant IAM access</a:t>
            </a:r>
          </a:p>
        </p:txBody>
      </p:sp>
      <p:sp>
        <p:nvSpPr>
          <p:cNvPr id="17" name="Arrow: Down 16">
            <a:extLst>
              <a:ext uri="{FF2B5EF4-FFF2-40B4-BE49-F238E27FC236}">
                <a16:creationId xmlns:a16="http://schemas.microsoft.com/office/drawing/2014/main" id="{DFAB23BF-9197-4F53-B275-DD0E0B22E914}"/>
              </a:ext>
            </a:extLst>
          </p:cNvPr>
          <p:cNvSpPr>
            <a:spLocks noGrp="1"/>
          </p:cNvSpPr>
          <p:nvPr/>
        </p:nvSpPr>
        <p:spPr>
          <a:xfrm>
            <a:off x="3019426" y="4400549"/>
            <a:ext cx="190500" cy="95251"/>
          </a:xfrm>
          <a:prstGeom prst="down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D7C1AA01-A436-4811-9B95-F3D1B3FE5B0E}"/>
              </a:ext>
            </a:extLst>
          </p:cNvPr>
          <p:cNvSpPr>
            <a:spLocks noGrp="1"/>
          </p:cNvSpPr>
          <p:nvPr/>
        </p:nvSpPr>
        <p:spPr>
          <a:xfrm>
            <a:off x="876301" y="4543425"/>
            <a:ext cx="4476751" cy="457200"/>
          </a:xfrm>
          <a:prstGeom prst="roundRect">
            <a:avLst>
              <a:gd name="adj" fmla="val 12500"/>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A091A53F-9EDA-48B2-B6F8-A0C9BE2E6C57}"/>
              </a:ext>
            </a:extLst>
          </p:cNvPr>
          <p:cNvSpPr>
            <a:spLocks noGrp="1"/>
          </p:cNvSpPr>
          <p:nvPr/>
        </p:nvSpPr>
        <p:spPr>
          <a:xfrm>
            <a:off x="971549" y="4657726"/>
            <a:ext cx="4286251" cy="285751"/>
          </a:xfrm>
          <a:prstGeom prst="rect">
            <a:avLst/>
          </a:prstGeom>
          <a:noFill/>
          <a:ln w="0">
            <a:noFill/>
            <a:prstDash val="solid"/>
          </a:ln>
        </p:spPr>
        <p:txBody>
          <a:bodyPr/>
          <a:lstStyle/>
          <a:p>
            <a:pPr algn="ctr">
              <a:defRPr sz="1275" b="1">
                <a:solidFill>
                  <a:srgbClr val="12233F"/>
                </a:solidFill>
              </a:defRPr>
            </a:pPr>
            <a:r>
              <a:rPr sz="1275" b="1">
                <a:solidFill>
                  <a:srgbClr val="12233F"/>
                </a:solidFill>
              </a:rPr>
              <a:t>Retrieve at runtime</a:t>
            </a:r>
          </a:p>
        </p:txBody>
      </p:sp>
      <p:sp>
        <p:nvSpPr>
          <p:cNvPr id="20" name="Rectangle: Rounded Corners 19">
            <a:extLst>
              <a:ext uri="{FF2B5EF4-FFF2-40B4-BE49-F238E27FC236}">
                <a16:creationId xmlns:a16="http://schemas.microsoft.com/office/drawing/2014/main" id="{E2E7A6E4-F2F2-4F11-9189-EDFFE5F5F6AB}"/>
              </a:ext>
            </a:extLst>
          </p:cNvPr>
          <p:cNvSpPr>
            <a:spLocks noGrp="1"/>
          </p:cNvSpPr>
          <p:nvPr/>
        </p:nvSpPr>
        <p:spPr>
          <a:xfrm>
            <a:off x="6191250" y="2000251"/>
            <a:ext cx="4095751" cy="2286000"/>
          </a:xfrm>
          <a:prstGeom prst="roundRect">
            <a:avLst>
              <a:gd name="adj" fmla="val 2500"/>
            </a:avLst>
          </a:prstGeom>
          <a:solidFill>
            <a:srgbClr val="FFFFFF"/>
          </a:solidFill>
          <a:ln w="9525">
            <a:solidFill>
              <a:srgbClr val="D7E2EE"/>
            </a:solidFill>
            <a:prstDash val="solid"/>
          </a:ln>
        </p:spPr>
        <p:txBody>
          <a:bodyPr/>
          <a:lstStyle/>
          <a:p>
            <a:endParaRPr lang="en-IN"/>
          </a:p>
        </p:txBody>
      </p:sp>
      <p:sp>
        <p:nvSpPr>
          <p:cNvPr id="21" name="Rectangle 20">
            <a:extLst>
              <a:ext uri="{FF2B5EF4-FFF2-40B4-BE49-F238E27FC236}">
                <a16:creationId xmlns:a16="http://schemas.microsoft.com/office/drawing/2014/main" id="{A8106A0C-4738-4437-8ABC-086D79D11D4C}"/>
              </a:ext>
            </a:extLst>
          </p:cNvPr>
          <p:cNvSpPr>
            <a:spLocks noGrp="1"/>
          </p:cNvSpPr>
          <p:nvPr/>
        </p:nvSpPr>
        <p:spPr>
          <a:xfrm>
            <a:off x="6477001" y="2266951"/>
            <a:ext cx="2857500" cy="304800"/>
          </a:xfrm>
          <a:prstGeom prst="rect">
            <a:avLst/>
          </a:prstGeom>
          <a:noFill/>
          <a:ln w="0">
            <a:noFill/>
            <a:prstDash val="solid"/>
          </a:ln>
        </p:spPr>
        <p:txBody>
          <a:bodyPr/>
          <a:lstStyle/>
          <a:p>
            <a:pPr algn="l">
              <a:defRPr sz="1950" b="1">
                <a:solidFill>
                  <a:srgbClr val="12233F"/>
                </a:solidFill>
              </a:defRPr>
            </a:pPr>
            <a:r>
              <a:rPr sz="1951" b="1">
                <a:solidFill>
                  <a:srgbClr val="12233F"/>
                </a:solidFill>
              </a:rPr>
              <a:t>Best practices</a:t>
            </a:r>
          </a:p>
        </p:txBody>
      </p:sp>
      <p:sp>
        <p:nvSpPr>
          <p:cNvPr id="22" name="Rectangle 21">
            <a:extLst>
              <a:ext uri="{FF2B5EF4-FFF2-40B4-BE49-F238E27FC236}">
                <a16:creationId xmlns:a16="http://schemas.microsoft.com/office/drawing/2014/main" id="{4D995BD7-B36B-4AC3-92A9-8BAD43B5BD00}"/>
              </a:ext>
            </a:extLst>
          </p:cNvPr>
          <p:cNvSpPr>
            <a:spLocks noGrp="1"/>
          </p:cNvSpPr>
          <p:nvPr/>
        </p:nvSpPr>
        <p:spPr>
          <a:xfrm>
            <a:off x="6477001" y="2819401"/>
            <a:ext cx="3333751" cy="1104900"/>
          </a:xfrm>
          <a:prstGeom prst="rect">
            <a:avLst/>
          </a:prstGeom>
          <a:noFill/>
          <a:ln w="0">
            <a:noFill/>
            <a:prstDash val="solid"/>
          </a:ln>
        </p:spPr>
        <p:txBody>
          <a:bodyPr/>
          <a:lstStyle/>
          <a:p>
            <a:pPr algn="l">
              <a:defRPr sz="1500" b="0">
                <a:solidFill>
                  <a:srgbClr val="334155"/>
                </a:solidFill>
              </a:defRPr>
            </a:pPr>
            <a:r>
              <a:rPr sz="1500">
                <a:solidFill>
                  <a:srgbClr val="334155"/>
                </a:solidFill>
              </a:rPr>
              <a:t>• Use clear path names</a:t>
            </a:r>
          </a:p>
          <a:p>
            <a:pPr algn="l">
              <a:defRPr sz="1500" b="0">
                <a:solidFill>
                  <a:srgbClr val="334155"/>
                </a:solidFill>
              </a:defRPr>
            </a:pPr>
            <a:r>
              <a:rPr sz="1500">
                <a:solidFill>
                  <a:srgbClr val="334155"/>
                </a:solidFill>
              </a:rPr>
              <a:t>• Use SecureString for sensitive values</a:t>
            </a:r>
          </a:p>
          <a:p>
            <a:pPr algn="l">
              <a:defRPr sz="1500" b="0">
                <a:solidFill>
                  <a:srgbClr val="334155"/>
                </a:solidFill>
              </a:defRPr>
            </a:pPr>
            <a:r>
              <a:rPr sz="1500">
                <a:solidFill>
                  <a:srgbClr val="334155"/>
                </a:solidFill>
              </a:rPr>
              <a:t>• Use Secrets Manager for rotation</a:t>
            </a:r>
          </a:p>
          <a:p>
            <a:pPr algn="l">
              <a:defRPr sz="1500" b="0">
                <a:solidFill>
                  <a:srgbClr val="334155"/>
                </a:solidFill>
              </a:defRPr>
            </a:pPr>
            <a:r>
              <a:rPr sz="1500">
                <a:solidFill>
                  <a:srgbClr val="334155"/>
                </a:solidFill>
              </a:rPr>
              <a:t>• Track versions</a:t>
            </a:r>
          </a:p>
        </p:txBody>
      </p:sp>
      <p:sp>
        <p:nvSpPr>
          <p:cNvPr id="23" name="Rectangle: Rounded Corners 22">
            <a:extLst>
              <a:ext uri="{FF2B5EF4-FFF2-40B4-BE49-F238E27FC236}">
                <a16:creationId xmlns:a16="http://schemas.microsoft.com/office/drawing/2014/main" id="{CD19333B-DC46-4E8F-8D39-60416D53A2C5}"/>
              </a:ext>
            </a:extLst>
          </p:cNvPr>
          <p:cNvSpPr>
            <a:spLocks noGrp="1"/>
          </p:cNvSpPr>
          <p:nvPr/>
        </p:nvSpPr>
        <p:spPr>
          <a:xfrm>
            <a:off x="6191250" y="4619625"/>
            <a:ext cx="4095751" cy="914400"/>
          </a:xfrm>
          <a:prstGeom prst="roundRect">
            <a:avLst>
              <a:gd name="adj" fmla="val 6250"/>
            </a:avLst>
          </a:prstGeom>
          <a:solidFill>
            <a:srgbClr val="EAF3FC"/>
          </a:solidFill>
          <a:ln w="9525">
            <a:solidFill>
              <a:srgbClr val="B7D4EF"/>
            </a:solidFill>
            <a:prstDash val="solid"/>
          </a:ln>
        </p:spPr>
        <p:txBody>
          <a:bodyPr/>
          <a:lstStyle/>
          <a:p>
            <a:endParaRPr lang="en-IN"/>
          </a:p>
        </p:txBody>
      </p:sp>
      <p:sp>
        <p:nvSpPr>
          <p:cNvPr id="24" name="Rectangle 23">
            <a:extLst>
              <a:ext uri="{FF2B5EF4-FFF2-40B4-BE49-F238E27FC236}">
                <a16:creationId xmlns:a16="http://schemas.microsoft.com/office/drawing/2014/main" id="{C043DB8D-8990-47A1-8E62-CFCC15377F3E}"/>
              </a:ext>
            </a:extLst>
          </p:cNvPr>
          <p:cNvSpPr>
            <a:spLocks noGrp="1"/>
          </p:cNvSpPr>
          <p:nvPr/>
        </p:nvSpPr>
        <p:spPr>
          <a:xfrm>
            <a:off x="6477000" y="4876801"/>
            <a:ext cx="3429000" cy="361951"/>
          </a:xfrm>
          <a:prstGeom prst="rect">
            <a:avLst/>
          </a:prstGeom>
          <a:noFill/>
          <a:ln w="0">
            <a:noFill/>
            <a:prstDash val="solid"/>
          </a:ln>
        </p:spPr>
        <p:txBody>
          <a:bodyPr/>
          <a:lstStyle/>
          <a:p>
            <a:pPr algn="l">
              <a:defRPr sz="1650" b="1">
                <a:solidFill>
                  <a:srgbClr val="1F5D99"/>
                </a:solidFill>
              </a:defRPr>
            </a:pPr>
            <a:r>
              <a:rPr sz="1651" b="1">
                <a:solidFill>
                  <a:srgbClr val="1F5D99"/>
                </a:solidFill>
              </a:rPr>
              <a:t>Interview cue: String vs SecureString</a:t>
            </a:r>
          </a:p>
        </p:txBody>
      </p:sp>
    </p:spTree>
    <p:extLst>
      <p:ext uri="{BB962C8B-B14F-4D97-AF65-F5344CB8AC3E}">
        <p14:creationId xmlns:p14="http://schemas.microsoft.com/office/powerpoint/2010/main" val="14489556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6CCEBDC-63CA-416E-8E66-87C5C5B320FD}"/>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B99250F6-F635-4649-90B0-EC5A9B6887D2}"/>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Module 8 · Recap</a:t>
            </a:r>
          </a:p>
        </p:txBody>
      </p:sp>
      <p:sp>
        <p:nvSpPr>
          <p:cNvPr id="3" name="Rectangle 2">
            <a:extLst>
              <a:ext uri="{FF2B5EF4-FFF2-40B4-BE49-F238E27FC236}">
                <a16:creationId xmlns:a16="http://schemas.microsoft.com/office/drawing/2014/main" id="{9F61C440-33E5-47A0-85ED-5B050D8D204C}"/>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35</a:t>
            </a:r>
          </a:p>
        </p:txBody>
      </p:sp>
      <p:sp>
        <p:nvSpPr>
          <p:cNvPr id="4" name="Rectangle 3">
            <a:extLst>
              <a:ext uri="{FF2B5EF4-FFF2-40B4-BE49-F238E27FC236}">
                <a16:creationId xmlns:a16="http://schemas.microsoft.com/office/drawing/2014/main" id="{672EEB33-AA29-471E-A0C6-9AB9F37D2A50}"/>
              </a:ext>
            </a:extLst>
          </p:cNvPr>
          <p:cNvSpPr>
            <a:spLocks noGrp="1"/>
          </p:cNvSpPr>
          <p:nvPr/>
        </p:nvSpPr>
        <p:spPr>
          <a:xfrm>
            <a:off x="685801" y="685800"/>
            <a:ext cx="9195954" cy="552451"/>
          </a:xfrm>
          <a:prstGeom prst="rect">
            <a:avLst/>
          </a:prstGeom>
          <a:noFill/>
          <a:ln w="0">
            <a:noFill/>
            <a:prstDash val="solid"/>
          </a:ln>
        </p:spPr>
        <p:txBody>
          <a:bodyPr/>
          <a:lstStyle/>
          <a:p>
            <a:pPr algn="l">
              <a:defRPr sz="3000" b="1">
                <a:solidFill>
                  <a:srgbClr val="12233F"/>
                </a:solidFill>
              </a:defRPr>
            </a:pPr>
            <a:r>
              <a:rPr sz="3000" b="1" dirty="0">
                <a:solidFill>
                  <a:srgbClr val="12233F"/>
                </a:solidFill>
              </a:rPr>
              <a:t>Systems Manager Parameter Store: what to remember</a:t>
            </a:r>
          </a:p>
        </p:txBody>
      </p:sp>
      <p:sp>
        <p:nvSpPr>
          <p:cNvPr id="5" name="Rectangle 4">
            <a:extLst>
              <a:ext uri="{FF2B5EF4-FFF2-40B4-BE49-F238E27FC236}">
                <a16:creationId xmlns:a16="http://schemas.microsoft.com/office/drawing/2014/main" id="{6EAEE274-8968-4509-9152-09DA3B58A353}"/>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Close the module with practical rules and common questions.</a:t>
            </a:r>
          </a:p>
        </p:txBody>
      </p:sp>
      <p:sp>
        <p:nvSpPr>
          <p:cNvPr id="6" name="Rectangle 5">
            <a:extLst>
              <a:ext uri="{FF2B5EF4-FFF2-40B4-BE49-F238E27FC236}">
                <a16:creationId xmlns:a16="http://schemas.microsoft.com/office/drawing/2014/main" id="{1B42EF14-EBE7-4579-913F-80A9881E1075}"/>
              </a:ext>
            </a:extLst>
          </p:cNvPr>
          <p:cNvSpPr>
            <a:spLocks noGrp="1"/>
          </p:cNvSpPr>
          <p:nvPr/>
        </p:nvSpPr>
        <p:spPr>
          <a:xfrm>
            <a:off x="857251"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Common questions</a:t>
            </a:r>
          </a:p>
        </p:txBody>
      </p:sp>
      <p:sp>
        <p:nvSpPr>
          <p:cNvPr id="7" name="Rectangle 6">
            <a:extLst>
              <a:ext uri="{FF2B5EF4-FFF2-40B4-BE49-F238E27FC236}">
                <a16:creationId xmlns:a16="http://schemas.microsoft.com/office/drawing/2014/main" id="{20AABE63-9395-4A6D-A39E-41ECDB4C0D71}"/>
              </a:ext>
            </a:extLst>
          </p:cNvPr>
          <p:cNvSpPr>
            <a:spLocks noGrp="1"/>
          </p:cNvSpPr>
          <p:nvPr/>
        </p:nvSpPr>
        <p:spPr>
          <a:xfrm>
            <a:off x="952501" y="2571751"/>
            <a:ext cx="4381500" cy="1524000"/>
          </a:xfrm>
          <a:prstGeom prst="rect">
            <a:avLst/>
          </a:prstGeom>
          <a:noFill/>
          <a:ln w="0">
            <a:noFill/>
            <a:prstDash val="solid"/>
          </a:ln>
        </p:spPr>
        <p:txBody>
          <a:bodyPr/>
          <a:lstStyle/>
          <a:p>
            <a:pPr algn="l">
              <a:defRPr sz="1800" b="0">
                <a:solidFill>
                  <a:srgbClr val="334155"/>
                </a:solidFill>
              </a:defRPr>
            </a:pPr>
            <a:r>
              <a:rPr>
                <a:solidFill>
                  <a:srgbClr val="334155"/>
                </a:solidFill>
              </a:rPr>
              <a:t>• String vs SecureString</a:t>
            </a:r>
          </a:p>
          <a:p>
            <a:pPr algn="l">
              <a:defRPr sz="1800" b="0">
                <a:solidFill>
                  <a:srgbClr val="334155"/>
                </a:solidFill>
              </a:defRPr>
            </a:pPr>
            <a:r>
              <a:rPr>
                <a:solidFill>
                  <a:srgbClr val="334155"/>
                </a:solidFill>
              </a:rPr>
              <a:t>• Parameter Store vs Secrets Manager</a:t>
            </a:r>
          </a:p>
          <a:p>
            <a:pPr algn="l">
              <a:defRPr sz="1800" b="0">
                <a:solidFill>
                  <a:srgbClr val="334155"/>
                </a:solidFill>
              </a:defRPr>
            </a:pPr>
            <a:r>
              <a:rPr>
                <a:solidFill>
                  <a:srgbClr val="334155"/>
                </a:solidFill>
              </a:rPr>
              <a:t>• How does KMS support SecureString?</a:t>
            </a:r>
          </a:p>
        </p:txBody>
      </p:sp>
      <p:sp>
        <p:nvSpPr>
          <p:cNvPr id="8" name="Rectangle 7">
            <a:extLst>
              <a:ext uri="{FF2B5EF4-FFF2-40B4-BE49-F238E27FC236}">
                <a16:creationId xmlns:a16="http://schemas.microsoft.com/office/drawing/2014/main" id="{E55FC925-E1B5-45D7-BC3E-A63A81D6B515}"/>
              </a:ext>
            </a:extLst>
          </p:cNvPr>
          <p:cNvSpPr>
            <a:spLocks noGrp="1"/>
          </p:cNvSpPr>
          <p:nvPr/>
        </p:nvSpPr>
        <p:spPr>
          <a:xfrm>
            <a:off x="6334125" y="2000249"/>
            <a:ext cx="3429000" cy="323851"/>
          </a:xfrm>
          <a:prstGeom prst="rect">
            <a:avLst/>
          </a:prstGeom>
          <a:noFill/>
          <a:ln w="0">
            <a:noFill/>
            <a:prstDash val="solid"/>
          </a:ln>
        </p:spPr>
        <p:txBody>
          <a:bodyPr/>
          <a:lstStyle/>
          <a:p>
            <a:pPr algn="l">
              <a:defRPr sz="2100" b="1">
                <a:solidFill>
                  <a:srgbClr val="12233F"/>
                </a:solidFill>
              </a:defRPr>
            </a:pPr>
            <a:r>
              <a:rPr sz="2100" b="1">
                <a:solidFill>
                  <a:srgbClr val="12233F"/>
                </a:solidFill>
              </a:rPr>
              <a:t>One-line memory hook</a:t>
            </a:r>
          </a:p>
        </p:txBody>
      </p:sp>
      <p:sp>
        <p:nvSpPr>
          <p:cNvPr id="9" name="Rectangle: Rounded Corners 8">
            <a:extLst>
              <a:ext uri="{FF2B5EF4-FFF2-40B4-BE49-F238E27FC236}">
                <a16:creationId xmlns:a16="http://schemas.microsoft.com/office/drawing/2014/main" id="{15450F00-1BC8-4B43-AA8D-1006B5635ADD}"/>
              </a:ext>
            </a:extLst>
          </p:cNvPr>
          <p:cNvSpPr>
            <a:spLocks noGrp="1"/>
          </p:cNvSpPr>
          <p:nvPr/>
        </p:nvSpPr>
        <p:spPr>
          <a:xfrm>
            <a:off x="6191249" y="2571751"/>
            <a:ext cx="4286251" cy="1524000"/>
          </a:xfrm>
          <a:prstGeom prst="roundRect">
            <a:avLst>
              <a:gd name="adj" fmla="val 3750"/>
            </a:avLst>
          </a:prstGeom>
          <a:solidFill>
            <a:srgbClr val="12233F"/>
          </a:solidFill>
          <a:ln w="9525">
            <a:solidFill>
              <a:srgbClr val="12233F"/>
            </a:solidFill>
            <a:prstDash val="solid"/>
          </a:ln>
        </p:spPr>
        <p:txBody>
          <a:bodyPr/>
          <a:lstStyle/>
          <a:p>
            <a:endParaRPr lang="en-IN"/>
          </a:p>
        </p:txBody>
      </p:sp>
      <p:sp>
        <p:nvSpPr>
          <p:cNvPr id="10" name="Rectangle 9">
            <a:extLst>
              <a:ext uri="{FF2B5EF4-FFF2-40B4-BE49-F238E27FC236}">
                <a16:creationId xmlns:a16="http://schemas.microsoft.com/office/drawing/2014/main" id="{BAAD89B8-09C3-40F5-A976-3440B60CE56A}"/>
              </a:ext>
            </a:extLst>
          </p:cNvPr>
          <p:cNvSpPr>
            <a:spLocks noGrp="1"/>
          </p:cNvSpPr>
          <p:nvPr/>
        </p:nvSpPr>
        <p:spPr>
          <a:xfrm>
            <a:off x="6534151" y="2952749"/>
            <a:ext cx="3619500" cy="781051"/>
          </a:xfrm>
          <a:prstGeom prst="rect">
            <a:avLst/>
          </a:prstGeom>
          <a:noFill/>
          <a:ln w="0">
            <a:noFill/>
            <a:prstDash val="solid"/>
          </a:ln>
        </p:spPr>
        <p:txBody>
          <a:bodyPr/>
          <a:lstStyle/>
          <a:p>
            <a:pPr algn="ctr">
              <a:defRPr sz="2100" b="1">
                <a:solidFill>
                  <a:srgbClr val="FFFFFF"/>
                </a:solidFill>
              </a:defRPr>
            </a:pPr>
            <a:r>
              <a:rPr sz="2100" b="1">
                <a:solidFill>
                  <a:srgbClr val="FFFFFF"/>
                </a:solidFill>
              </a:rPr>
              <a:t>Parameter Store centralizes app configuration.</a:t>
            </a:r>
          </a:p>
        </p:txBody>
      </p:sp>
    </p:spTree>
    <p:extLst>
      <p:ext uri="{BB962C8B-B14F-4D97-AF65-F5344CB8AC3E}">
        <p14:creationId xmlns:p14="http://schemas.microsoft.com/office/powerpoint/2010/main" val="14609202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7237AD4-AF31-419F-B125-2E923BD5A5C6}"/>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F49F6526-8ACB-470F-A258-CB93C32BD197}"/>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Comparison guide</a:t>
            </a:r>
          </a:p>
        </p:txBody>
      </p:sp>
      <p:sp>
        <p:nvSpPr>
          <p:cNvPr id="3" name="Rectangle 2">
            <a:extLst>
              <a:ext uri="{FF2B5EF4-FFF2-40B4-BE49-F238E27FC236}">
                <a16:creationId xmlns:a16="http://schemas.microsoft.com/office/drawing/2014/main" id="{BB3FEAF3-3D11-4E83-A188-75CA38B1B0E9}"/>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36</a:t>
            </a:r>
          </a:p>
        </p:txBody>
      </p:sp>
      <p:sp>
        <p:nvSpPr>
          <p:cNvPr id="4" name="Rectangle 3">
            <a:extLst>
              <a:ext uri="{FF2B5EF4-FFF2-40B4-BE49-F238E27FC236}">
                <a16:creationId xmlns:a16="http://schemas.microsoft.com/office/drawing/2014/main" id="{0842CA6C-911E-4D3A-B98F-19433D108F00}"/>
              </a:ext>
            </a:extLst>
          </p:cNvPr>
          <p:cNvSpPr>
            <a:spLocks noGrp="1"/>
          </p:cNvSpPr>
          <p:nvPr/>
        </p:nvSpPr>
        <p:spPr>
          <a:xfrm>
            <a:off x="685801" y="685800"/>
            <a:ext cx="8191500" cy="552451"/>
          </a:xfrm>
          <a:prstGeom prst="rect">
            <a:avLst/>
          </a:prstGeom>
          <a:noFill/>
          <a:ln w="0">
            <a:noFill/>
            <a:prstDash val="solid"/>
          </a:ln>
        </p:spPr>
        <p:txBody>
          <a:bodyPr/>
          <a:lstStyle/>
          <a:p>
            <a:pPr algn="l">
              <a:defRPr sz="3000" b="1">
                <a:solidFill>
                  <a:srgbClr val="12233F"/>
                </a:solidFill>
              </a:defRPr>
            </a:pPr>
            <a:r>
              <a:rPr sz="3000" b="1">
                <a:solidFill>
                  <a:srgbClr val="12233F"/>
                </a:solidFill>
              </a:rPr>
              <a:t>Choose the service by the problem you are solving</a:t>
            </a:r>
          </a:p>
        </p:txBody>
      </p:sp>
      <p:sp>
        <p:nvSpPr>
          <p:cNvPr id="5" name="Rectangle 4">
            <a:extLst>
              <a:ext uri="{FF2B5EF4-FFF2-40B4-BE49-F238E27FC236}">
                <a16:creationId xmlns:a16="http://schemas.microsoft.com/office/drawing/2014/main" id="{D037BED5-6DBE-4E39-BA64-850F4B5FB9F1}"/>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These comparisons are the easiest way to answer interview questions.</a:t>
            </a:r>
          </a:p>
        </p:txBody>
      </p:sp>
      <p:sp>
        <p:nvSpPr>
          <p:cNvPr id="6" name="Rectangle: Rounded Corners 5">
            <a:extLst>
              <a:ext uri="{FF2B5EF4-FFF2-40B4-BE49-F238E27FC236}">
                <a16:creationId xmlns:a16="http://schemas.microsoft.com/office/drawing/2014/main" id="{537B075F-649D-4F57-BA4F-E3947ED9C51F}"/>
              </a:ext>
            </a:extLst>
          </p:cNvPr>
          <p:cNvSpPr>
            <a:spLocks noGrp="1"/>
          </p:cNvSpPr>
          <p:nvPr/>
        </p:nvSpPr>
        <p:spPr>
          <a:xfrm>
            <a:off x="857250" y="1857375"/>
            <a:ext cx="2190751" cy="552451"/>
          </a:xfrm>
          <a:prstGeom prst="roundRect">
            <a:avLst>
              <a:gd name="adj" fmla="val 10345"/>
            </a:avLst>
          </a:prstGeom>
          <a:solidFill>
            <a:srgbClr val="12233F"/>
          </a:solidFill>
          <a:ln w="9525">
            <a:solidFill>
              <a:srgbClr val="12233F"/>
            </a:solidFill>
            <a:prstDash val="solid"/>
          </a:ln>
        </p:spPr>
        <p:txBody>
          <a:bodyPr anchor="ctr"/>
          <a:lstStyle/>
          <a:p>
            <a:endParaRPr lang="en-IN"/>
          </a:p>
        </p:txBody>
      </p:sp>
      <p:sp>
        <p:nvSpPr>
          <p:cNvPr id="7" name="Rectangle 6">
            <a:extLst>
              <a:ext uri="{FF2B5EF4-FFF2-40B4-BE49-F238E27FC236}">
                <a16:creationId xmlns:a16="http://schemas.microsoft.com/office/drawing/2014/main" id="{085EC279-2995-46D7-82CE-E9777CF22072}"/>
              </a:ext>
            </a:extLst>
          </p:cNvPr>
          <p:cNvSpPr>
            <a:spLocks noGrp="1"/>
          </p:cNvSpPr>
          <p:nvPr/>
        </p:nvSpPr>
        <p:spPr>
          <a:xfrm>
            <a:off x="1028700" y="2000249"/>
            <a:ext cx="1847851" cy="247651"/>
          </a:xfrm>
          <a:prstGeom prst="rect">
            <a:avLst/>
          </a:prstGeom>
          <a:noFill/>
          <a:ln w="0">
            <a:noFill/>
            <a:prstDash val="solid"/>
          </a:ln>
        </p:spPr>
        <p:txBody>
          <a:bodyPr anchor="ctr"/>
          <a:lstStyle/>
          <a:p>
            <a:pPr>
              <a:defRPr sz="1350" b="1">
                <a:solidFill>
                  <a:srgbClr val="FFFFFF"/>
                </a:solidFill>
              </a:defRPr>
            </a:pPr>
            <a:r>
              <a:rPr sz="1351" b="1">
                <a:solidFill>
                  <a:srgbClr val="FFFFFF"/>
                </a:solidFill>
              </a:rPr>
              <a:t>Lambda vs EC2</a:t>
            </a:r>
          </a:p>
        </p:txBody>
      </p:sp>
      <p:sp>
        <p:nvSpPr>
          <p:cNvPr id="8" name="Rectangle 7">
            <a:extLst>
              <a:ext uri="{FF2B5EF4-FFF2-40B4-BE49-F238E27FC236}">
                <a16:creationId xmlns:a16="http://schemas.microsoft.com/office/drawing/2014/main" id="{19629CC6-83C4-4208-9F8A-24E3D8E4CCD6}"/>
              </a:ext>
            </a:extLst>
          </p:cNvPr>
          <p:cNvSpPr>
            <a:spLocks noGrp="1"/>
          </p:cNvSpPr>
          <p:nvPr/>
        </p:nvSpPr>
        <p:spPr>
          <a:xfrm>
            <a:off x="3333751" y="1914525"/>
            <a:ext cx="6858000" cy="457200"/>
          </a:xfrm>
          <a:prstGeom prst="rect">
            <a:avLst/>
          </a:prstGeom>
          <a:noFill/>
          <a:ln w="0">
            <a:noFill/>
            <a:prstDash val="solid"/>
          </a:ln>
        </p:spPr>
        <p:txBody>
          <a:bodyPr/>
          <a:lstStyle/>
          <a:p>
            <a:pPr algn="l">
              <a:defRPr sz="1575" b="0">
                <a:solidFill>
                  <a:srgbClr val="334155"/>
                </a:solidFill>
              </a:defRPr>
            </a:pPr>
            <a:r>
              <a:rPr sz="1575">
                <a:solidFill>
                  <a:srgbClr val="334155"/>
                </a:solidFill>
              </a:rPr>
              <a:t>Use Lambda for event-driven functions; use EC2 when you manage long-running servers.</a:t>
            </a:r>
          </a:p>
        </p:txBody>
      </p:sp>
      <p:sp>
        <p:nvSpPr>
          <p:cNvPr id="9" name="Rectangle: Rounded Corners 8">
            <a:extLst>
              <a:ext uri="{FF2B5EF4-FFF2-40B4-BE49-F238E27FC236}">
                <a16:creationId xmlns:a16="http://schemas.microsoft.com/office/drawing/2014/main" id="{E0C71760-44E6-43E3-B693-732AFF9E8F29}"/>
              </a:ext>
            </a:extLst>
          </p:cNvPr>
          <p:cNvSpPr>
            <a:spLocks noGrp="1"/>
          </p:cNvSpPr>
          <p:nvPr/>
        </p:nvSpPr>
        <p:spPr>
          <a:xfrm>
            <a:off x="857250" y="2790825"/>
            <a:ext cx="2190751" cy="552451"/>
          </a:xfrm>
          <a:prstGeom prst="roundRect">
            <a:avLst>
              <a:gd name="adj" fmla="val 10345"/>
            </a:avLst>
          </a:prstGeom>
          <a:solidFill>
            <a:srgbClr val="12233F"/>
          </a:solidFill>
          <a:ln w="9525">
            <a:solidFill>
              <a:srgbClr val="12233F"/>
            </a:solidFill>
            <a:prstDash val="solid"/>
          </a:ln>
        </p:spPr>
        <p:txBody>
          <a:bodyPr anchor="ctr"/>
          <a:lstStyle/>
          <a:p>
            <a:endParaRPr lang="en-IN"/>
          </a:p>
        </p:txBody>
      </p:sp>
      <p:sp>
        <p:nvSpPr>
          <p:cNvPr id="10" name="Rectangle 9">
            <a:extLst>
              <a:ext uri="{FF2B5EF4-FFF2-40B4-BE49-F238E27FC236}">
                <a16:creationId xmlns:a16="http://schemas.microsoft.com/office/drawing/2014/main" id="{9DA754F3-012C-44A5-A9DF-C5B8E77FD4CF}"/>
              </a:ext>
            </a:extLst>
          </p:cNvPr>
          <p:cNvSpPr>
            <a:spLocks noGrp="1"/>
          </p:cNvSpPr>
          <p:nvPr/>
        </p:nvSpPr>
        <p:spPr>
          <a:xfrm>
            <a:off x="1028700" y="2933700"/>
            <a:ext cx="1847851" cy="247651"/>
          </a:xfrm>
          <a:prstGeom prst="rect">
            <a:avLst/>
          </a:prstGeom>
          <a:noFill/>
          <a:ln w="0">
            <a:noFill/>
            <a:prstDash val="solid"/>
          </a:ln>
        </p:spPr>
        <p:txBody>
          <a:bodyPr anchor="ctr"/>
          <a:lstStyle/>
          <a:p>
            <a:pPr>
              <a:defRPr sz="1350" b="1">
                <a:solidFill>
                  <a:srgbClr val="FFFFFF"/>
                </a:solidFill>
              </a:defRPr>
            </a:pPr>
            <a:r>
              <a:rPr sz="1351" b="1">
                <a:solidFill>
                  <a:srgbClr val="FFFFFF"/>
                </a:solidFill>
              </a:rPr>
              <a:t>SQS vs Amazon MQ</a:t>
            </a:r>
          </a:p>
        </p:txBody>
      </p:sp>
      <p:sp>
        <p:nvSpPr>
          <p:cNvPr id="11" name="Rectangle 10">
            <a:extLst>
              <a:ext uri="{FF2B5EF4-FFF2-40B4-BE49-F238E27FC236}">
                <a16:creationId xmlns:a16="http://schemas.microsoft.com/office/drawing/2014/main" id="{B15C1600-6C83-438A-B640-CBFFB10D997A}"/>
              </a:ext>
            </a:extLst>
          </p:cNvPr>
          <p:cNvSpPr>
            <a:spLocks noGrp="1"/>
          </p:cNvSpPr>
          <p:nvPr/>
        </p:nvSpPr>
        <p:spPr>
          <a:xfrm>
            <a:off x="3333751" y="2847975"/>
            <a:ext cx="6858000" cy="457200"/>
          </a:xfrm>
          <a:prstGeom prst="rect">
            <a:avLst/>
          </a:prstGeom>
          <a:noFill/>
          <a:ln w="0">
            <a:noFill/>
            <a:prstDash val="solid"/>
          </a:ln>
        </p:spPr>
        <p:txBody>
          <a:bodyPr/>
          <a:lstStyle/>
          <a:p>
            <a:pPr algn="l">
              <a:defRPr sz="1575" b="0">
                <a:solidFill>
                  <a:srgbClr val="334155"/>
                </a:solidFill>
              </a:defRPr>
            </a:pPr>
            <a:r>
              <a:rPr sz="1575">
                <a:solidFill>
                  <a:srgbClr val="334155"/>
                </a:solidFill>
              </a:rPr>
              <a:t>Use SQS for cloud-native queues; use MQ for broker protocol compatibility.</a:t>
            </a:r>
          </a:p>
        </p:txBody>
      </p:sp>
      <p:sp>
        <p:nvSpPr>
          <p:cNvPr id="12" name="Rectangle: Rounded Corners 11">
            <a:extLst>
              <a:ext uri="{FF2B5EF4-FFF2-40B4-BE49-F238E27FC236}">
                <a16:creationId xmlns:a16="http://schemas.microsoft.com/office/drawing/2014/main" id="{9ED2BB72-521B-4CFC-BA54-D846E2CDC7F0}"/>
              </a:ext>
            </a:extLst>
          </p:cNvPr>
          <p:cNvSpPr>
            <a:spLocks noGrp="1"/>
          </p:cNvSpPr>
          <p:nvPr/>
        </p:nvSpPr>
        <p:spPr>
          <a:xfrm>
            <a:off x="857250" y="3724275"/>
            <a:ext cx="2190751" cy="552451"/>
          </a:xfrm>
          <a:prstGeom prst="roundRect">
            <a:avLst>
              <a:gd name="adj" fmla="val 10345"/>
            </a:avLst>
          </a:prstGeom>
          <a:solidFill>
            <a:srgbClr val="12233F"/>
          </a:solidFill>
          <a:ln w="9525">
            <a:solidFill>
              <a:srgbClr val="12233F"/>
            </a:solidFill>
            <a:prstDash val="solid"/>
          </a:ln>
        </p:spPr>
        <p:txBody>
          <a:bodyPr anchor="ctr"/>
          <a:lstStyle/>
          <a:p>
            <a:endParaRPr lang="en-IN"/>
          </a:p>
        </p:txBody>
      </p:sp>
      <p:sp>
        <p:nvSpPr>
          <p:cNvPr id="13" name="Rectangle 12">
            <a:extLst>
              <a:ext uri="{FF2B5EF4-FFF2-40B4-BE49-F238E27FC236}">
                <a16:creationId xmlns:a16="http://schemas.microsoft.com/office/drawing/2014/main" id="{B362F5F8-7E4E-445E-A736-E0F2E8757CC5}"/>
              </a:ext>
            </a:extLst>
          </p:cNvPr>
          <p:cNvSpPr>
            <a:spLocks noGrp="1"/>
          </p:cNvSpPr>
          <p:nvPr/>
        </p:nvSpPr>
        <p:spPr>
          <a:xfrm>
            <a:off x="1028700" y="3867149"/>
            <a:ext cx="1847851" cy="247651"/>
          </a:xfrm>
          <a:prstGeom prst="rect">
            <a:avLst/>
          </a:prstGeom>
          <a:noFill/>
          <a:ln w="0">
            <a:noFill/>
            <a:prstDash val="solid"/>
          </a:ln>
        </p:spPr>
        <p:txBody>
          <a:bodyPr anchor="ctr"/>
          <a:lstStyle/>
          <a:p>
            <a:pPr>
              <a:defRPr sz="1350" b="1">
                <a:solidFill>
                  <a:srgbClr val="FFFFFF"/>
                </a:solidFill>
              </a:defRPr>
            </a:pPr>
            <a:r>
              <a:rPr sz="1351" b="1">
                <a:solidFill>
                  <a:srgbClr val="FFFFFF"/>
                </a:solidFill>
              </a:rPr>
              <a:t>Secrets Manager vs Parameter Store</a:t>
            </a:r>
          </a:p>
        </p:txBody>
      </p:sp>
      <p:sp>
        <p:nvSpPr>
          <p:cNvPr id="14" name="Rectangle 13">
            <a:extLst>
              <a:ext uri="{FF2B5EF4-FFF2-40B4-BE49-F238E27FC236}">
                <a16:creationId xmlns:a16="http://schemas.microsoft.com/office/drawing/2014/main" id="{0F64E19F-0316-463B-80FA-2A49C16EE95E}"/>
              </a:ext>
            </a:extLst>
          </p:cNvPr>
          <p:cNvSpPr>
            <a:spLocks noGrp="1"/>
          </p:cNvSpPr>
          <p:nvPr/>
        </p:nvSpPr>
        <p:spPr>
          <a:xfrm>
            <a:off x="3333751" y="3781425"/>
            <a:ext cx="6858000" cy="457200"/>
          </a:xfrm>
          <a:prstGeom prst="rect">
            <a:avLst/>
          </a:prstGeom>
          <a:noFill/>
          <a:ln w="0">
            <a:noFill/>
            <a:prstDash val="solid"/>
          </a:ln>
        </p:spPr>
        <p:txBody>
          <a:bodyPr/>
          <a:lstStyle/>
          <a:p>
            <a:pPr algn="l">
              <a:defRPr sz="1575" b="0">
                <a:solidFill>
                  <a:srgbClr val="334155"/>
                </a:solidFill>
              </a:defRPr>
            </a:pPr>
            <a:r>
              <a:rPr sz="1575">
                <a:solidFill>
                  <a:srgbClr val="334155"/>
                </a:solidFill>
              </a:rPr>
              <a:t>Use Secrets Manager for rotating credentials; use Parameter Store for configuration.</a:t>
            </a:r>
          </a:p>
        </p:txBody>
      </p:sp>
      <p:sp>
        <p:nvSpPr>
          <p:cNvPr id="15" name="Rectangle: Rounded Corners 14">
            <a:extLst>
              <a:ext uri="{FF2B5EF4-FFF2-40B4-BE49-F238E27FC236}">
                <a16:creationId xmlns:a16="http://schemas.microsoft.com/office/drawing/2014/main" id="{C9B417BE-90C9-49D5-8251-7AEC77E243B5}"/>
              </a:ext>
            </a:extLst>
          </p:cNvPr>
          <p:cNvSpPr>
            <a:spLocks noGrp="1"/>
          </p:cNvSpPr>
          <p:nvPr/>
        </p:nvSpPr>
        <p:spPr>
          <a:xfrm>
            <a:off x="857250" y="4657725"/>
            <a:ext cx="2190751" cy="552451"/>
          </a:xfrm>
          <a:prstGeom prst="roundRect">
            <a:avLst>
              <a:gd name="adj" fmla="val 10345"/>
            </a:avLst>
          </a:prstGeom>
          <a:solidFill>
            <a:srgbClr val="12233F"/>
          </a:solidFill>
          <a:ln w="9525">
            <a:solidFill>
              <a:srgbClr val="12233F"/>
            </a:solidFill>
            <a:prstDash val="solid"/>
          </a:ln>
        </p:spPr>
        <p:txBody>
          <a:bodyPr anchor="ctr"/>
          <a:lstStyle/>
          <a:p>
            <a:endParaRPr lang="en-IN"/>
          </a:p>
        </p:txBody>
      </p:sp>
      <p:sp>
        <p:nvSpPr>
          <p:cNvPr id="16" name="Rectangle 15">
            <a:extLst>
              <a:ext uri="{FF2B5EF4-FFF2-40B4-BE49-F238E27FC236}">
                <a16:creationId xmlns:a16="http://schemas.microsoft.com/office/drawing/2014/main" id="{FB99C52C-B12E-461F-BAEA-BCC29A924ECA}"/>
              </a:ext>
            </a:extLst>
          </p:cNvPr>
          <p:cNvSpPr>
            <a:spLocks noGrp="1"/>
          </p:cNvSpPr>
          <p:nvPr/>
        </p:nvSpPr>
        <p:spPr>
          <a:xfrm>
            <a:off x="1028700" y="4800600"/>
            <a:ext cx="1847851" cy="247651"/>
          </a:xfrm>
          <a:prstGeom prst="rect">
            <a:avLst/>
          </a:prstGeom>
          <a:noFill/>
          <a:ln w="0">
            <a:noFill/>
            <a:prstDash val="solid"/>
          </a:ln>
        </p:spPr>
        <p:txBody>
          <a:bodyPr anchor="ctr"/>
          <a:lstStyle/>
          <a:p>
            <a:pPr>
              <a:defRPr sz="1350" b="1">
                <a:solidFill>
                  <a:srgbClr val="FFFFFF"/>
                </a:solidFill>
              </a:defRPr>
            </a:pPr>
            <a:r>
              <a:rPr sz="1351" b="1">
                <a:solidFill>
                  <a:srgbClr val="FFFFFF"/>
                </a:solidFill>
              </a:rPr>
              <a:t>WAF vs Security Groups</a:t>
            </a:r>
          </a:p>
        </p:txBody>
      </p:sp>
      <p:sp>
        <p:nvSpPr>
          <p:cNvPr id="17" name="Rectangle 16">
            <a:extLst>
              <a:ext uri="{FF2B5EF4-FFF2-40B4-BE49-F238E27FC236}">
                <a16:creationId xmlns:a16="http://schemas.microsoft.com/office/drawing/2014/main" id="{48D974A3-0051-47EA-B9DF-224B66CF04DD}"/>
              </a:ext>
            </a:extLst>
          </p:cNvPr>
          <p:cNvSpPr>
            <a:spLocks noGrp="1"/>
          </p:cNvSpPr>
          <p:nvPr/>
        </p:nvSpPr>
        <p:spPr>
          <a:xfrm>
            <a:off x="3333751" y="4714875"/>
            <a:ext cx="6858000" cy="457200"/>
          </a:xfrm>
          <a:prstGeom prst="rect">
            <a:avLst/>
          </a:prstGeom>
          <a:noFill/>
          <a:ln w="0">
            <a:noFill/>
            <a:prstDash val="solid"/>
          </a:ln>
        </p:spPr>
        <p:txBody>
          <a:bodyPr/>
          <a:lstStyle/>
          <a:p>
            <a:pPr algn="l">
              <a:defRPr sz="1575" b="0">
                <a:solidFill>
                  <a:srgbClr val="334155"/>
                </a:solidFill>
              </a:defRPr>
            </a:pPr>
            <a:r>
              <a:rPr sz="1575">
                <a:solidFill>
                  <a:srgbClr val="334155"/>
                </a:solidFill>
              </a:rPr>
              <a:t>WAF filters web requests; security groups filter network access.</a:t>
            </a:r>
          </a:p>
        </p:txBody>
      </p:sp>
    </p:spTree>
    <p:extLst>
      <p:ext uri="{BB962C8B-B14F-4D97-AF65-F5344CB8AC3E}">
        <p14:creationId xmlns:p14="http://schemas.microsoft.com/office/powerpoint/2010/main" val="8631906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BDC6183C-419D-4098-9219-3E34AB928CEF}"/>
              </a:ext>
            </a:extLst>
          </p:cNvPr>
          <p:cNvSpPr>
            <a:spLocks noGrp="1"/>
          </p:cNvSpPr>
          <p:nvPr/>
        </p:nvSpPr>
        <p:spPr>
          <a:xfrm>
            <a:off x="0" y="0"/>
            <a:ext cx="12192000" cy="762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D1D8837B-B021-4E7B-825E-074722C2E77A}"/>
              </a:ext>
            </a:extLst>
          </p:cNvPr>
          <p:cNvSpPr>
            <a:spLocks noGrp="1"/>
          </p:cNvSpPr>
          <p:nvPr/>
        </p:nvSpPr>
        <p:spPr>
          <a:xfrm>
            <a:off x="685800" y="304800"/>
            <a:ext cx="7239000" cy="228600"/>
          </a:xfrm>
          <a:prstGeom prst="rect">
            <a:avLst/>
          </a:prstGeom>
          <a:noFill/>
          <a:ln w="0">
            <a:noFill/>
            <a:prstDash val="solid"/>
          </a:ln>
        </p:spPr>
        <p:txBody>
          <a:bodyPr/>
          <a:lstStyle/>
          <a:p>
            <a:pPr algn="l">
              <a:defRPr sz="1125" b="1">
                <a:solidFill>
                  <a:srgbClr val="1F5D99"/>
                </a:solidFill>
              </a:defRPr>
            </a:pPr>
            <a:r>
              <a:rPr sz="1125" b="1">
                <a:solidFill>
                  <a:srgbClr val="1F5D99"/>
                </a:solidFill>
              </a:rPr>
              <a:t>Final integration</a:t>
            </a:r>
          </a:p>
        </p:txBody>
      </p:sp>
      <p:sp>
        <p:nvSpPr>
          <p:cNvPr id="3" name="Rectangle 2">
            <a:extLst>
              <a:ext uri="{FF2B5EF4-FFF2-40B4-BE49-F238E27FC236}">
                <a16:creationId xmlns:a16="http://schemas.microsoft.com/office/drawing/2014/main" id="{2B9BB797-CC4D-479E-9C9A-4445A738DAE0}"/>
              </a:ext>
            </a:extLst>
          </p:cNvPr>
          <p:cNvSpPr>
            <a:spLocks noGrp="1"/>
          </p:cNvSpPr>
          <p:nvPr/>
        </p:nvSpPr>
        <p:spPr>
          <a:xfrm>
            <a:off x="10572751" y="304800"/>
            <a:ext cx="914400" cy="228600"/>
          </a:xfrm>
          <a:prstGeom prst="rect">
            <a:avLst/>
          </a:prstGeom>
          <a:noFill/>
          <a:ln w="0">
            <a:noFill/>
            <a:prstDash val="solid"/>
          </a:ln>
        </p:spPr>
        <p:txBody>
          <a:bodyPr/>
          <a:lstStyle/>
          <a:p>
            <a:pPr algn="r">
              <a:defRPr sz="1050" b="0">
                <a:solidFill>
                  <a:srgbClr val="64748B"/>
                </a:solidFill>
              </a:defRPr>
            </a:pPr>
            <a:r>
              <a:rPr sz="1051">
                <a:solidFill>
                  <a:srgbClr val="64748B"/>
                </a:solidFill>
              </a:rPr>
              <a:t>37</a:t>
            </a:r>
          </a:p>
        </p:txBody>
      </p:sp>
      <p:sp>
        <p:nvSpPr>
          <p:cNvPr id="4" name="Rectangle 3">
            <a:extLst>
              <a:ext uri="{FF2B5EF4-FFF2-40B4-BE49-F238E27FC236}">
                <a16:creationId xmlns:a16="http://schemas.microsoft.com/office/drawing/2014/main" id="{3817F4F8-2B58-48DC-BB93-17F25579500F}"/>
              </a:ext>
            </a:extLst>
          </p:cNvPr>
          <p:cNvSpPr>
            <a:spLocks noGrp="1"/>
          </p:cNvSpPr>
          <p:nvPr/>
        </p:nvSpPr>
        <p:spPr>
          <a:xfrm>
            <a:off x="685800" y="685800"/>
            <a:ext cx="8763000" cy="552451"/>
          </a:xfrm>
          <a:prstGeom prst="rect">
            <a:avLst/>
          </a:prstGeom>
          <a:noFill/>
          <a:ln w="0">
            <a:noFill/>
            <a:prstDash val="solid"/>
          </a:ln>
        </p:spPr>
        <p:txBody>
          <a:bodyPr/>
          <a:lstStyle/>
          <a:p>
            <a:pPr algn="l">
              <a:defRPr sz="3000" b="1">
                <a:solidFill>
                  <a:srgbClr val="12233F"/>
                </a:solidFill>
              </a:defRPr>
            </a:pPr>
            <a:r>
              <a:rPr sz="3000" b="1" dirty="0">
                <a:solidFill>
                  <a:srgbClr val="12233F"/>
                </a:solidFill>
              </a:rPr>
              <a:t>All services combine into one secure AWS application</a:t>
            </a:r>
          </a:p>
        </p:txBody>
      </p:sp>
      <p:sp>
        <p:nvSpPr>
          <p:cNvPr id="5" name="Rectangle 4">
            <a:extLst>
              <a:ext uri="{FF2B5EF4-FFF2-40B4-BE49-F238E27FC236}">
                <a16:creationId xmlns:a16="http://schemas.microsoft.com/office/drawing/2014/main" id="{8F54CB2A-13F3-43B9-8371-2DE5C1E71489}"/>
              </a:ext>
            </a:extLst>
          </p:cNvPr>
          <p:cNvSpPr>
            <a:spLocks noGrp="1"/>
          </p:cNvSpPr>
          <p:nvPr/>
        </p:nvSpPr>
        <p:spPr>
          <a:xfrm>
            <a:off x="704851" y="1257300"/>
            <a:ext cx="7429500" cy="323851"/>
          </a:xfrm>
          <a:prstGeom prst="rect">
            <a:avLst/>
          </a:prstGeom>
          <a:noFill/>
          <a:ln w="0">
            <a:noFill/>
            <a:prstDash val="solid"/>
          </a:ln>
        </p:spPr>
        <p:txBody>
          <a:bodyPr/>
          <a:lstStyle/>
          <a:p>
            <a:pPr algn="l">
              <a:defRPr sz="1575" b="0">
                <a:solidFill>
                  <a:srgbClr val="64748B"/>
                </a:solidFill>
              </a:defRPr>
            </a:pPr>
            <a:r>
              <a:rPr sz="1575">
                <a:solidFill>
                  <a:srgbClr val="64748B"/>
                </a:solidFill>
              </a:rPr>
              <a:t>This is the end-to-end story you can explain in the meeting.</a:t>
            </a:r>
          </a:p>
        </p:txBody>
      </p:sp>
      <p:sp>
        <p:nvSpPr>
          <p:cNvPr id="6" name="Rectangle: Rounded Corners 5">
            <a:extLst>
              <a:ext uri="{FF2B5EF4-FFF2-40B4-BE49-F238E27FC236}">
                <a16:creationId xmlns:a16="http://schemas.microsoft.com/office/drawing/2014/main" id="{EBD3D3A9-743E-4474-9A82-B83E6A5B0451}"/>
              </a:ext>
            </a:extLst>
          </p:cNvPr>
          <p:cNvSpPr>
            <a:spLocks noGrp="1"/>
          </p:cNvSpPr>
          <p:nvPr/>
        </p:nvSpPr>
        <p:spPr>
          <a:xfrm>
            <a:off x="685800" y="1952625"/>
            <a:ext cx="1588771"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7" name="Rectangle 6">
            <a:extLst>
              <a:ext uri="{FF2B5EF4-FFF2-40B4-BE49-F238E27FC236}">
                <a16:creationId xmlns:a16="http://schemas.microsoft.com/office/drawing/2014/main" id="{ED65411F-AEE6-48F5-BEA6-198D93B550EF}"/>
              </a:ext>
            </a:extLst>
          </p:cNvPr>
          <p:cNvSpPr>
            <a:spLocks noGrp="1"/>
          </p:cNvSpPr>
          <p:nvPr/>
        </p:nvSpPr>
        <p:spPr>
          <a:xfrm>
            <a:off x="781050" y="2066926"/>
            <a:ext cx="1398271"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Users</a:t>
            </a:r>
          </a:p>
        </p:txBody>
      </p:sp>
      <p:sp>
        <p:nvSpPr>
          <p:cNvPr id="8" name="Arrow: Right 7">
            <a:extLst>
              <a:ext uri="{FF2B5EF4-FFF2-40B4-BE49-F238E27FC236}">
                <a16:creationId xmlns:a16="http://schemas.microsoft.com/office/drawing/2014/main" id="{1C8FE365-98E0-4468-B654-815B40DF8AAA}"/>
              </a:ext>
            </a:extLst>
          </p:cNvPr>
          <p:cNvSpPr>
            <a:spLocks noGrp="1"/>
          </p:cNvSpPr>
          <p:nvPr/>
        </p:nvSpPr>
        <p:spPr>
          <a:xfrm>
            <a:off x="2350771" y="2190750"/>
            <a:ext cx="76200" cy="209551"/>
          </a:xfrm>
          <a:prstGeom prst="rightArrow">
            <a:avLst/>
          </a:prstGeom>
          <a:solidFill>
            <a:srgbClr val="FF9900"/>
          </a:solidFill>
          <a:ln w="0">
            <a:solidFill>
              <a:srgbClr val="FF9900"/>
            </a:solidFill>
            <a:prstDash val="solid"/>
          </a:ln>
        </p:spPr>
        <p:txBody>
          <a:bodyPr/>
          <a:lstStyle/>
          <a:p>
            <a:endParaRPr lang="en-IN"/>
          </a:p>
        </p:txBody>
      </p:sp>
      <p:sp>
        <p:nvSpPr>
          <p:cNvPr id="9" name="Rectangle: Rounded Corners 8">
            <a:extLst>
              <a:ext uri="{FF2B5EF4-FFF2-40B4-BE49-F238E27FC236}">
                <a16:creationId xmlns:a16="http://schemas.microsoft.com/office/drawing/2014/main" id="{E5412EE6-7473-40CE-BF6C-42A615AC87E2}"/>
              </a:ext>
            </a:extLst>
          </p:cNvPr>
          <p:cNvSpPr>
            <a:spLocks noGrp="1"/>
          </p:cNvSpPr>
          <p:nvPr/>
        </p:nvSpPr>
        <p:spPr>
          <a:xfrm>
            <a:off x="2503169" y="1952625"/>
            <a:ext cx="1588771"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0" name="Rectangle 9">
            <a:extLst>
              <a:ext uri="{FF2B5EF4-FFF2-40B4-BE49-F238E27FC236}">
                <a16:creationId xmlns:a16="http://schemas.microsoft.com/office/drawing/2014/main" id="{07120811-34B3-43D8-AA31-136C6E924D4B}"/>
              </a:ext>
            </a:extLst>
          </p:cNvPr>
          <p:cNvSpPr>
            <a:spLocks noGrp="1"/>
          </p:cNvSpPr>
          <p:nvPr/>
        </p:nvSpPr>
        <p:spPr>
          <a:xfrm>
            <a:off x="2598421" y="2066926"/>
            <a:ext cx="1398271"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CloudFront</a:t>
            </a:r>
          </a:p>
        </p:txBody>
      </p:sp>
      <p:sp>
        <p:nvSpPr>
          <p:cNvPr id="11" name="Arrow: Right 10">
            <a:extLst>
              <a:ext uri="{FF2B5EF4-FFF2-40B4-BE49-F238E27FC236}">
                <a16:creationId xmlns:a16="http://schemas.microsoft.com/office/drawing/2014/main" id="{7880ABB2-C61B-4B73-930A-4C89AD49D7FD}"/>
              </a:ext>
            </a:extLst>
          </p:cNvPr>
          <p:cNvSpPr>
            <a:spLocks noGrp="1"/>
          </p:cNvSpPr>
          <p:nvPr/>
        </p:nvSpPr>
        <p:spPr>
          <a:xfrm>
            <a:off x="4168140" y="2190750"/>
            <a:ext cx="76200" cy="209551"/>
          </a:xfrm>
          <a:prstGeom prst="rightArrow">
            <a:avLst/>
          </a:prstGeom>
          <a:solidFill>
            <a:srgbClr val="FF9900"/>
          </a:solidFill>
          <a:ln w="0">
            <a:solidFill>
              <a:srgbClr val="FF9900"/>
            </a:solidFill>
            <a:prstDash val="solid"/>
          </a:ln>
        </p:spPr>
        <p:txBody>
          <a:bodyPr/>
          <a:lstStyle/>
          <a:p>
            <a:endParaRPr lang="en-IN"/>
          </a:p>
        </p:txBody>
      </p:sp>
      <p:sp>
        <p:nvSpPr>
          <p:cNvPr id="12" name="Rectangle: Rounded Corners 11">
            <a:extLst>
              <a:ext uri="{FF2B5EF4-FFF2-40B4-BE49-F238E27FC236}">
                <a16:creationId xmlns:a16="http://schemas.microsoft.com/office/drawing/2014/main" id="{B92427F0-ECEF-448E-BFEC-99567E3C1431}"/>
              </a:ext>
            </a:extLst>
          </p:cNvPr>
          <p:cNvSpPr>
            <a:spLocks noGrp="1"/>
          </p:cNvSpPr>
          <p:nvPr/>
        </p:nvSpPr>
        <p:spPr>
          <a:xfrm>
            <a:off x="4320540" y="1952625"/>
            <a:ext cx="1588771"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3" name="Rectangle 12">
            <a:extLst>
              <a:ext uri="{FF2B5EF4-FFF2-40B4-BE49-F238E27FC236}">
                <a16:creationId xmlns:a16="http://schemas.microsoft.com/office/drawing/2014/main" id="{56CFC431-9139-4C9D-A4DD-5CFD070EE5A7}"/>
              </a:ext>
            </a:extLst>
          </p:cNvPr>
          <p:cNvSpPr>
            <a:spLocks noGrp="1"/>
          </p:cNvSpPr>
          <p:nvPr/>
        </p:nvSpPr>
        <p:spPr>
          <a:xfrm>
            <a:off x="4415790" y="2066926"/>
            <a:ext cx="1398271"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AWS WAF</a:t>
            </a:r>
          </a:p>
        </p:txBody>
      </p:sp>
      <p:sp>
        <p:nvSpPr>
          <p:cNvPr id="14" name="Arrow: Right 13">
            <a:extLst>
              <a:ext uri="{FF2B5EF4-FFF2-40B4-BE49-F238E27FC236}">
                <a16:creationId xmlns:a16="http://schemas.microsoft.com/office/drawing/2014/main" id="{988985C9-3113-4989-88EB-80C4D4A7285D}"/>
              </a:ext>
            </a:extLst>
          </p:cNvPr>
          <p:cNvSpPr>
            <a:spLocks noGrp="1"/>
          </p:cNvSpPr>
          <p:nvPr/>
        </p:nvSpPr>
        <p:spPr>
          <a:xfrm>
            <a:off x="5985511" y="2190750"/>
            <a:ext cx="76200" cy="209551"/>
          </a:xfrm>
          <a:prstGeom prst="rightArrow">
            <a:avLst/>
          </a:prstGeom>
          <a:solidFill>
            <a:srgbClr val="FF9900"/>
          </a:solidFill>
          <a:ln w="0">
            <a:solidFill>
              <a:srgbClr val="FF9900"/>
            </a:solidFill>
            <a:prstDash val="solid"/>
          </a:ln>
        </p:spPr>
        <p:txBody>
          <a:bodyPr/>
          <a:lstStyle/>
          <a:p>
            <a:endParaRPr lang="en-IN"/>
          </a:p>
        </p:txBody>
      </p:sp>
      <p:sp>
        <p:nvSpPr>
          <p:cNvPr id="15" name="Rectangle: Rounded Corners 14">
            <a:extLst>
              <a:ext uri="{FF2B5EF4-FFF2-40B4-BE49-F238E27FC236}">
                <a16:creationId xmlns:a16="http://schemas.microsoft.com/office/drawing/2014/main" id="{DFF225CD-A74C-40D2-BA3C-6ACBF6E3B5D0}"/>
              </a:ext>
            </a:extLst>
          </p:cNvPr>
          <p:cNvSpPr>
            <a:spLocks noGrp="1"/>
          </p:cNvSpPr>
          <p:nvPr/>
        </p:nvSpPr>
        <p:spPr>
          <a:xfrm>
            <a:off x="6137909" y="1952625"/>
            <a:ext cx="1588771"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6" name="Rectangle 15">
            <a:extLst>
              <a:ext uri="{FF2B5EF4-FFF2-40B4-BE49-F238E27FC236}">
                <a16:creationId xmlns:a16="http://schemas.microsoft.com/office/drawing/2014/main" id="{21E62F6F-EAAE-469B-AACE-2D7186E97A28}"/>
              </a:ext>
            </a:extLst>
          </p:cNvPr>
          <p:cNvSpPr>
            <a:spLocks noGrp="1"/>
          </p:cNvSpPr>
          <p:nvPr/>
        </p:nvSpPr>
        <p:spPr>
          <a:xfrm>
            <a:off x="6233161" y="2066926"/>
            <a:ext cx="1398271"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API Gateway</a:t>
            </a:r>
          </a:p>
        </p:txBody>
      </p:sp>
      <p:sp>
        <p:nvSpPr>
          <p:cNvPr id="17" name="Arrow: Right 16">
            <a:extLst>
              <a:ext uri="{FF2B5EF4-FFF2-40B4-BE49-F238E27FC236}">
                <a16:creationId xmlns:a16="http://schemas.microsoft.com/office/drawing/2014/main" id="{36222CE4-E2C3-4793-A3F2-7DEE65631ABA}"/>
              </a:ext>
            </a:extLst>
          </p:cNvPr>
          <p:cNvSpPr>
            <a:spLocks noGrp="1"/>
          </p:cNvSpPr>
          <p:nvPr/>
        </p:nvSpPr>
        <p:spPr>
          <a:xfrm>
            <a:off x="7802880" y="2190750"/>
            <a:ext cx="76200" cy="209551"/>
          </a:xfrm>
          <a:prstGeom prst="rightArrow">
            <a:avLst/>
          </a:prstGeom>
          <a:solidFill>
            <a:srgbClr val="FF9900"/>
          </a:solidFill>
          <a:ln w="0">
            <a:solidFill>
              <a:srgbClr val="FF9900"/>
            </a:solidFill>
            <a:prstDash val="solid"/>
          </a:ln>
        </p:spPr>
        <p:txBody>
          <a:bodyPr/>
          <a:lstStyle/>
          <a:p>
            <a:endParaRPr lang="en-IN"/>
          </a:p>
        </p:txBody>
      </p:sp>
      <p:sp>
        <p:nvSpPr>
          <p:cNvPr id="18" name="Rectangle: Rounded Corners 17">
            <a:extLst>
              <a:ext uri="{FF2B5EF4-FFF2-40B4-BE49-F238E27FC236}">
                <a16:creationId xmlns:a16="http://schemas.microsoft.com/office/drawing/2014/main" id="{E6947441-1D04-4B46-A754-7677850EFEAB}"/>
              </a:ext>
            </a:extLst>
          </p:cNvPr>
          <p:cNvSpPr>
            <a:spLocks noGrp="1"/>
          </p:cNvSpPr>
          <p:nvPr/>
        </p:nvSpPr>
        <p:spPr>
          <a:xfrm>
            <a:off x="7955280" y="1952625"/>
            <a:ext cx="1588771"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19" name="Rectangle 18">
            <a:extLst>
              <a:ext uri="{FF2B5EF4-FFF2-40B4-BE49-F238E27FC236}">
                <a16:creationId xmlns:a16="http://schemas.microsoft.com/office/drawing/2014/main" id="{5F724265-BAA9-4BBD-93FB-6EEE39777882}"/>
              </a:ext>
            </a:extLst>
          </p:cNvPr>
          <p:cNvSpPr>
            <a:spLocks noGrp="1"/>
          </p:cNvSpPr>
          <p:nvPr/>
        </p:nvSpPr>
        <p:spPr>
          <a:xfrm>
            <a:off x="8050530" y="2066926"/>
            <a:ext cx="1398271"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Lambda</a:t>
            </a:r>
          </a:p>
        </p:txBody>
      </p:sp>
      <p:sp>
        <p:nvSpPr>
          <p:cNvPr id="20" name="Rectangle: Rounded Corners 19">
            <a:extLst>
              <a:ext uri="{FF2B5EF4-FFF2-40B4-BE49-F238E27FC236}">
                <a16:creationId xmlns:a16="http://schemas.microsoft.com/office/drawing/2014/main" id="{B68A07A4-7D7B-4455-99FE-498546012B83}"/>
              </a:ext>
            </a:extLst>
          </p:cNvPr>
          <p:cNvSpPr>
            <a:spLocks noGrp="1"/>
          </p:cNvSpPr>
          <p:nvPr/>
        </p:nvSpPr>
        <p:spPr>
          <a:xfrm>
            <a:off x="1714501" y="3524251"/>
            <a:ext cx="1663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21" name="Rectangle 20">
            <a:extLst>
              <a:ext uri="{FF2B5EF4-FFF2-40B4-BE49-F238E27FC236}">
                <a16:creationId xmlns:a16="http://schemas.microsoft.com/office/drawing/2014/main" id="{694CFA55-156D-492B-80A0-EEEB44EE4841}"/>
              </a:ext>
            </a:extLst>
          </p:cNvPr>
          <p:cNvSpPr>
            <a:spLocks noGrp="1"/>
          </p:cNvSpPr>
          <p:nvPr/>
        </p:nvSpPr>
        <p:spPr>
          <a:xfrm>
            <a:off x="1809751" y="3638550"/>
            <a:ext cx="1473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Parameter Store</a:t>
            </a:r>
          </a:p>
        </p:txBody>
      </p:sp>
      <p:sp>
        <p:nvSpPr>
          <p:cNvPr id="22" name="Arrow: Right 21">
            <a:extLst>
              <a:ext uri="{FF2B5EF4-FFF2-40B4-BE49-F238E27FC236}">
                <a16:creationId xmlns:a16="http://schemas.microsoft.com/office/drawing/2014/main" id="{C0B341D1-7042-469D-B717-ABCB78772D65}"/>
              </a:ext>
            </a:extLst>
          </p:cNvPr>
          <p:cNvSpPr>
            <a:spLocks noGrp="1"/>
          </p:cNvSpPr>
          <p:nvPr/>
        </p:nvSpPr>
        <p:spPr>
          <a:xfrm>
            <a:off x="3454401" y="3762375"/>
            <a:ext cx="114300" cy="209551"/>
          </a:xfrm>
          <a:prstGeom prst="rightArrow">
            <a:avLst/>
          </a:prstGeom>
          <a:solidFill>
            <a:srgbClr val="FF9900"/>
          </a:solidFill>
          <a:ln w="0">
            <a:solidFill>
              <a:srgbClr val="FF9900"/>
            </a:solidFill>
            <a:prstDash val="solid"/>
          </a:ln>
        </p:spPr>
        <p:txBody>
          <a:bodyPr/>
          <a:lstStyle/>
          <a:p>
            <a:endParaRPr lang="en-IN"/>
          </a:p>
        </p:txBody>
      </p:sp>
      <p:sp>
        <p:nvSpPr>
          <p:cNvPr id="23" name="Rectangle: Rounded Corners 22">
            <a:extLst>
              <a:ext uri="{FF2B5EF4-FFF2-40B4-BE49-F238E27FC236}">
                <a16:creationId xmlns:a16="http://schemas.microsoft.com/office/drawing/2014/main" id="{D0E77DC7-4AB2-431B-A261-D05CBF2B1690}"/>
              </a:ext>
            </a:extLst>
          </p:cNvPr>
          <p:cNvSpPr>
            <a:spLocks noGrp="1"/>
          </p:cNvSpPr>
          <p:nvPr/>
        </p:nvSpPr>
        <p:spPr>
          <a:xfrm>
            <a:off x="3644901" y="3524251"/>
            <a:ext cx="1663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24" name="Rectangle 23">
            <a:extLst>
              <a:ext uri="{FF2B5EF4-FFF2-40B4-BE49-F238E27FC236}">
                <a16:creationId xmlns:a16="http://schemas.microsoft.com/office/drawing/2014/main" id="{BA047165-EB70-4164-A7F6-C21313338E2F}"/>
              </a:ext>
            </a:extLst>
          </p:cNvPr>
          <p:cNvSpPr>
            <a:spLocks noGrp="1"/>
          </p:cNvSpPr>
          <p:nvPr/>
        </p:nvSpPr>
        <p:spPr>
          <a:xfrm>
            <a:off x="3740151" y="3638550"/>
            <a:ext cx="1473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Secrets Manager</a:t>
            </a:r>
          </a:p>
        </p:txBody>
      </p:sp>
      <p:sp>
        <p:nvSpPr>
          <p:cNvPr id="25" name="Arrow: Right 24">
            <a:extLst>
              <a:ext uri="{FF2B5EF4-FFF2-40B4-BE49-F238E27FC236}">
                <a16:creationId xmlns:a16="http://schemas.microsoft.com/office/drawing/2014/main" id="{AF8F3AE7-3766-4A11-892B-3CFA6EDEB672}"/>
              </a:ext>
            </a:extLst>
          </p:cNvPr>
          <p:cNvSpPr>
            <a:spLocks noGrp="1"/>
          </p:cNvSpPr>
          <p:nvPr/>
        </p:nvSpPr>
        <p:spPr>
          <a:xfrm>
            <a:off x="5384801" y="3762375"/>
            <a:ext cx="114300" cy="209551"/>
          </a:xfrm>
          <a:prstGeom prst="rightArrow">
            <a:avLst/>
          </a:prstGeom>
          <a:solidFill>
            <a:srgbClr val="FF9900"/>
          </a:solidFill>
          <a:ln w="0">
            <a:solidFill>
              <a:srgbClr val="FF9900"/>
            </a:solidFill>
            <a:prstDash val="solid"/>
          </a:ln>
        </p:spPr>
        <p:txBody>
          <a:bodyPr/>
          <a:lstStyle/>
          <a:p>
            <a:endParaRPr lang="en-IN"/>
          </a:p>
        </p:txBody>
      </p:sp>
      <p:sp>
        <p:nvSpPr>
          <p:cNvPr id="26" name="Rectangle: Rounded Corners 25">
            <a:extLst>
              <a:ext uri="{FF2B5EF4-FFF2-40B4-BE49-F238E27FC236}">
                <a16:creationId xmlns:a16="http://schemas.microsoft.com/office/drawing/2014/main" id="{E9232005-B396-4F81-8880-61C3378A80FF}"/>
              </a:ext>
            </a:extLst>
          </p:cNvPr>
          <p:cNvSpPr>
            <a:spLocks noGrp="1"/>
          </p:cNvSpPr>
          <p:nvPr/>
        </p:nvSpPr>
        <p:spPr>
          <a:xfrm>
            <a:off x="5575301" y="3524251"/>
            <a:ext cx="1663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27" name="Rectangle 26">
            <a:extLst>
              <a:ext uri="{FF2B5EF4-FFF2-40B4-BE49-F238E27FC236}">
                <a16:creationId xmlns:a16="http://schemas.microsoft.com/office/drawing/2014/main" id="{A59535ED-3095-4074-AE8E-8727080F0E62}"/>
              </a:ext>
            </a:extLst>
          </p:cNvPr>
          <p:cNvSpPr>
            <a:spLocks noGrp="1"/>
          </p:cNvSpPr>
          <p:nvPr/>
        </p:nvSpPr>
        <p:spPr>
          <a:xfrm>
            <a:off x="5670551" y="3638550"/>
            <a:ext cx="1473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AWS KMS</a:t>
            </a:r>
          </a:p>
        </p:txBody>
      </p:sp>
      <p:sp>
        <p:nvSpPr>
          <p:cNvPr id="28" name="Rectangle: Rounded Corners 27">
            <a:extLst>
              <a:ext uri="{FF2B5EF4-FFF2-40B4-BE49-F238E27FC236}">
                <a16:creationId xmlns:a16="http://schemas.microsoft.com/office/drawing/2014/main" id="{7D001FD0-31DB-48BC-9306-66B070CAAF67}"/>
              </a:ext>
            </a:extLst>
          </p:cNvPr>
          <p:cNvSpPr>
            <a:spLocks noGrp="1"/>
          </p:cNvSpPr>
          <p:nvPr/>
        </p:nvSpPr>
        <p:spPr>
          <a:xfrm>
            <a:off x="5429251" y="4762500"/>
            <a:ext cx="1409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29" name="Rectangle 28">
            <a:extLst>
              <a:ext uri="{FF2B5EF4-FFF2-40B4-BE49-F238E27FC236}">
                <a16:creationId xmlns:a16="http://schemas.microsoft.com/office/drawing/2014/main" id="{F0B32021-23EB-4E60-BDD1-89F1042E03AF}"/>
              </a:ext>
            </a:extLst>
          </p:cNvPr>
          <p:cNvSpPr>
            <a:spLocks noGrp="1"/>
          </p:cNvSpPr>
          <p:nvPr/>
        </p:nvSpPr>
        <p:spPr>
          <a:xfrm>
            <a:off x="5524500" y="4876801"/>
            <a:ext cx="1219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Amazon SQS</a:t>
            </a:r>
          </a:p>
        </p:txBody>
      </p:sp>
      <p:sp>
        <p:nvSpPr>
          <p:cNvPr id="30" name="Arrow: Right 29">
            <a:extLst>
              <a:ext uri="{FF2B5EF4-FFF2-40B4-BE49-F238E27FC236}">
                <a16:creationId xmlns:a16="http://schemas.microsoft.com/office/drawing/2014/main" id="{CE5DE320-5FD6-49E9-9917-1441629EC8D7}"/>
              </a:ext>
            </a:extLst>
          </p:cNvPr>
          <p:cNvSpPr>
            <a:spLocks noGrp="1"/>
          </p:cNvSpPr>
          <p:nvPr/>
        </p:nvSpPr>
        <p:spPr>
          <a:xfrm>
            <a:off x="6915151" y="5000626"/>
            <a:ext cx="114300" cy="209551"/>
          </a:xfrm>
          <a:prstGeom prst="rightArrow">
            <a:avLst/>
          </a:prstGeom>
          <a:solidFill>
            <a:srgbClr val="FF9900"/>
          </a:solidFill>
          <a:ln w="0">
            <a:solidFill>
              <a:srgbClr val="FF9900"/>
            </a:solidFill>
            <a:prstDash val="solid"/>
          </a:ln>
        </p:spPr>
        <p:txBody>
          <a:bodyPr/>
          <a:lstStyle/>
          <a:p>
            <a:endParaRPr lang="en-IN"/>
          </a:p>
        </p:txBody>
      </p:sp>
      <p:sp>
        <p:nvSpPr>
          <p:cNvPr id="31" name="Rectangle: Rounded Corners 30">
            <a:extLst>
              <a:ext uri="{FF2B5EF4-FFF2-40B4-BE49-F238E27FC236}">
                <a16:creationId xmlns:a16="http://schemas.microsoft.com/office/drawing/2014/main" id="{B910D6BA-1BBF-4895-87B9-500C0B7755BD}"/>
              </a:ext>
            </a:extLst>
          </p:cNvPr>
          <p:cNvSpPr>
            <a:spLocks noGrp="1"/>
          </p:cNvSpPr>
          <p:nvPr/>
        </p:nvSpPr>
        <p:spPr>
          <a:xfrm>
            <a:off x="7105651" y="4762500"/>
            <a:ext cx="1409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32" name="Rectangle 31">
            <a:extLst>
              <a:ext uri="{FF2B5EF4-FFF2-40B4-BE49-F238E27FC236}">
                <a16:creationId xmlns:a16="http://schemas.microsoft.com/office/drawing/2014/main" id="{37312D91-369F-42B4-ACBE-40063853C06C}"/>
              </a:ext>
            </a:extLst>
          </p:cNvPr>
          <p:cNvSpPr>
            <a:spLocks noGrp="1"/>
          </p:cNvSpPr>
          <p:nvPr/>
        </p:nvSpPr>
        <p:spPr>
          <a:xfrm>
            <a:off x="7200900" y="4876801"/>
            <a:ext cx="1219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Amazon MQ</a:t>
            </a:r>
          </a:p>
        </p:txBody>
      </p:sp>
      <p:sp>
        <p:nvSpPr>
          <p:cNvPr id="33" name="Arrow: Right 32">
            <a:extLst>
              <a:ext uri="{FF2B5EF4-FFF2-40B4-BE49-F238E27FC236}">
                <a16:creationId xmlns:a16="http://schemas.microsoft.com/office/drawing/2014/main" id="{91A018BB-8F7D-414E-8985-680337464E7A}"/>
              </a:ext>
            </a:extLst>
          </p:cNvPr>
          <p:cNvSpPr>
            <a:spLocks noGrp="1"/>
          </p:cNvSpPr>
          <p:nvPr/>
        </p:nvSpPr>
        <p:spPr>
          <a:xfrm>
            <a:off x="8591551" y="5000626"/>
            <a:ext cx="114300" cy="209551"/>
          </a:xfrm>
          <a:prstGeom prst="rightArrow">
            <a:avLst/>
          </a:prstGeom>
          <a:solidFill>
            <a:srgbClr val="FF9900"/>
          </a:solidFill>
          <a:ln w="0">
            <a:solidFill>
              <a:srgbClr val="FF9900"/>
            </a:solidFill>
            <a:prstDash val="solid"/>
          </a:ln>
        </p:spPr>
        <p:txBody>
          <a:bodyPr/>
          <a:lstStyle/>
          <a:p>
            <a:endParaRPr lang="en-IN"/>
          </a:p>
        </p:txBody>
      </p:sp>
      <p:sp>
        <p:nvSpPr>
          <p:cNvPr id="34" name="Rectangle: Rounded Corners 33">
            <a:extLst>
              <a:ext uri="{FF2B5EF4-FFF2-40B4-BE49-F238E27FC236}">
                <a16:creationId xmlns:a16="http://schemas.microsoft.com/office/drawing/2014/main" id="{35917146-D39A-4110-AF52-87682C6C8EC2}"/>
              </a:ext>
            </a:extLst>
          </p:cNvPr>
          <p:cNvSpPr>
            <a:spLocks noGrp="1"/>
          </p:cNvSpPr>
          <p:nvPr/>
        </p:nvSpPr>
        <p:spPr>
          <a:xfrm>
            <a:off x="8782051" y="4762500"/>
            <a:ext cx="1409700" cy="685800"/>
          </a:xfrm>
          <a:prstGeom prst="roundRect">
            <a:avLst>
              <a:gd name="adj" fmla="val 8333"/>
            </a:avLst>
          </a:prstGeom>
          <a:solidFill>
            <a:srgbClr val="FFFFFF"/>
          </a:solidFill>
          <a:ln w="9525">
            <a:solidFill>
              <a:srgbClr val="D7E2EE"/>
            </a:solidFill>
            <a:prstDash val="solid"/>
          </a:ln>
        </p:spPr>
        <p:txBody>
          <a:bodyPr/>
          <a:lstStyle/>
          <a:p>
            <a:endParaRPr lang="en-IN"/>
          </a:p>
        </p:txBody>
      </p:sp>
      <p:sp>
        <p:nvSpPr>
          <p:cNvPr id="35" name="Rectangle 34">
            <a:extLst>
              <a:ext uri="{FF2B5EF4-FFF2-40B4-BE49-F238E27FC236}">
                <a16:creationId xmlns:a16="http://schemas.microsoft.com/office/drawing/2014/main" id="{266A4C62-327C-430B-9AC4-482BD4E299CA}"/>
              </a:ext>
            </a:extLst>
          </p:cNvPr>
          <p:cNvSpPr>
            <a:spLocks noGrp="1"/>
          </p:cNvSpPr>
          <p:nvPr/>
        </p:nvSpPr>
        <p:spPr>
          <a:xfrm>
            <a:off x="8877300" y="4876801"/>
            <a:ext cx="1219200" cy="514351"/>
          </a:xfrm>
          <a:prstGeom prst="rect">
            <a:avLst/>
          </a:prstGeom>
          <a:noFill/>
          <a:ln w="0">
            <a:noFill/>
            <a:prstDash val="solid"/>
          </a:ln>
        </p:spPr>
        <p:txBody>
          <a:bodyPr/>
          <a:lstStyle/>
          <a:p>
            <a:pPr algn="ctr">
              <a:defRPr sz="1200" b="1">
                <a:solidFill>
                  <a:srgbClr val="12233F"/>
                </a:solidFill>
              </a:defRPr>
            </a:pPr>
            <a:r>
              <a:rPr sz="1200" b="1">
                <a:solidFill>
                  <a:srgbClr val="12233F"/>
                </a:solidFill>
              </a:rPr>
              <a:t>Amazon RDS</a:t>
            </a:r>
          </a:p>
        </p:txBody>
      </p:sp>
      <p:sp>
        <p:nvSpPr>
          <p:cNvPr id="36" name="Rectangle 35">
            <a:extLst>
              <a:ext uri="{FF2B5EF4-FFF2-40B4-BE49-F238E27FC236}">
                <a16:creationId xmlns:a16="http://schemas.microsoft.com/office/drawing/2014/main" id="{B7C27F62-B999-46F2-93E6-13995B21B889}"/>
              </a:ext>
            </a:extLst>
          </p:cNvPr>
          <p:cNvSpPr>
            <a:spLocks noGrp="1"/>
          </p:cNvSpPr>
          <p:nvPr/>
        </p:nvSpPr>
        <p:spPr>
          <a:xfrm>
            <a:off x="1000125" y="5810250"/>
            <a:ext cx="9620251" cy="361951"/>
          </a:xfrm>
          <a:prstGeom prst="rect">
            <a:avLst/>
          </a:prstGeom>
          <a:noFill/>
          <a:ln w="0">
            <a:noFill/>
            <a:prstDash val="solid"/>
          </a:ln>
        </p:spPr>
        <p:txBody>
          <a:bodyPr/>
          <a:lstStyle/>
          <a:p>
            <a:pPr algn="ctr">
              <a:defRPr sz="1650" b="1">
                <a:solidFill>
                  <a:srgbClr val="1F5D99"/>
                </a:solidFill>
              </a:defRPr>
            </a:pPr>
            <a:r>
              <a:rPr sz="1651" b="1">
                <a:solidFill>
                  <a:srgbClr val="1F5D99"/>
                </a:solidFill>
              </a:rPr>
              <a:t>Security wraps the request; configuration and secrets support the function; queues and brokers decouple backend work.</a:t>
            </a:r>
          </a:p>
        </p:txBody>
      </p:sp>
    </p:spTree>
    <p:extLst>
      <p:ext uri="{BB962C8B-B14F-4D97-AF65-F5344CB8AC3E}">
        <p14:creationId xmlns:p14="http://schemas.microsoft.com/office/powerpoint/2010/main" val="195911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2233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6C62E5C-0596-4DC6-B912-9A35EC9E6B38}"/>
              </a:ext>
            </a:extLst>
          </p:cNvPr>
          <p:cNvSpPr>
            <a:spLocks noGrp="1"/>
          </p:cNvSpPr>
          <p:nvPr/>
        </p:nvSpPr>
        <p:spPr>
          <a:xfrm>
            <a:off x="0" y="1"/>
            <a:ext cx="12192000" cy="114300"/>
          </a:xfrm>
          <a:prstGeom prst="rect">
            <a:avLst/>
          </a:prstGeom>
          <a:solidFill>
            <a:srgbClr val="FF9900"/>
          </a:solidFill>
          <a:ln w="0">
            <a:solidFill>
              <a:srgbClr val="FF9900"/>
            </a:solidFill>
            <a:prstDash val="solid"/>
          </a:ln>
        </p:spPr>
        <p:txBody>
          <a:bodyPr/>
          <a:lstStyle/>
          <a:p>
            <a:endParaRPr lang="en-IN"/>
          </a:p>
        </p:txBody>
      </p:sp>
      <p:sp>
        <p:nvSpPr>
          <p:cNvPr id="2" name="Rectangle 1">
            <a:extLst>
              <a:ext uri="{FF2B5EF4-FFF2-40B4-BE49-F238E27FC236}">
                <a16:creationId xmlns:a16="http://schemas.microsoft.com/office/drawing/2014/main" id="{9D06F320-E5F6-47C9-BD1B-1E898A71EBC4}"/>
              </a:ext>
            </a:extLst>
          </p:cNvPr>
          <p:cNvSpPr>
            <a:spLocks noGrp="1"/>
          </p:cNvSpPr>
          <p:nvPr/>
        </p:nvSpPr>
        <p:spPr>
          <a:xfrm>
            <a:off x="857251" y="1143000"/>
            <a:ext cx="6667500" cy="762000"/>
          </a:xfrm>
          <a:prstGeom prst="rect">
            <a:avLst/>
          </a:prstGeom>
          <a:noFill/>
          <a:ln w="0">
            <a:noFill/>
            <a:prstDash val="solid"/>
          </a:ln>
        </p:spPr>
        <p:txBody>
          <a:bodyPr/>
          <a:lstStyle/>
          <a:p>
            <a:pPr algn="l">
              <a:defRPr sz="4350" b="1">
                <a:solidFill>
                  <a:srgbClr val="FFFFFF"/>
                </a:solidFill>
              </a:defRPr>
            </a:pPr>
            <a:r>
              <a:rPr sz="4351" b="1">
                <a:solidFill>
                  <a:srgbClr val="FFFFFF"/>
                </a:solidFill>
              </a:rPr>
              <a:t>Thank You</a:t>
            </a:r>
          </a:p>
        </p:txBody>
      </p:sp>
      <p:sp>
        <p:nvSpPr>
          <p:cNvPr id="3" name="Rectangle 2">
            <a:extLst>
              <a:ext uri="{FF2B5EF4-FFF2-40B4-BE49-F238E27FC236}">
                <a16:creationId xmlns:a16="http://schemas.microsoft.com/office/drawing/2014/main" id="{0C47DDE4-0611-4C36-8589-C22953E65999}"/>
              </a:ext>
            </a:extLst>
          </p:cNvPr>
          <p:cNvSpPr>
            <a:spLocks noGrp="1"/>
          </p:cNvSpPr>
          <p:nvPr/>
        </p:nvSpPr>
        <p:spPr>
          <a:xfrm>
            <a:off x="895351" y="2047875"/>
            <a:ext cx="5143500" cy="419100"/>
          </a:xfrm>
          <a:prstGeom prst="rect">
            <a:avLst/>
          </a:prstGeom>
          <a:noFill/>
          <a:ln w="0">
            <a:noFill/>
            <a:prstDash val="solid"/>
          </a:ln>
        </p:spPr>
        <p:txBody>
          <a:bodyPr/>
          <a:lstStyle/>
          <a:p>
            <a:pPr algn="l">
              <a:defRPr sz="2250" b="0">
                <a:solidFill>
                  <a:srgbClr val="FF9900"/>
                </a:solidFill>
              </a:defRPr>
            </a:pPr>
            <a:r>
              <a:rPr sz="2251">
                <a:solidFill>
                  <a:srgbClr val="FF9900"/>
                </a:solidFill>
              </a:rPr>
              <a:t>Questions &amp; Answers</a:t>
            </a:r>
          </a:p>
        </p:txBody>
      </p:sp>
      <p:sp>
        <p:nvSpPr>
          <p:cNvPr id="4" name="Rectangle 3">
            <a:extLst>
              <a:ext uri="{FF2B5EF4-FFF2-40B4-BE49-F238E27FC236}">
                <a16:creationId xmlns:a16="http://schemas.microsoft.com/office/drawing/2014/main" id="{3717DCE9-BDFE-4804-880B-4ADA48840285}"/>
              </a:ext>
            </a:extLst>
          </p:cNvPr>
          <p:cNvSpPr>
            <a:spLocks noGrp="1"/>
          </p:cNvSpPr>
          <p:nvPr/>
        </p:nvSpPr>
        <p:spPr>
          <a:xfrm>
            <a:off x="952500" y="3143251"/>
            <a:ext cx="7620000" cy="1714500"/>
          </a:xfrm>
          <a:prstGeom prst="rect">
            <a:avLst/>
          </a:prstGeom>
          <a:noFill/>
          <a:ln w="0">
            <a:noFill/>
            <a:prstDash val="solid"/>
          </a:ln>
        </p:spPr>
        <p:txBody>
          <a:bodyPr/>
          <a:lstStyle/>
          <a:p>
            <a:pPr algn="l">
              <a:defRPr sz="1875" b="0">
                <a:solidFill>
                  <a:srgbClr val="DCEAF7"/>
                </a:solidFill>
              </a:defRPr>
            </a:pPr>
            <a:r>
              <a:rPr sz="1875">
                <a:solidFill>
                  <a:srgbClr val="DCEAF7"/>
                </a:solidFill>
              </a:rPr>
              <a:t>• Understand when to use each service.</a:t>
            </a:r>
          </a:p>
          <a:p>
            <a:pPr algn="l">
              <a:defRPr sz="1875" b="0">
                <a:solidFill>
                  <a:srgbClr val="DCEAF7"/>
                </a:solidFill>
              </a:defRPr>
            </a:pPr>
            <a:r>
              <a:rPr sz="1875">
                <a:solidFill>
                  <a:srgbClr val="DCEAF7"/>
                </a:solidFill>
              </a:rPr>
              <a:t>• Explain architecture flows step by step.</a:t>
            </a:r>
          </a:p>
          <a:p>
            <a:pPr algn="l">
              <a:defRPr sz="1875" b="0">
                <a:solidFill>
                  <a:srgbClr val="DCEAF7"/>
                </a:solidFill>
              </a:defRPr>
            </a:pPr>
            <a:r>
              <a:rPr sz="1875">
                <a:solidFill>
                  <a:srgbClr val="DCEAF7"/>
                </a:solidFill>
              </a:rPr>
              <a:t>• Compare similar services using the problem they solve.</a:t>
            </a:r>
          </a:p>
          <a:p>
            <a:pPr algn="l">
              <a:defRPr sz="1875" b="0">
                <a:solidFill>
                  <a:srgbClr val="DCEAF7"/>
                </a:solidFill>
              </a:defRPr>
            </a:pPr>
            <a:r>
              <a:rPr sz="1875">
                <a:solidFill>
                  <a:srgbClr val="DCEAF7"/>
                </a:solidFill>
              </a:rPr>
              <a:t>• Never hardcode secrets or configuration in application code.</a:t>
            </a:r>
          </a:p>
        </p:txBody>
      </p:sp>
      <p:sp>
        <p:nvSpPr>
          <p:cNvPr id="5" name="Rectangle 4">
            <a:extLst>
              <a:ext uri="{FF2B5EF4-FFF2-40B4-BE49-F238E27FC236}">
                <a16:creationId xmlns:a16="http://schemas.microsoft.com/office/drawing/2014/main" id="{A15DCF0B-DDDB-4004-A93A-483D1DB50BD2}"/>
              </a:ext>
            </a:extLst>
          </p:cNvPr>
          <p:cNvSpPr>
            <a:spLocks noGrp="1"/>
          </p:cNvSpPr>
          <p:nvPr/>
        </p:nvSpPr>
        <p:spPr>
          <a:xfrm>
            <a:off x="10572751" y="6153150"/>
            <a:ext cx="762000" cy="285751"/>
          </a:xfrm>
          <a:prstGeom prst="rect">
            <a:avLst/>
          </a:prstGeom>
          <a:noFill/>
          <a:ln w="0">
            <a:noFill/>
            <a:prstDash val="solid"/>
          </a:ln>
        </p:spPr>
        <p:txBody>
          <a:bodyPr/>
          <a:lstStyle/>
          <a:p>
            <a:pPr algn="r">
              <a:defRPr sz="1200" b="0">
                <a:solidFill>
                  <a:srgbClr val="C6D7E8"/>
                </a:solidFill>
              </a:defRPr>
            </a:pPr>
            <a:r>
              <a:rPr sz="1200">
                <a:solidFill>
                  <a:srgbClr val="C6D7E8"/>
                </a:solidFill>
              </a:rPr>
              <a:t>38</a:t>
            </a:r>
          </a:p>
        </p:txBody>
      </p:sp>
    </p:spTree>
    <p:extLst>
      <p:ext uri="{BB962C8B-B14F-4D97-AF65-F5344CB8AC3E}">
        <p14:creationId xmlns:p14="http://schemas.microsoft.com/office/powerpoint/2010/main" val="119969433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TM03457485[[fn=Mesh]]</Template>
  <TotalTime>5</TotalTime>
  <Words>4905</Words>
  <Application>Microsoft Office PowerPoint</Application>
  <DocSecurity>0</DocSecurity>
  <PresentationFormat>Widescreen</PresentationFormat>
  <Paragraphs>653</Paragraphs>
  <Slides>38</Slides>
  <Notes>38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38</vt:i4>
      </vt:variant>
    </vt:vector>
  </HeadingPairs>
  <TitlesOfParts>
    <vt:vector size="40"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Mohd Zeeshu</cp:lastModifiedBy>
  <cp:revision>2</cp:revision>
  <dcterms:created xsi:type="dcterms:W3CDTF">2026-08-06T09:42:23Z</dcterms:created>
  <dcterms:modified xsi:type="dcterms:W3CDTF">2026-08-06T09:58:19Z</dcterms:modified>
</cp:coreProperties>
</file>